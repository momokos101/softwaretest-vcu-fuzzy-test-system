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3"/>
    <p:sldId id="257" r:id="rId4"/>
    <p:sldId id="279" r:id="rId5"/>
    <p:sldId id="259" r:id="rId6"/>
    <p:sldId id="283" r:id="rId7"/>
    <p:sldId id="260" r:id="rId8"/>
    <p:sldId id="262" r:id="rId9"/>
    <p:sldId id="265" r:id="rId10"/>
    <p:sldId id="263" r:id="rId11"/>
    <p:sldId id="264" r:id="rId13"/>
    <p:sldId id="266" r:id="rId14"/>
    <p:sldId id="267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6514" y="1143000"/>
            <a:ext cx="548497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0" y="0"/>
            <a:ext cx="2130552" cy="6858000"/>
          </a:xfrm>
          <a:prstGeom prst="rect">
            <a:avLst/>
          </a:prstGeom>
          <a:solidFill>
            <a:srgbClr val="296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200" b="1" i="0">
                <a:solidFill>
                  <a:srgbClr val="FFFFFF"/>
                </a:solidFill>
                <a:latin typeface="微软雅黑"/>
              </a:rPr>
              <a:t>AutoTestDesign</a:t>
            </a:r>
            <a:endParaRPr sz="5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0" i="0">
                <a:solidFill>
                  <a:srgbClr val="BFDBFF"/>
                </a:solidFill>
                <a:latin typeface="微软雅黑"/>
              </a:rPr>
              <a:t>期末项目启动会</a:t>
            </a:r>
            <a:endParaRPr sz="3200" b="0" i="0">
              <a:solidFill>
                <a:srgbClr val="BFDBF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3429000"/>
            <a:ext cx="548640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93C5FD"/>
                </a:solidFill>
                <a:latin typeface="微软雅黑"/>
              </a:rPr>
              <a:t>软件测试课 · Assignment 2 Final Project</a:t>
            </a:r>
            <a:endParaRPr sz="1800" b="0" i="0">
              <a:solidFill>
                <a:srgbClr val="93C5FD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7DD3FC"/>
                </a:solidFill>
                <a:latin typeface="微软雅黑"/>
              </a:rPr>
              <a:t>AI-Driven Test Design Tool for VCU Wake-Sleep Module</a:t>
            </a:r>
            <a:endParaRPr sz="1500" b="0" i="0">
              <a:solidFill>
                <a:srgbClr val="7DD3FC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FDBFF"/>
                </a:solidFill>
                <a:latin typeface="微软雅黑"/>
              </a:rPr>
              <a:t>2026 年 5 月</a:t>
            </a:r>
            <a:endParaRPr sz="1400" b="0" i="0">
              <a:solidFill>
                <a:srgbClr val="BFDB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先说结论</a:t>
            </a:r>
            <a:endParaRPr sz="2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FDBFF"/>
                </a:solidFill>
                <a:latin typeface="微软雅黑"/>
              </a:rPr>
              <a:t>我们的底牌是什么</a:t>
            </a:r>
            <a:endParaRPr sz="1400" b="0" i="0">
              <a:solidFill>
                <a:srgbClr val="BFDBFF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96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64748B"/>
                </a:solidFill>
                <a:latin typeface="微软雅黑"/>
              </a:rPr>
              <a:t>AutoTestDesign 启动会 · 2026</a:t>
            </a:r>
            <a:endParaRPr sz="10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74552" cy="11887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1E40AF"/>
                </a:solidFill>
                <a:latin typeface="微软雅黑"/>
              </a:rPr>
              <a:t>💡  我们手里有一个已经跑通的完整系统：前端界面 + 后端 API + AI 模型</a:t>
            </a:r>
            <a:endParaRPr sz="17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334D6B"/>
                </a:solidFill>
                <a:latin typeface="微软雅黑"/>
              </a:rPr>
              <a:t>作业要我们做一个「AI驱动的自动测试工具」——我们要做的是改造和扩展，不是从零开始</a:t>
            </a:r>
            <a:endParaRPr sz="15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320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E40AF"/>
                </a:solidFill>
                <a:latin typeface="微软雅黑"/>
              </a:rPr>
              <a:t>●</a:t>
            </a:r>
            <a:endParaRPr sz="15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0119" y="2606040"/>
            <a:ext cx="6995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E40AF"/>
                </a:solidFill>
                <a:latin typeface="微软雅黑"/>
              </a:rPr>
              <a:t>现有代码量</a:t>
            </a:r>
            <a:endParaRPr sz="15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320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endParaRPr sz="1500" b="1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0119" y="3017520"/>
            <a:ext cx="6995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334D6B"/>
                </a:solidFill>
                <a:latin typeface="微软雅黑"/>
              </a:rPr>
              <a:t>前端 ~40 个组件，后端 ~10 个 API 模块，全部可运行</a:t>
            </a:r>
            <a:endParaRPr sz="15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320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E40AF"/>
                </a:solidFill>
                <a:latin typeface="微软雅黑"/>
              </a:rPr>
              <a:t>●</a:t>
            </a:r>
            <a:endParaRPr sz="15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0119" y="3429000"/>
            <a:ext cx="6995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E40AF"/>
                </a:solidFill>
                <a:latin typeface="微软雅黑"/>
              </a:rPr>
              <a:t>真实数据</a:t>
            </a:r>
            <a:endParaRPr sz="15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3840480"/>
            <a:ext cx="320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endParaRPr sz="1500" b="1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0119" y="3840480"/>
            <a:ext cx="6995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334D6B"/>
                </a:solidFill>
                <a:latin typeface="微软雅黑"/>
              </a:rPr>
              <a:t>5 个真实 BAIC VCU 测试数据库，共 9615 条测试记录</a:t>
            </a:r>
            <a:endParaRPr sz="15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4251960"/>
            <a:ext cx="320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E40AF"/>
                </a:solidFill>
                <a:latin typeface="微软雅黑"/>
              </a:rPr>
              <a:t>●</a:t>
            </a:r>
            <a:endParaRPr sz="15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60119" y="4251960"/>
            <a:ext cx="6995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E40AF"/>
                </a:solidFill>
                <a:latin typeface="微软雅黑"/>
              </a:rPr>
              <a:t>工作量评估</a:t>
            </a:r>
            <a:endParaRPr sz="15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" y="4663440"/>
            <a:ext cx="320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endParaRPr sz="1500" b="1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0119" y="4663440"/>
            <a:ext cx="6995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334D6B"/>
                </a:solidFill>
                <a:latin typeface="微软雅黑"/>
              </a:rPr>
              <a:t>5 人分工，约 4 周完成，每人约 30 小时</a:t>
            </a:r>
            <a:endParaRPr sz="15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595360" y="2560320"/>
            <a:ext cx="3108960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 i="0">
                <a:solidFill>
                  <a:srgbClr val="FFFFFF"/>
                </a:solidFill>
                <a:latin typeface="微软雅黑"/>
              </a:rPr>
              <a:t>40+</a:t>
            </a:r>
            <a:endParaRPr sz="3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95360" y="310896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BFDBFF"/>
                </a:solidFill>
                <a:latin typeface="微软雅黑"/>
              </a:rPr>
              <a:t>现有前端组件</a:t>
            </a:r>
            <a:endParaRPr sz="1300" b="1" i="0">
              <a:solidFill>
                <a:srgbClr val="BFDBFF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595360" y="3364991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93C5FD"/>
                </a:solidFill>
                <a:latin typeface="微软雅黑"/>
              </a:rPr>
              <a:t>全部保留复用</a:t>
            </a:r>
            <a:endParaRPr sz="1100" b="0" i="0">
              <a:solidFill>
                <a:srgbClr val="93C5FD"/>
              </a:solidFill>
              <a:latin typeface="微软雅黑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595360" y="3840479"/>
            <a:ext cx="3108960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3931919"/>
            <a:ext cx="3108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 i="0">
                <a:solidFill>
                  <a:srgbClr val="FFFFFF"/>
                </a:solidFill>
                <a:latin typeface="微软雅黑"/>
              </a:rPr>
              <a:t>10+</a:t>
            </a:r>
            <a:endParaRPr sz="3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595360" y="4389119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BFDBFF"/>
                </a:solidFill>
                <a:latin typeface="微软雅黑"/>
              </a:rPr>
              <a:t>现有后端接口</a:t>
            </a:r>
            <a:endParaRPr sz="1300" b="1" i="0">
              <a:solidFill>
                <a:srgbClr val="BFDBFF"/>
              </a:solidFill>
              <a:latin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595360" y="4645151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93C5FD"/>
                </a:solidFill>
                <a:latin typeface="微软雅黑"/>
              </a:rPr>
              <a:t>扩展新增模块</a:t>
            </a:r>
            <a:endParaRPr sz="1100" b="0" i="0">
              <a:solidFill>
                <a:srgbClr val="93C5FD"/>
              </a:solidFill>
              <a:latin typeface="微软雅黑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595360" y="5120640"/>
            <a:ext cx="3108960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0" y="5212079"/>
            <a:ext cx="3108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 i="0">
                <a:solidFill>
                  <a:srgbClr val="FFFFFF"/>
                </a:solidFill>
                <a:latin typeface="微软雅黑"/>
              </a:rPr>
              <a:t>9615</a:t>
            </a:r>
            <a:endParaRPr sz="3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0" y="5669279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BFDBFF"/>
                </a:solidFill>
                <a:latin typeface="微软雅黑"/>
              </a:rPr>
              <a:t>真实测试记录</a:t>
            </a:r>
            <a:endParaRPr sz="1300" b="1" i="0">
              <a:solidFill>
                <a:srgbClr val="BFDBFF"/>
              </a:solidFill>
              <a:latin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595360" y="5925312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93C5FD"/>
                </a:solidFill>
                <a:latin typeface="微软雅黑"/>
              </a:rPr>
              <a:t>5个数据库</a:t>
            </a:r>
            <a:endParaRPr sz="1100" b="0" i="0">
              <a:solidFill>
                <a:srgbClr val="93C5FD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任意多边形: 形状 25"/>
          <p:cNvSpPr/>
          <p:nvPr/>
        </p:nvSpPr>
        <p:spPr>
          <a:xfrm rot="7055768">
            <a:off x="1766829" y="3794974"/>
            <a:ext cx="7373911" cy="368300"/>
          </a:xfrm>
          <a:custGeom>
            <a:avLst/>
            <a:gdLst>
              <a:gd name="connsiteX0" fmla="*/ 0 w 7375832"/>
              <a:gd name="connsiteY0" fmla="*/ 1682196 h 1682196"/>
              <a:gd name="connsiteX1" fmla="*/ 0 w 7375832"/>
              <a:gd name="connsiteY1" fmla="*/ 0 h 1682196"/>
              <a:gd name="connsiteX2" fmla="*/ 6496546 w 7375832"/>
              <a:gd name="connsiteY2" fmla="*/ 0 h 1682196"/>
              <a:gd name="connsiteX3" fmla="*/ 7375832 w 7375832"/>
              <a:gd name="connsiteY3" fmla="*/ 1682196 h 1682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5832" h="1682196">
                <a:moveTo>
                  <a:pt x="0" y="1682196"/>
                </a:moveTo>
                <a:lnTo>
                  <a:pt x="0" y="0"/>
                </a:lnTo>
                <a:lnTo>
                  <a:pt x="6496546" y="0"/>
                </a:lnTo>
                <a:lnTo>
                  <a:pt x="7375832" y="1682196"/>
                </a:lnTo>
                <a:close/>
              </a:path>
            </a:pathLst>
          </a:custGeom>
          <a:gradFill>
            <a:gsLst>
              <a:gs pos="100000">
                <a:srgbClr val="4B5C78">
                  <a:alpha val="25000"/>
                </a:srgbClr>
              </a:gs>
              <a:gs pos="50000">
                <a:schemeClr val="accent1">
                  <a:alpha val="30000"/>
                </a:schemeClr>
              </a:gs>
              <a:gs pos="0">
                <a:srgbClr val="2F5597">
                  <a:alpha val="0"/>
                </a:srgb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 dirty="0">
              <a:ln>
                <a:solidFill>
                  <a:prstClr val="white"/>
                </a:solidFill>
              </a:ln>
              <a:solidFill>
                <a:srgbClr val="82318E"/>
              </a:solidFill>
              <a:effectLst/>
              <a:uLnTx/>
              <a:uFillTx/>
              <a:latin typeface="OPPOSans M" panose="00020600040101010101" pitchFamily="18" charset="-122"/>
              <a:ea typeface="OPPOSans M" panose="00020600040101010101" pitchFamily="18" charset="-122"/>
              <a:cs typeface="+mn-cs"/>
            </a:endParaRPr>
          </a:p>
        </p:txBody>
      </p:sp>
      <p:sp>
        <p:nvSpPr>
          <p:cNvPr id="24" name="任意多边形: 形状 23"/>
          <p:cNvSpPr/>
          <p:nvPr/>
        </p:nvSpPr>
        <p:spPr>
          <a:xfrm rot="7055768">
            <a:off x="2924290" y="3042299"/>
            <a:ext cx="8158292" cy="368300"/>
          </a:xfrm>
          <a:custGeom>
            <a:avLst/>
            <a:gdLst>
              <a:gd name="connsiteX0" fmla="*/ 879287 w 8160417"/>
              <a:gd name="connsiteY0" fmla="*/ 1682196 h 1682196"/>
              <a:gd name="connsiteX1" fmla="*/ 0 w 8160417"/>
              <a:gd name="connsiteY1" fmla="*/ 0 h 1682196"/>
              <a:gd name="connsiteX2" fmla="*/ 7738355 w 8160417"/>
              <a:gd name="connsiteY2" fmla="*/ 0 h 1682196"/>
              <a:gd name="connsiteX3" fmla="*/ 8160417 w 8160417"/>
              <a:gd name="connsiteY3" fmla="*/ 807461 h 1682196"/>
              <a:gd name="connsiteX4" fmla="*/ 8160417 w 8160417"/>
              <a:gd name="connsiteY4" fmla="*/ 1682196 h 1682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60417" h="1682196">
                <a:moveTo>
                  <a:pt x="879287" y="1682196"/>
                </a:moveTo>
                <a:lnTo>
                  <a:pt x="0" y="0"/>
                </a:lnTo>
                <a:lnTo>
                  <a:pt x="7738355" y="0"/>
                </a:lnTo>
                <a:lnTo>
                  <a:pt x="8160417" y="807461"/>
                </a:lnTo>
                <a:lnTo>
                  <a:pt x="8160417" y="1682196"/>
                </a:lnTo>
                <a:close/>
              </a:path>
            </a:pathLst>
          </a:custGeom>
          <a:gradFill>
            <a:gsLst>
              <a:gs pos="100000">
                <a:srgbClr val="005CA1">
                  <a:alpha val="0"/>
                </a:srgbClr>
              </a:gs>
              <a:gs pos="50000">
                <a:schemeClr val="accent1">
                  <a:alpha val="30000"/>
                </a:schemeClr>
              </a:gs>
              <a:gs pos="0">
                <a:srgbClr val="4B5C78">
                  <a:alpha val="30000"/>
                </a:srgb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 dirty="0">
              <a:ln>
                <a:solidFill>
                  <a:prstClr val="white"/>
                </a:solidFill>
              </a:ln>
              <a:solidFill>
                <a:srgbClr val="82318E"/>
              </a:solidFill>
              <a:effectLst/>
              <a:uLnTx/>
              <a:uFillTx/>
              <a:latin typeface="OPPOSans M" panose="00020600040101010101" pitchFamily="18" charset="-122"/>
              <a:ea typeface="OPPOSans M" panose="00020600040101010101" pitchFamily="18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1855880"/>
            <a:ext cx="12188825" cy="38236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dirty="0">
              <a:solidFill>
                <a:schemeClr val="bg1">
                  <a:lumMod val="85000"/>
                </a:schemeClr>
              </a:solidFill>
              <a:effectLst>
                <a:outerShdw blurRad="63500" sx="102000" sy="102000" algn="ctr" rotWithShape="0">
                  <a:schemeClr val="tx1">
                    <a:alpha val="40000"/>
                  </a:schemeClr>
                </a:outerShdw>
              </a:effectLst>
              <a:latin typeface="OPPOSans L" panose="00020600040101010101" pitchFamily="18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441574" y="1928886"/>
            <a:ext cx="8766431" cy="356142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1600" noProof="0" dirty="0">
                <a:ln>
                  <a:noFill/>
                </a:ln>
                <a:solidFill>
                  <a:srgbClr val="4B5C78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• </a:t>
            </a:r>
            <a:r>
              <a:rPr lang="zh-CN" altLang="en-US" sz="1600" b="1">
                <a:solidFill>
                  <a:srgbClr val="323D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cs typeface="微软雅黑" charset="0"/>
              </a:rPr>
              <a:t>测试对象：</a:t>
            </a:r>
            <a:r>
              <a:rPr lang="zh-CN" altLang="en-US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VCU（整车控制器）</a:t>
            </a:r>
            <a:endParaRPr lang="zh-CN" altLang="en-US" sz="1600">
              <a:solidFill>
                <a:srgbClr val="323D5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    </a:t>
            </a:r>
            <a:r>
              <a:rPr lang="en-US" altLang="zh-CN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  </a:t>
            </a:r>
            <a:r>
              <a:rPr lang="zh-CN" altLang="en-US" sz="1600" b="1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角色：</a:t>
            </a:r>
            <a:r>
              <a:rPr lang="zh-CN" altLang="en-US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新能源汽车的“逻辑中枢”与“能量管家”</a:t>
            </a:r>
            <a:endParaRPr lang="zh-CN" altLang="en-US" sz="1600">
              <a:solidFill>
                <a:srgbClr val="323D5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    </a:t>
            </a:r>
            <a:r>
              <a:rPr lang="en-US" altLang="zh-CN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  </a:t>
            </a:r>
            <a:r>
              <a:rPr lang="zh-CN" altLang="en-US" sz="1600" b="1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职责：</a:t>
            </a:r>
            <a:r>
              <a:rPr lang="zh-CN" altLang="en-US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解析驱动器，协调电池（BMS）与电机（MCU）协同工作</a:t>
            </a:r>
            <a:endParaRPr lang="zh-CN" altLang="en-US" sz="1600">
              <a:solidFill>
                <a:srgbClr val="323D5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    </a:t>
            </a:r>
            <a:r>
              <a:rPr lang="en-US" altLang="zh-CN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  </a:t>
            </a:r>
            <a:r>
              <a:rPr lang="zh-CN" altLang="en-US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示例：司机深踩油门时，VCU先判断电池状态，再指挥电机输出动力，防止电池过放损坏</a:t>
            </a:r>
            <a:endParaRPr lang="zh-CN" altLang="en-US" sz="1600">
              <a:solidFill>
                <a:srgbClr val="323D5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1600" noProof="0" dirty="0">
                <a:ln>
                  <a:noFill/>
                </a:ln>
                <a:solidFill>
                  <a:srgbClr val="4B5C78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• </a:t>
            </a:r>
            <a:r>
              <a:rPr lang="zh-CN" altLang="en-US" sz="1600" b="1">
                <a:solidFill>
                  <a:srgbClr val="323D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cs typeface="微软雅黑" charset="0"/>
              </a:rPr>
              <a:t>核心测试场景：</a:t>
            </a:r>
            <a:r>
              <a:rPr lang="zh-CN" altLang="en-US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唤醒–休眠（Wake-up &amp; Sleep）</a:t>
            </a:r>
            <a:endParaRPr lang="zh-CN" altLang="en-US" sz="1600">
              <a:solidFill>
                <a:srgbClr val="323D5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    </a:t>
            </a:r>
            <a:r>
              <a:rPr lang="en-US" altLang="zh-CN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  </a:t>
            </a:r>
            <a:r>
              <a:rPr lang="zh-CN" altLang="en-US" sz="1600" b="1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规定：</a:t>
            </a:r>
            <a:r>
              <a:rPr lang="zh-CN" altLang="en-US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车辆上电启动和下电关闭的标准流程</a:t>
            </a:r>
            <a:endParaRPr lang="zh-CN" altLang="en-US" sz="1600">
              <a:solidFill>
                <a:srgbClr val="323D5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    </a:t>
            </a:r>
            <a:r>
              <a:rPr lang="en-US" altLang="zh-CN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  </a:t>
            </a:r>
            <a:r>
              <a:rPr lang="zh-CN" altLang="en-US" sz="1600" b="1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风险：</a:t>
            </a:r>
            <a:r>
              <a:rPr lang="en-US" altLang="zh-CN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1. </a:t>
            </a:r>
            <a:r>
              <a:rPr lang="zh-CN" altLang="en-US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死锁：逻辑卡死导致车辆无法启动</a:t>
            </a:r>
            <a:endParaRPr lang="zh-CN" altLang="en-US" sz="1600">
              <a:solidFill>
                <a:srgbClr val="323D5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      </a:t>
            </a:r>
            <a:r>
              <a:rPr lang="en-US" altLang="zh-CN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         2. </a:t>
            </a:r>
            <a:r>
              <a:rPr lang="zh-CN" altLang="en-US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高压安全：控制高压电路的继电器如果异常，很可能瞬间烧毁硬件   </a:t>
            </a:r>
            <a:r>
              <a:rPr lang="en-US" altLang="zh-CN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         	 </a:t>
            </a:r>
            <a:endParaRPr lang="en-US" altLang="zh-CN" sz="1600">
              <a:solidFill>
                <a:srgbClr val="323D5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        3. </a:t>
            </a:r>
            <a:r>
              <a:rPr lang="zh-CN" altLang="en-US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休眠逻辑异常：车停</a:t>
            </a:r>
            <a:r>
              <a:rPr lang="en-US" altLang="zh-CN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某部件仍继续耗电</a:t>
            </a:r>
            <a:endParaRPr lang="zh-CN" altLang="en-US" sz="1600">
              <a:solidFill>
                <a:srgbClr val="323D5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1600" noProof="0" dirty="0">
                <a:ln>
                  <a:noFill/>
                </a:ln>
                <a:solidFill>
                  <a:srgbClr val="4B5C78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• </a:t>
            </a:r>
            <a:r>
              <a:rPr lang="zh-CN" altLang="en-US" sz="1600" b="1">
                <a:solidFill>
                  <a:srgbClr val="323D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cs typeface="微软雅黑" charset="0"/>
              </a:rPr>
              <a:t>测试环境：</a:t>
            </a:r>
            <a:r>
              <a:rPr lang="zh-CN" altLang="en-US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HIL（硬件在环仿真）</a:t>
            </a:r>
            <a:endParaRPr lang="zh-CN" altLang="en-US" sz="1600">
              <a:solidFill>
                <a:srgbClr val="323D5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1600" noProof="0" dirty="0">
                <a:ln>
                  <a:noFill/>
                </a:ln>
                <a:solidFill>
                  <a:srgbClr val="4B5C78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• </a:t>
            </a:r>
            <a:r>
              <a:rPr lang="zh-CN" altLang="en-US" sz="1600" b="1">
                <a:solidFill>
                  <a:srgbClr val="323D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cs typeface="微软雅黑" charset="0"/>
              </a:rPr>
              <a:t>核心目标：</a:t>
            </a:r>
            <a:endParaRPr lang="zh-CN" altLang="en-US" sz="1600">
              <a:solidFill>
                <a:srgbClr val="323D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charset="0"/>
              <a:ea typeface="微软雅黑" charset="0"/>
              <a:cs typeface="微软雅黑" charset="0"/>
            </a:endParaRPr>
          </a:p>
          <a:p>
            <a:pPr mar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    </a:t>
            </a:r>
            <a:r>
              <a:rPr lang="en-US" altLang="zh-CN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  </a:t>
            </a:r>
            <a:r>
              <a:rPr lang="zh-CN" altLang="en-US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深度：从软件逻辑到机电物理层面挖掘故障</a:t>
            </a:r>
            <a:endParaRPr lang="zh-CN" altLang="en-US" sz="1600">
              <a:solidFill>
                <a:srgbClr val="323D5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    </a:t>
            </a:r>
            <a:r>
              <a:rPr lang="en-US" altLang="zh-CN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  </a:t>
            </a:r>
            <a:r>
              <a:rPr lang="zh-CN" altLang="en-US" sz="1600">
                <a:solidFill>
                  <a:srgbClr val="323D50"/>
                </a:solidFill>
                <a:latin typeface="微软雅黑" charset="0"/>
                <a:ea typeface="微软雅黑" charset="0"/>
                <a:cs typeface="微软雅黑" charset="0"/>
              </a:rPr>
              <a:t>智能：利用 GAN 学习历史故障，自动生成高挑战性攻击用例</a:t>
            </a:r>
            <a:endParaRPr lang="zh-CN" altLang="en-US" sz="1600">
              <a:solidFill>
                <a:srgbClr val="323D5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just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90000"/>
              <a:defRPr/>
            </a:pPr>
            <a:endParaRPr lang="en-US" altLang="zh-CN" sz="1600" dirty="0">
              <a:solidFill>
                <a:schemeClr val="tx2">
                  <a:lumMod val="60000"/>
                  <a:lumOff val="40000"/>
                </a:schemeClr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sp>
        <p:nvSpPr>
          <p:cNvPr id="20" name="任意多边形: 形状 19"/>
          <p:cNvSpPr/>
          <p:nvPr/>
        </p:nvSpPr>
        <p:spPr>
          <a:xfrm rot="10800000">
            <a:off x="1111595" y="1398799"/>
            <a:ext cx="1036050" cy="958600"/>
          </a:xfrm>
          <a:custGeom>
            <a:avLst/>
            <a:gdLst/>
            <a:ahLst/>
            <a:cxnLst/>
            <a:rect l="l" t="t" r="r" b="b"/>
            <a:pathLst>
              <a:path w="444140" h="410766">
                <a:moveTo>
                  <a:pt x="37654" y="410766"/>
                </a:moveTo>
                <a:lnTo>
                  <a:pt x="0" y="350007"/>
                </a:lnTo>
                <a:cubicBezTo>
                  <a:pt x="30808" y="337455"/>
                  <a:pt x="53771" y="317630"/>
                  <a:pt x="68889" y="290531"/>
                </a:cubicBezTo>
                <a:cubicBezTo>
                  <a:pt x="84007" y="263432"/>
                  <a:pt x="92422" y="226206"/>
                  <a:pt x="94134" y="178854"/>
                </a:cubicBezTo>
                <a:lnTo>
                  <a:pt x="13692" y="178854"/>
                </a:lnTo>
                <a:lnTo>
                  <a:pt x="13692" y="0"/>
                </a:lnTo>
                <a:lnTo>
                  <a:pt x="178854" y="0"/>
                </a:lnTo>
                <a:lnTo>
                  <a:pt x="178854" y="141201"/>
                </a:lnTo>
                <a:cubicBezTo>
                  <a:pt x="178854" y="217649"/>
                  <a:pt x="170011" y="272703"/>
                  <a:pt x="152326" y="306363"/>
                </a:cubicBezTo>
                <a:cubicBezTo>
                  <a:pt x="127794" y="352574"/>
                  <a:pt x="89570" y="387375"/>
                  <a:pt x="37654" y="410766"/>
                </a:cubicBezTo>
                <a:close/>
                <a:moveTo>
                  <a:pt x="302940" y="410766"/>
                </a:moveTo>
                <a:lnTo>
                  <a:pt x="265286" y="350007"/>
                </a:lnTo>
                <a:cubicBezTo>
                  <a:pt x="296094" y="337455"/>
                  <a:pt x="319057" y="317630"/>
                  <a:pt x="334175" y="290531"/>
                </a:cubicBezTo>
                <a:cubicBezTo>
                  <a:pt x="349294" y="263432"/>
                  <a:pt x="357709" y="226206"/>
                  <a:pt x="359420" y="178854"/>
                </a:cubicBezTo>
                <a:lnTo>
                  <a:pt x="278978" y="178854"/>
                </a:lnTo>
                <a:lnTo>
                  <a:pt x="278978" y="0"/>
                </a:lnTo>
                <a:lnTo>
                  <a:pt x="444140" y="0"/>
                </a:lnTo>
                <a:lnTo>
                  <a:pt x="444140" y="141201"/>
                </a:lnTo>
                <a:cubicBezTo>
                  <a:pt x="444140" y="217649"/>
                  <a:pt x="435298" y="272703"/>
                  <a:pt x="417612" y="306363"/>
                </a:cubicBezTo>
                <a:cubicBezTo>
                  <a:pt x="393080" y="352574"/>
                  <a:pt x="354856" y="387375"/>
                  <a:pt x="302940" y="410766"/>
                </a:cubicBezTo>
                <a:close/>
              </a:path>
            </a:pathLst>
          </a:custGeom>
          <a:gradFill>
            <a:gsLst>
              <a:gs pos="100000">
                <a:srgbClr val="2C4F8C"/>
              </a:gs>
              <a:gs pos="0">
                <a:srgbClr val="7186A7"/>
              </a:gs>
            </a:gsLst>
            <a:lin ang="13200000" scaled="0"/>
          </a:gradFill>
          <a:ln>
            <a:noFill/>
          </a:ln>
          <a:effectLst>
            <a:outerShdw blurRad="254000" sx="102000" sy="102000" algn="ctr" rotWithShape="0">
              <a:srgbClr val="A92B33">
                <a:alpha val="12000"/>
              </a:srgbClr>
            </a:outerShdw>
          </a:effectLst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13795" dirty="0">
              <a:solidFill>
                <a:schemeClr val="bg1"/>
              </a:solidFill>
              <a:latin typeface="OPPOSans B" panose="00020600040101010101" pitchFamily="18" charset="-122"/>
              <a:ea typeface="OPPOSans B" panose="00020600040101010101" pitchFamily="18" charset="-122"/>
              <a:cs typeface="Arial" panose="020B060402020209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 rot="16200000" flipH="1">
            <a:off x="1521970" y="3846527"/>
            <a:ext cx="231811" cy="3275747"/>
            <a:chOff x="4399082" y="1624876"/>
            <a:chExt cx="231871" cy="3276600"/>
          </a:xfrm>
        </p:grpSpPr>
        <p:cxnSp>
          <p:nvCxnSpPr>
            <p:cNvPr id="6" name="直接连接符 5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0">
                    <a:srgbClr val="4B5C78"/>
                  </a:gs>
                  <a:gs pos="100000">
                    <a:schemeClr val="accent5">
                      <a:lumMod val="75000"/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0">
                    <a:srgbClr val="4B5C78"/>
                  </a:gs>
                  <a:gs pos="100000">
                    <a:schemeClr val="accent5">
                      <a:lumMod val="75000"/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 rot="5400000" flipH="1">
            <a:off x="10435045" y="423193"/>
            <a:ext cx="231811" cy="3275747"/>
            <a:chOff x="4399082" y="1624876"/>
            <a:chExt cx="231871" cy="3276600"/>
          </a:xfrm>
        </p:grpSpPr>
        <p:cxnSp>
          <p:nvCxnSpPr>
            <p:cNvPr id="9" name="直接连接符 8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0">
                    <a:srgbClr val="4B5C78"/>
                  </a:gs>
                  <a:gs pos="100000">
                    <a:schemeClr val="accent5">
                      <a:lumMod val="75000"/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0">
                    <a:srgbClr val="4B5C78"/>
                  </a:gs>
                  <a:gs pos="100000">
                    <a:schemeClr val="accent5">
                      <a:lumMod val="75000"/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图片 28"/>
          <p:cNvPicPr>
            <a:picLocks noChangeAspect="1"/>
          </p:cNvPicPr>
          <p:nvPr/>
        </p:nvPicPr>
        <p:blipFill>
          <a:blip r:embed="rId1" cstate="print">
            <a:alphaModFix amt="56000"/>
          </a:blip>
          <a:stretch>
            <a:fillRect/>
          </a:stretch>
        </p:blipFill>
        <p:spPr>
          <a:xfrm>
            <a:off x="9463903" y="5679563"/>
            <a:ext cx="2563039" cy="130212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99892" y="369097"/>
            <a:ext cx="7363447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i="0" u="none" strike="noStrike" kern="1200" cap="none" spc="300" normalizeH="0" baseline="0" noProof="0" dirty="0">
                <a:ln>
                  <a:noFill/>
                </a:ln>
                <a:solidFill>
                  <a:srgbClr val="4B5C78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项目概述</a:t>
            </a:r>
            <a:endParaRPr kumimoji="0" lang="zh-CN" altLang="en-US" sz="4000" i="0" u="none" strike="noStrike" kern="1200" cap="none" spc="300" normalizeH="0" baseline="0" noProof="0" dirty="0">
              <a:ln>
                <a:noFill/>
              </a:ln>
              <a:solidFill>
                <a:srgbClr val="4B5C78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99892" y="976634"/>
            <a:ext cx="8765797" cy="3371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dirty="0">
                <a:solidFill>
                  <a:schemeClr val="accent1">
                    <a:alpha val="80000"/>
                  </a:schemeClr>
                </a:solidFill>
                <a:latin typeface="+mn-ea"/>
              </a:rPr>
              <a:t>Project Overview</a:t>
            </a:r>
            <a:endParaRPr lang="en-US" altLang="zh-CN" sz="1600" dirty="0">
              <a:solidFill>
                <a:schemeClr val="accent1">
                  <a:alpha val="80000"/>
                </a:schemeClr>
              </a:solidFill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24083" y="438131"/>
            <a:ext cx="199733" cy="952090"/>
          </a:xfrm>
          <a:prstGeom prst="rect">
            <a:avLst/>
          </a:prstGeom>
          <a:solidFill>
            <a:srgbClr val="4B5C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VCU 是什么？</a:t>
            </a:r>
            <a:endParaRPr sz="2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FDBFF"/>
                </a:solidFill>
                <a:latin typeface="微软雅黑"/>
              </a:rPr>
              <a:t>3 分钟科普——不用记，看懂即可</a:t>
            </a:r>
            <a:endParaRPr sz="1400" b="0" i="0">
              <a:solidFill>
                <a:srgbClr val="BFDBFF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96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64748B"/>
                </a:solidFill>
                <a:latin typeface="微软雅黑"/>
              </a:rPr>
              <a:t>AutoTestDesign 启动会 · 2026</a:t>
            </a:r>
            <a:endParaRPr sz="10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03520" cy="51206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E40AF"/>
                </a:solidFill>
                <a:latin typeface="微软雅黑"/>
              </a:rPr>
              <a:t>VCU 状态流程</a:t>
            </a:r>
            <a:endParaRPr sz="16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47548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10512"/>
            <a:ext cx="3200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/>
              </a:rPr>
              <a:t>充电桩</a:t>
            </a:r>
            <a:endParaRPr sz="13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2029967"/>
            <a:ext cx="4389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DBEAFE"/>
                </a:solidFill>
                <a:latin typeface="微软雅黑"/>
              </a:rPr>
              <a:t>输出 CC2 电压信号</a:t>
            </a:r>
            <a:endParaRPr sz="1100" b="0" i="0">
              <a:solidFill>
                <a:srgbClr val="DBEAFE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51760" y="2240279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E40AF"/>
                </a:solidFill>
                <a:latin typeface="微软雅黑"/>
              </a:rPr>
              <a:t>↓</a:t>
            </a:r>
            <a:endParaRPr sz="14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0080" y="2404872"/>
            <a:ext cx="4754880" cy="502920"/>
          </a:xfrm>
          <a:prstGeom prst="rect">
            <a:avLst/>
          </a:prstGeom>
          <a:solidFill>
            <a:srgbClr val="296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432303"/>
            <a:ext cx="3200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/>
              </a:rPr>
              <a:t>VCU 整车控制器</a:t>
            </a:r>
            <a:endParaRPr sz="13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2651760"/>
            <a:ext cx="4389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DBEAFE"/>
                </a:solidFill>
                <a:latin typeface="微软雅黑"/>
              </a:rPr>
              <a:t>判断电压是否在有效范围</a:t>
            </a:r>
            <a:endParaRPr sz="1100" b="0" i="0">
              <a:solidFill>
                <a:srgbClr val="DBEAFE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51760" y="2862072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E40AF"/>
                </a:solidFill>
                <a:latin typeface="微软雅黑"/>
              </a:rPr>
              <a:t>↓</a:t>
            </a:r>
            <a:endParaRPr sz="14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0080" y="3026664"/>
            <a:ext cx="475488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054096"/>
            <a:ext cx="3200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/>
              </a:rPr>
              <a:t>唤醒 ✅  state=170</a:t>
            </a:r>
            <a:endParaRPr sz="13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3273552"/>
            <a:ext cx="4389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微软雅黑"/>
              </a:rPr>
              <a:t>CC2 在 [4.8, 7.7]V</a:t>
            </a:r>
            <a:endParaRPr sz="11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651760" y="3483864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E40AF"/>
                </a:solidFill>
                <a:latin typeface="微软雅黑"/>
              </a:rPr>
              <a:t>↓</a:t>
            </a:r>
            <a:endParaRPr sz="14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40080" y="3648456"/>
            <a:ext cx="4754880" cy="502920"/>
          </a:xfrm>
          <a:prstGeom prst="rect">
            <a:avLst/>
          </a:prstGeom>
          <a:solidFill>
            <a:srgbClr val="33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675888"/>
            <a:ext cx="3200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/>
              </a:rPr>
              <a:t>休眠 💤  state=30</a:t>
            </a:r>
            <a:endParaRPr sz="13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7240" y="3895344"/>
            <a:ext cx="4389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DBEAFE"/>
                </a:solidFill>
                <a:latin typeface="微软雅黑"/>
              </a:rPr>
              <a:t>CC2 = 12.0V</a:t>
            </a:r>
            <a:endParaRPr sz="1100" b="0" i="0">
              <a:solidFill>
                <a:srgbClr val="DBEAFE"/>
              </a:solidFill>
              <a:latin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51760" y="4105656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E40AF"/>
                </a:solidFill>
                <a:latin typeface="微软雅黑"/>
              </a:rPr>
              <a:t>↓</a:t>
            </a:r>
            <a:endParaRPr sz="14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40080" y="4270248"/>
            <a:ext cx="475488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297680"/>
            <a:ext cx="3200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/>
              </a:rPr>
              <a:t>故障 ❌  state=30</a:t>
            </a:r>
            <a:endParaRPr sz="13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4517136"/>
            <a:ext cx="4389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DBEAFE"/>
                </a:solidFill>
                <a:latin typeface="微软雅黑"/>
              </a:rPr>
              <a:t>CC2 越界（&lt;4.8 或 &gt;7.8）</a:t>
            </a:r>
            <a:endParaRPr sz="1100" b="0" i="0">
              <a:solidFill>
                <a:srgbClr val="DBEAFE"/>
              </a:solidFill>
              <a:latin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651760" y="4727448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E40AF"/>
                </a:solidFill>
                <a:latin typeface="微软雅黑"/>
              </a:rPr>
              <a:t>↓</a:t>
            </a:r>
            <a:endParaRPr sz="14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035040" y="118872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E40AF"/>
                </a:solidFill>
                <a:latin typeface="微软雅黑"/>
              </a:rPr>
              <a:t>5 种输入信号（我们要测的）</a:t>
            </a:r>
            <a:endParaRPr sz="16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943600" y="1645920"/>
            <a:ext cx="2011680" cy="40233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89320" y="1682496"/>
            <a:ext cx="19202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信号名称</a:t>
            </a:r>
            <a:endParaRPr sz="1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955279" y="1645920"/>
            <a:ext cx="2103120" cy="40233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1000" y="1682496"/>
            <a:ext cx="20116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物理含义</a:t>
            </a:r>
            <a:endParaRPr sz="1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0058400" y="1645920"/>
            <a:ext cx="1828800" cy="40233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04120" y="1682496"/>
            <a:ext cx="17373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有效区间</a:t>
            </a:r>
            <a:endParaRPr sz="1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943600" y="2048256"/>
            <a:ext cx="2011680" cy="402336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98464" y="2084832"/>
            <a:ext cx="190195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CC2电压 ⭐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955279" y="2048256"/>
            <a:ext cx="2103120" cy="402336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10144" y="2084832"/>
            <a:ext cx="1993391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充电唤醒主信号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0058400" y="2048256"/>
            <a:ext cx="1828800" cy="402336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13264" y="2084832"/>
            <a:ext cx="171907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4.8~7.7V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943600" y="2450592"/>
            <a:ext cx="2011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98464" y="2487168"/>
            <a:ext cx="190195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CC电压值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7955279" y="2450592"/>
            <a:ext cx="21031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10144" y="2487168"/>
            <a:ext cx="1993391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充电枪接触检测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0058400" y="2450592"/>
            <a:ext cx="1828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13264" y="2487168"/>
            <a:ext cx="171907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&gt; 4.0V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943600" y="2852928"/>
            <a:ext cx="2011680" cy="402336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98464" y="2889504"/>
            <a:ext cx="190195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CP幅值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955279" y="2852928"/>
            <a:ext cx="2103120" cy="402336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10144" y="2889504"/>
            <a:ext cx="1993391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充电协议握手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0058400" y="2852928"/>
            <a:ext cx="1828800" cy="402336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13264" y="2889504"/>
            <a:ext cx="171907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0V（待机）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5943600" y="3255264"/>
            <a:ext cx="2011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98464" y="3291840"/>
            <a:ext cx="190195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供电电压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7955279" y="3255264"/>
            <a:ext cx="21031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10144" y="3291840"/>
            <a:ext cx="1993391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外部交流供电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0058400" y="3255264"/>
            <a:ext cx="1828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113264" y="3291840"/>
            <a:ext cx="171907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0V（无外供）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5943600" y="3657600"/>
            <a:ext cx="2011680" cy="402336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98464" y="3694176"/>
            <a:ext cx="190195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网络唤醒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7955279" y="3657600"/>
            <a:ext cx="2103120" cy="402336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10144" y="3694176"/>
            <a:ext cx="1993391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远程唤醒指令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10058400" y="3657600"/>
            <a:ext cx="1828800" cy="402336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13264" y="3694176"/>
            <a:ext cx="171907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0（关闭）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943600" y="502920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A580C"/>
                </a:solidFill>
                <a:latin typeface="微软雅黑"/>
              </a:rPr>
              <a:t>⭐ CC2电压是最关键的主唤醒信号，其他4个是辅助检测信号</a:t>
            </a:r>
            <a:endParaRPr sz="1200" b="1" i="0">
              <a:solidFill>
                <a:srgbClr val="EA580C"/>
              </a:solidFill>
              <a:latin typeface="微软雅黑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943600" y="544068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微软雅黑"/>
              </a:rPr>
              <a:t>所有边界值均来自 5 个真实 BAIC VCU 数据库（9615 条记录）分析</a:t>
            </a:r>
            <a:endParaRPr sz="1100" b="0" i="0">
              <a:solidFill>
                <a:srgbClr val="64748B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8356" y="26286"/>
            <a:ext cx="12267968" cy="7096182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8444"/>
            </a:stretch>
          </a:blipFill>
        </p:spPr>
        <p:txBody>
          <a:bodyPr/>
          <a:p>
            <a:endParaRPr lang="zh-CN" altLang="en-US" sz="1200"/>
          </a:p>
        </p:txBody>
      </p:sp>
      <p:sp>
        <p:nvSpPr>
          <p:cNvPr id="4" name="Freeform 4"/>
          <p:cNvSpPr/>
          <p:nvPr/>
        </p:nvSpPr>
        <p:spPr>
          <a:xfrm>
            <a:off x="558571" y="280319"/>
            <a:ext cx="831352" cy="831352"/>
          </a:xfrm>
          <a:custGeom>
            <a:avLst/>
            <a:gdLst/>
            <a:ahLst/>
            <a:cxnLst/>
            <a:rect l="l" t="t" r="r" b="b"/>
            <a:pathLst>
              <a:path w="1247353" h="1247353">
                <a:moveTo>
                  <a:pt x="0" y="0"/>
                </a:moveTo>
                <a:lnTo>
                  <a:pt x="1247353" y="0"/>
                </a:lnTo>
                <a:lnTo>
                  <a:pt x="1247353" y="1247353"/>
                </a:lnTo>
                <a:lnTo>
                  <a:pt x="0" y="1247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>
            <p:custDataLst>
              <p:tags r:id="rId4"/>
            </p:custDataLst>
          </p:nvPr>
        </p:nvGrpSpPr>
        <p:grpSpPr>
          <a:xfrm rot="0">
            <a:off x="1027162" y="4085419"/>
            <a:ext cx="264091" cy="263245"/>
            <a:chOff x="0" y="0"/>
            <a:chExt cx="528049" cy="526844"/>
          </a:xfrm>
        </p:grpSpPr>
        <p:sp>
          <p:nvSpPr>
            <p:cNvPr id="16" name="Freeform 16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528066" cy="526796"/>
            </a:xfrm>
            <a:custGeom>
              <a:avLst/>
              <a:gdLst/>
              <a:ahLst/>
              <a:cxnLst/>
              <a:rect l="l" t="t" r="r" b="b"/>
              <a:pathLst>
                <a:path w="528066" h="526796">
                  <a:moveTo>
                    <a:pt x="0" y="0"/>
                  </a:moveTo>
                  <a:lnTo>
                    <a:pt x="528066" y="0"/>
                  </a:lnTo>
                  <a:lnTo>
                    <a:pt x="528066" y="526796"/>
                  </a:lnTo>
                  <a:lnTo>
                    <a:pt x="0" y="526796"/>
                  </a:lnTo>
                  <a:close/>
                </a:path>
              </a:pathLst>
            </a:custGeom>
            <a:blipFill>
              <a:blip r:embed="rId6"/>
              <a:stretch>
                <a:fillRect t="-114" r="3" b="-123"/>
              </a:stretch>
            </a:blipFill>
          </p:spPr>
        </p:sp>
      </p:grpSp>
      <p:sp>
        <p:nvSpPr>
          <p:cNvPr id="12" name="文本框 11"/>
          <p:cNvSpPr txBox="1"/>
          <p:nvPr/>
        </p:nvSpPr>
        <p:spPr>
          <a:xfrm>
            <a:off x="1218883" y="381794"/>
            <a:ext cx="11783377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 b="1">
                <a:sym typeface="+mn-ea"/>
              </a:rPr>
              <a:t> </a:t>
            </a:r>
            <a:r>
              <a:rPr lang="zh-CN" altLang="en-US" sz="4000" b="1">
                <a:sym typeface="+mn-ea"/>
              </a:rPr>
              <a:t>输出</a:t>
            </a:r>
            <a:r>
              <a:rPr lang="en-US" altLang="zh-CN" sz="4000" b="1">
                <a:sym typeface="+mn-ea"/>
              </a:rPr>
              <a:t>—— </a:t>
            </a:r>
            <a:r>
              <a:rPr lang="zh-CN" altLang="en-US" sz="4000" b="1">
                <a:sym typeface="+mn-ea"/>
              </a:rPr>
              <a:t>容易引发异常的信号组合</a:t>
            </a:r>
            <a:endParaRPr lang="zh-CN" altLang="en-US" sz="4000" b="1">
              <a:sym typeface="+mn-ea"/>
            </a:endParaRPr>
          </a:p>
        </p:txBody>
      </p:sp>
      <p:sp>
        <p:nvSpPr>
          <p:cNvPr id="9" name="矩形: 圆角 37"/>
          <p:cNvSpPr/>
          <p:nvPr/>
        </p:nvSpPr>
        <p:spPr>
          <a:xfrm>
            <a:off x="5332611" y="3784507"/>
            <a:ext cx="6405905" cy="27043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2C9F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indent="457200">
              <a:lnSpc>
                <a:spcPts val="4300"/>
              </a:lnSpc>
            </a:pPr>
            <a:endParaRPr lang="zh-CN" altLang="en-US" sz="2135" dirty="0">
              <a:latin typeface="Microsoft JhengHei UI" panose="020B0604030504040204" charset="-120"/>
              <a:ea typeface="Microsoft JhengHei UI" panose="020B0604030504040204" charset="-12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789692" y="4140015"/>
            <a:ext cx="5504863" cy="1969257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sym typeface="+mn-ea"/>
              </a:rPr>
              <a:t>比如</a:t>
            </a:r>
            <a:r>
              <a:rPr lang="en-US" altLang="zh-CN" sz="1600">
                <a:sym typeface="+mn-ea"/>
              </a:rPr>
              <a:t>：</a:t>
            </a:r>
            <a:endParaRPr lang="zh-CN" altLang="en-US" sz="1600">
              <a:sym typeface="+mn-ea"/>
            </a:endParaRPr>
          </a:p>
          <a:p>
            <a:r>
              <a:rPr lang="zh-CN" altLang="en-US" sz="1600">
                <a:sym typeface="+mn-ea"/>
              </a:rPr>
              <a:t>输出序列</a:t>
            </a:r>
            <a:r>
              <a:rPr lang="en-US" altLang="zh-CN" sz="1600">
                <a:sym typeface="+mn-ea"/>
              </a:rPr>
              <a:t> = {</a:t>
            </a:r>
            <a:endParaRPr lang="en-US" altLang="zh-CN" sz="1600"/>
          </a:p>
          <a:p>
            <a:r>
              <a:rPr lang="en-US" altLang="zh-CN" sz="1600">
                <a:sym typeface="+mn-ea"/>
              </a:rPr>
              <a:t>    "signals": [4.5, 7.0, 4.8, 6.8, 5.0],  # </a:t>
            </a:r>
            <a:r>
              <a:rPr lang="zh-CN" altLang="en-US" sz="1600">
                <a:sym typeface="+mn-ea"/>
              </a:rPr>
              <a:t>大幅振荡的电压序列</a:t>
            </a:r>
            <a:endParaRPr lang="zh-CN" altLang="en-US" sz="1600"/>
          </a:p>
          <a:p>
            <a:r>
              <a:rPr lang="en-US" altLang="zh-CN" sz="1600">
                <a:sym typeface="+mn-ea"/>
              </a:rPr>
              <a:t>    "pattern": "</a:t>
            </a:r>
            <a:r>
              <a:rPr lang="zh-CN" altLang="en-US" sz="1600">
                <a:sym typeface="+mn-ea"/>
              </a:rPr>
              <a:t>正常</a:t>
            </a:r>
            <a:r>
              <a:rPr lang="en-US" altLang="en-US" sz="1600">
                <a:sym typeface="+mn-ea"/>
              </a:rPr>
              <a:t>→</a:t>
            </a:r>
            <a:r>
              <a:rPr lang="zh-CN" altLang="en-US" sz="1600">
                <a:sym typeface="+mn-ea"/>
              </a:rPr>
              <a:t>卡死</a:t>
            </a:r>
            <a:r>
              <a:rPr lang="en-US" altLang="en-US" sz="1600">
                <a:sym typeface="+mn-ea"/>
              </a:rPr>
              <a:t>→</a:t>
            </a:r>
            <a:r>
              <a:rPr lang="zh-CN" altLang="en-US" sz="1600">
                <a:sym typeface="+mn-ea"/>
              </a:rPr>
              <a:t>正常</a:t>
            </a:r>
            <a:r>
              <a:rPr lang="en-US" altLang="en-US" sz="1600">
                <a:sym typeface="+mn-ea"/>
              </a:rPr>
              <a:t>→</a:t>
            </a:r>
            <a:r>
              <a:rPr lang="zh-CN" altLang="en-US" sz="1600">
                <a:sym typeface="+mn-ea"/>
              </a:rPr>
              <a:t>卡死</a:t>
            </a:r>
            <a:r>
              <a:rPr lang="en-US" altLang="en-US" sz="1600">
                <a:sym typeface="+mn-ea"/>
              </a:rPr>
              <a:t>→</a:t>
            </a:r>
            <a:r>
              <a:rPr lang="zh-CN" altLang="en-US" sz="1600">
                <a:sym typeface="+mn-ea"/>
              </a:rPr>
              <a:t>正常</a:t>
            </a:r>
            <a:r>
              <a:rPr lang="en-US" altLang="zh-CN" sz="1600">
                <a:sym typeface="+mn-ea"/>
              </a:rPr>
              <a:t>",   # </a:t>
            </a:r>
            <a:r>
              <a:rPr lang="zh-CN" altLang="en-US" sz="1600">
                <a:sym typeface="+mn-ea"/>
              </a:rPr>
              <a:t>预期状态转移</a:t>
            </a:r>
            <a:endParaRPr lang="zh-CN" altLang="en-US" sz="1600"/>
          </a:p>
          <a:p>
            <a:r>
              <a:rPr lang="en-US" altLang="zh-CN" sz="1600">
                <a:sym typeface="+mn-ea"/>
              </a:rPr>
              <a:t>    "context": "</a:t>
            </a:r>
            <a:r>
              <a:rPr lang="zh-CN" altLang="en-US" sz="1600">
                <a:sym typeface="+mn-ea"/>
              </a:rPr>
              <a:t>快速信号跳变导致状态不稳定</a:t>
            </a:r>
            <a:r>
              <a:rPr lang="en-US" altLang="zh-CN" sz="1600">
                <a:sym typeface="+mn-ea"/>
              </a:rPr>
              <a:t>"    # </a:t>
            </a:r>
            <a:r>
              <a:rPr lang="zh-CN" altLang="en-US" sz="1600">
                <a:sym typeface="+mn-ea"/>
              </a:rPr>
              <a:t>异常机制</a:t>
            </a:r>
            <a:endParaRPr lang="zh-CN" altLang="en-US" sz="1600"/>
          </a:p>
          <a:p>
            <a:endParaRPr lang="zh-CN" altLang="en-US" sz="1600">
              <a:latin typeface="+mn-ea"/>
              <a:cs typeface="+mn-ea"/>
            </a:endParaRPr>
          </a:p>
        </p:txBody>
      </p:sp>
      <p:sp>
        <p:nvSpPr>
          <p:cNvPr id="3" name="矩形: 圆角 11"/>
          <p:cNvSpPr/>
          <p:nvPr/>
        </p:nvSpPr>
        <p:spPr>
          <a:xfrm>
            <a:off x="406294" y="1266753"/>
            <a:ext cx="10833241" cy="2279480"/>
          </a:xfrm>
          <a:prstGeom prst="roundRect">
            <a:avLst/>
          </a:prstGeom>
          <a:solidFill>
            <a:srgbClr val="8CBA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5" name="文本框 4"/>
          <p:cNvSpPr txBox="1"/>
          <p:nvPr/>
        </p:nvSpPr>
        <p:spPr>
          <a:xfrm>
            <a:off x="812588" y="1956184"/>
            <a:ext cx="3670614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+mn-ea"/>
                <a:cs typeface="+mn-ea"/>
              </a:rPr>
              <a:t>边界振荡攻击</a:t>
            </a:r>
            <a:r>
              <a:rPr lang="en-US" altLang="zh-CN" sz="1600">
                <a:latin typeface="+mn-ea"/>
                <a:cs typeface="+mn-ea"/>
              </a:rPr>
              <a:t>": </a:t>
            </a:r>
            <a:endParaRPr lang="en-US" altLang="zh-CN" sz="1600">
              <a:latin typeface="+mn-ea"/>
              <a:cs typeface="+mn-ea"/>
            </a:endParaRPr>
          </a:p>
          <a:p>
            <a:r>
              <a:rPr lang="en-US" altLang="zh-CN" sz="1600">
                <a:latin typeface="+mn-ea"/>
                <a:cs typeface="+mn-ea"/>
              </a:rPr>
              <a:t>        "</a:t>
            </a:r>
            <a:r>
              <a:rPr lang="zh-CN" altLang="en-US" sz="1600">
                <a:latin typeface="+mn-ea"/>
                <a:cs typeface="+mn-ea"/>
              </a:rPr>
              <a:t>在电压边界快速振荡，测试系统稳定性</a:t>
            </a:r>
            <a:r>
              <a:rPr lang="en-US" altLang="zh-CN" sz="1600">
                <a:latin typeface="+mn-ea"/>
                <a:cs typeface="+mn-ea"/>
              </a:rPr>
              <a:t>"</a:t>
            </a:r>
            <a:endParaRPr lang="en-US" altLang="zh-CN" sz="1600">
              <a:latin typeface="+mn-ea"/>
              <a:cs typeface="+mn-ea"/>
            </a:endParaRPr>
          </a:p>
          <a:p>
            <a:endParaRPr lang="en-US" altLang="zh-CN" sz="1600">
              <a:latin typeface="+mn-ea"/>
              <a:cs typeface="+mn-ea"/>
            </a:endParaRPr>
          </a:p>
          <a:p>
            <a:r>
              <a:rPr lang="en-US" altLang="zh-CN" sz="1600">
                <a:latin typeface="+mn-ea"/>
                <a:cs typeface="+mn-ea"/>
              </a:rPr>
              <a:t>  "</a:t>
            </a:r>
            <a:r>
              <a:rPr lang="zh-CN" altLang="en-US" sz="1600">
                <a:latin typeface="+mn-ea"/>
                <a:cs typeface="+mn-ea"/>
              </a:rPr>
              <a:t>渐进加压攻击</a:t>
            </a:r>
            <a:r>
              <a:rPr lang="en-US" altLang="zh-CN" sz="1600">
                <a:latin typeface="+mn-ea"/>
                <a:cs typeface="+mn-ea"/>
              </a:rPr>
              <a:t>": </a:t>
            </a:r>
            <a:endParaRPr lang="en-US" altLang="zh-CN" sz="1600">
              <a:latin typeface="+mn-ea"/>
              <a:cs typeface="+mn-ea"/>
            </a:endParaRPr>
          </a:p>
          <a:p>
            <a:r>
              <a:rPr lang="en-US" altLang="zh-CN" sz="1600">
                <a:latin typeface="+mn-ea"/>
                <a:cs typeface="+mn-ea"/>
              </a:rPr>
              <a:t>        "</a:t>
            </a:r>
            <a:r>
              <a:rPr lang="zh-CN" altLang="en-US" sz="1600">
                <a:latin typeface="+mn-ea"/>
                <a:cs typeface="+mn-ea"/>
              </a:rPr>
              <a:t>逐步逼近临界值，测试系统容错</a:t>
            </a:r>
            <a:r>
              <a:rPr lang="en-US" altLang="zh-CN" sz="1600">
                <a:latin typeface="+mn-ea"/>
                <a:cs typeface="+mn-ea"/>
              </a:rPr>
              <a:t>",</a:t>
            </a:r>
            <a:endParaRPr lang="en-US" altLang="zh-CN" sz="1600">
              <a:latin typeface="+mn-ea"/>
              <a:cs typeface="+mn-ea"/>
            </a:endParaRPr>
          </a:p>
          <a:p>
            <a:r>
              <a:rPr lang="en-US" altLang="zh-CN" sz="1600">
                <a:latin typeface="+mn-ea"/>
                <a:cs typeface="+mn-ea"/>
              </a:rPr>
              <a:t>       </a:t>
            </a:r>
            <a:endParaRPr lang="zh-CN" altLang="en-US" sz="1600">
              <a:latin typeface="+mn-ea"/>
              <a:cs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32611" y="1905397"/>
            <a:ext cx="4062942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+mn-ea"/>
                <a:cs typeface="+mn-ea"/>
                <a:sym typeface="+mn-ea"/>
              </a:rPr>
              <a:t>状态跳变攻击</a:t>
            </a:r>
            <a:r>
              <a:rPr lang="en-US" altLang="zh-CN" sz="1600">
                <a:latin typeface="+mn-ea"/>
                <a:cs typeface="+mn-ea"/>
                <a:sym typeface="+mn-ea"/>
              </a:rPr>
              <a:t>": </a:t>
            </a:r>
            <a:endParaRPr lang="en-US" altLang="zh-CN" sz="1600">
              <a:latin typeface="+mn-ea"/>
              <a:cs typeface="+mn-ea"/>
            </a:endParaRPr>
          </a:p>
          <a:p>
            <a:r>
              <a:rPr lang="en-US" altLang="zh-CN" sz="1600">
                <a:latin typeface="+mn-ea"/>
                <a:cs typeface="+mn-ea"/>
                <a:sym typeface="+mn-ea"/>
              </a:rPr>
              <a:t>        "</a:t>
            </a:r>
            <a:r>
              <a:rPr lang="zh-CN" altLang="en-US" sz="1600">
                <a:latin typeface="+mn-ea"/>
                <a:cs typeface="+mn-ea"/>
                <a:sym typeface="+mn-ea"/>
              </a:rPr>
              <a:t>快速切换休眠唤醒，测试时序逻辑</a:t>
            </a:r>
            <a:r>
              <a:rPr lang="en-US" altLang="zh-CN" sz="1600">
                <a:latin typeface="+mn-ea"/>
                <a:cs typeface="+mn-ea"/>
                <a:sym typeface="+mn-ea"/>
              </a:rPr>
              <a:t>"</a:t>
            </a:r>
            <a:endParaRPr lang="en-US" altLang="zh-CN" sz="1600">
              <a:latin typeface="+mn-ea"/>
              <a:cs typeface="+mn-ea"/>
              <a:sym typeface="+mn-ea"/>
            </a:endParaRPr>
          </a:p>
          <a:p>
            <a:endParaRPr lang="en-US" altLang="zh-CN" sz="1600">
              <a:latin typeface="+mn-ea"/>
              <a:cs typeface="+mn-ea"/>
            </a:endParaRPr>
          </a:p>
          <a:p>
            <a:r>
              <a:rPr lang="en-US" altLang="zh-CN" sz="1600">
                <a:latin typeface="+mn-ea"/>
                <a:cs typeface="+mn-ea"/>
                <a:sym typeface="+mn-ea"/>
              </a:rPr>
              <a:t>    </a:t>
            </a:r>
            <a:endParaRPr lang="en-US" altLang="zh-CN" sz="1600">
              <a:latin typeface="+mn-ea"/>
              <a:cs typeface="+mn-ea"/>
            </a:endParaRPr>
          </a:p>
          <a:p>
            <a:r>
              <a:rPr lang="en-US" altLang="zh-CN" sz="1600">
                <a:latin typeface="+mn-ea"/>
                <a:cs typeface="+mn-ea"/>
                <a:sym typeface="+mn-ea"/>
              </a:rPr>
              <a:t>    "</a:t>
            </a:r>
            <a:r>
              <a:rPr lang="zh-CN" altLang="en-US" sz="1600">
                <a:latin typeface="+mn-ea"/>
                <a:cs typeface="+mn-ea"/>
                <a:sym typeface="+mn-ea"/>
              </a:rPr>
              <a:t>累积效应攻击</a:t>
            </a:r>
            <a:r>
              <a:rPr lang="en-US" altLang="zh-CN" sz="1600">
                <a:latin typeface="+mn-ea"/>
                <a:cs typeface="+mn-ea"/>
                <a:sym typeface="+mn-ea"/>
              </a:rPr>
              <a:t>": </a:t>
            </a:r>
            <a:endParaRPr lang="en-US" altLang="zh-CN" sz="1600">
              <a:latin typeface="+mn-ea"/>
              <a:cs typeface="+mn-ea"/>
            </a:endParaRPr>
          </a:p>
          <a:p>
            <a:r>
              <a:rPr lang="en-US" altLang="zh-CN" sz="1600">
                <a:latin typeface="+mn-ea"/>
                <a:cs typeface="+mn-ea"/>
                <a:sym typeface="+mn-ea"/>
              </a:rPr>
              <a:t>        "</a:t>
            </a:r>
            <a:r>
              <a:rPr lang="zh-CN" altLang="en-US" sz="1600">
                <a:latin typeface="+mn-ea"/>
                <a:cs typeface="+mn-ea"/>
                <a:sym typeface="+mn-ea"/>
              </a:rPr>
              <a:t>重复特定模式，测试内存</a:t>
            </a:r>
            <a:r>
              <a:rPr lang="en-US" altLang="zh-CN" sz="1600">
                <a:latin typeface="+mn-ea"/>
                <a:cs typeface="+mn-ea"/>
                <a:sym typeface="+mn-ea"/>
              </a:rPr>
              <a:t>/</a:t>
            </a:r>
            <a:r>
              <a:rPr lang="zh-CN" altLang="en-US" sz="1600">
                <a:latin typeface="+mn-ea"/>
                <a:cs typeface="+mn-ea"/>
                <a:sym typeface="+mn-ea"/>
              </a:rPr>
              <a:t>状态累积</a:t>
            </a:r>
            <a:r>
              <a:rPr lang="en-US" altLang="zh-CN" sz="1600">
                <a:latin typeface="+mn-ea"/>
                <a:cs typeface="+mn-ea"/>
                <a:sym typeface="+mn-ea"/>
              </a:rPr>
              <a:t>"</a:t>
            </a:r>
            <a:endParaRPr lang="zh-CN" altLang="en-US" sz="1600">
              <a:latin typeface="+mn-ea"/>
              <a:cs typeface="+mn-ea"/>
            </a:endParaRPr>
          </a:p>
          <a:p>
            <a:endParaRPr lang="zh-CN" altLang="en-US" sz="1600">
              <a:latin typeface="+mn-ea"/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12588" y="1499103"/>
            <a:ext cx="4062942" cy="4203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135">
                <a:latin typeface="+mn-ea"/>
              </a:rPr>
              <a:t>一些设想的智能信号组合</a:t>
            </a:r>
            <a:r>
              <a:rPr lang="en-US" altLang="zh-CN" sz="2135">
                <a:latin typeface="+mn-ea"/>
              </a:rPr>
              <a:t>：</a:t>
            </a:r>
            <a:endParaRPr lang="en-US" altLang="zh-CN" sz="2135">
              <a:latin typeface="+mn-ea"/>
            </a:endParaRPr>
          </a:p>
        </p:txBody>
      </p:sp>
      <p:pic>
        <p:nvPicPr>
          <p:cNvPr id="13" name="图片 12" descr="08ab2f532582811df59d28eaf49d37d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735" y="4241588"/>
            <a:ext cx="3411178" cy="195444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GAN 是什么？</a:t>
            </a:r>
            <a:endParaRPr sz="2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FDBFF"/>
                </a:solidFill>
                <a:latin typeface="微软雅黑"/>
              </a:rPr>
              <a:t>不用深究——知道它能干什么就够了</a:t>
            </a:r>
            <a:endParaRPr sz="1400" b="0" i="0">
              <a:solidFill>
                <a:srgbClr val="BFDBFF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96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64748B"/>
                </a:solidFill>
                <a:latin typeface="微软雅黑"/>
              </a:rPr>
              <a:t>AutoTestDesign 启动会 · 2026</a:t>
            </a:r>
            <a:endParaRPr sz="10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577840" cy="51206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E40AF"/>
                </a:solidFill>
                <a:latin typeface="微软雅黑"/>
              </a:rPr>
              <a:t>🎨  通俗类比：临摹大师</a:t>
            </a:r>
            <a:endParaRPr sz="16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E40AF"/>
                </a:solidFill>
                <a:latin typeface="微软雅黑"/>
              </a:rPr>
              <a:t>GAN = 造假大师 + 鉴别专家 对抗训练</a:t>
            </a:r>
            <a:endParaRPr sz="13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2112264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endParaRPr sz="13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2441448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34D6B"/>
                </a:solidFill>
                <a:latin typeface="微软雅黑"/>
              </a:rPr>
              <a:t>1. 造假大师 生成一张假名画</a:t>
            </a:r>
            <a:endParaRPr sz="13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2770632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34D6B"/>
                </a:solidFill>
                <a:latin typeface="微软雅黑"/>
              </a:rPr>
              <a:t>2. 鉴别专家 说这里不像真的</a:t>
            </a:r>
            <a:endParaRPr sz="13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3099815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34D6B"/>
                </a:solidFill>
                <a:latin typeface="微软雅黑"/>
              </a:rPr>
              <a:t>3. 造假大师 根据反馈改进</a:t>
            </a:r>
            <a:endParaRPr sz="13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" y="3428999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34D6B"/>
                </a:solidFill>
                <a:latin typeface="微软雅黑"/>
              </a:rPr>
              <a:t>4. 反复训练 → 以假乱真</a:t>
            </a:r>
            <a:endParaRPr sz="13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4360" y="3758183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endParaRPr sz="13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360" y="4087368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E40AF"/>
                </a:solidFill>
                <a:latin typeface="微软雅黑"/>
              </a:rPr>
              <a:t>在我们项目里：</a:t>
            </a:r>
            <a:endParaRPr sz="13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4416552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E40AF"/>
                </a:solidFill>
                <a:latin typeface="微软雅黑"/>
              </a:rPr>
              <a:t>• 真实数据 = 真实 CC2 电压序列</a:t>
            </a:r>
            <a:endParaRPr sz="13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4360" y="4745736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E40AF"/>
                </a:solidFill>
                <a:latin typeface="微软雅黑"/>
              </a:rPr>
              <a:t>• 造假大师 = GAN 生成器</a:t>
            </a:r>
            <a:endParaRPr sz="13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0" y="507492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E40AF"/>
                </a:solidFill>
                <a:latin typeface="微软雅黑"/>
              </a:rPr>
              <a:t>• 鉴别专家 = GAN 判别器</a:t>
            </a:r>
            <a:endParaRPr sz="13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5404104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E40AF"/>
                </a:solidFill>
                <a:latin typeface="微软雅黑"/>
              </a:rPr>
              <a:t>• 结果 = 生成逼真的新电压序列</a:t>
            </a:r>
            <a:endParaRPr sz="13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309360" y="1188720"/>
            <a:ext cx="5486400" cy="51206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280160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E40AF"/>
                </a:solidFill>
                <a:latin typeface="微软雅黑"/>
              </a:rPr>
              <a:t>✅  GAN 在本项目中的角色</a:t>
            </a:r>
            <a:endParaRPr sz="16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92240" y="178308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F172A"/>
                </a:solidFill>
                <a:latin typeface="微软雅黑"/>
              </a:rPr>
              <a:t>EP / BVA 覆盖的场景（静态）：</a:t>
            </a:r>
            <a:endParaRPr sz="1300" b="1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675120" y="2103120"/>
            <a:ext cx="4937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34D6B"/>
                </a:solidFill>
                <a:latin typeface="微软雅黑"/>
              </a:rPr>
              <a:t>单次注入一个离散电压值
→ 检验该值对应的输出状态</a:t>
            </a:r>
            <a:endParaRPr sz="13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92240" y="278892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E40AF"/>
                </a:solidFill>
                <a:latin typeface="微软雅黑"/>
              </a:rPr>
              <a:t>GAN 补充的场景（动态）：</a:t>
            </a:r>
            <a:endParaRPr sz="13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75120" y="3108960"/>
            <a:ext cx="49377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34D6B"/>
                </a:solidFill>
                <a:latin typeface="微软雅黑"/>
              </a:rPr>
              <a:t>注入连续变化的 8 步电压序列
→ 检验 VCU 在动态过程中
   是否在正确位置发生状态转变</a:t>
            </a:r>
            <a:endParaRPr sz="13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400800" y="3977639"/>
            <a:ext cx="5303520" cy="5029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041648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E40AF"/>
                </a:solidFill>
                <a:latin typeface="微软雅黑"/>
              </a:rPr>
              <a:t>示例序列：[5.2, 6.1, 7.3, 7.6, 7.7, 7.8, 8.1]</a:t>
            </a:r>
            <a:endParaRPr sz="12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400800" y="4663440"/>
            <a:ext cx="5303520" cy="82296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70916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A580C"/>
                </a:solidFill>
                <a:latin typeface="微软雅黑"/>
              </a:rPr>
              <a:t>⚠  GAN 只用于 CC2 电压</a:t>
            </a:r>
            <a:endParaRPr sz="1300" b="1" i="0">
              <a:solidFill>
                <a:srgbClr val="EA580C"/>
              </a:solidFill>
              <a:latin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92240" y="5010912"/>
            <a:ext cx="5120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34D6B"/>
                </a:solidFill>
                <a:latin typeface="微软雅黑"/>
              </a:rPr>
              <a:t>其他4个信号用简单的 EP+BVA 即可
（它们在数据库里就是线性扫描）</a:t>
            </a:r>
            <a:endParaRPr sz="1200" b="0" i="0">
              <a:solidFill>
                <a:srgbClr val="334D6B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Assignment 2 要求什么？</a:t>
            </a:r>
            <a:endParaRPr sz="2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FDBFF"/>
                </a:solidFill>
                <a:latin typeface="微软雅黑"/>
              </a:rPr>
              <a:t>关键理解：两个系统的关系</a:t>
            </a:r>
            <a:endParaRPr sz="1400" b="0" i="0">
              <a:solidFill>
                <a:srgbClr val="BFDBFF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96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64748B"/>
                </a:solidFill>
                <a:latin typeface="微软雅黑"/>
              </a:rPr>
              <a:t>AutoTestDesign 启动会 · 2026</a:t>
            </a:r>
            <a:endParaRPr sz="10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47120" cy="18288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E40AF"/>
                </a:solidFill>
                <a:latin typeface="微软雅黑"/>
              </a:rPr>
              <a:t>AutoTestDesign 工具（我们开发）</a:t>
            </a:r>
            <a:endParaRPr sz="15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10058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34D6B"/>
                </a:solidFill>
                <a:latin typeface="微软雅黑"/>
              </a:rPr>
              <a:t>负责：需求输入 → 解析 → 风险分析 → 用例生成 → 执行 → 导出</a:t>
            </a:r>
            <a:endParaRPr sz="13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0" y="21031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E40AF"/>
                </a:solidFill>
                <a:latin typeface="微软雅黑"/>
              </a:rPr>
              <a:t>↓  调用 API 测试</a:t>
            </a:r>
            <a:endParaRPr sz="14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2423160"/>
            <a:ext cx="1124712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96312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"/>
              </a:rPr>
              <a:t>VCU 行为仿真器（目标应用，需要新建）</a:t>
            </a:r>
            <a:endParaRPr sz="15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BFDBFF"/>
                </a:solidFill>
                <a:latin typeface="微软雅黑"/>
              </a:rPr>
              <a:t>接收5种信号 → 返回 vehicle_state / test_status / ready_flag</a:t>
            </a:r>
            <a:endParaRPr sz="1200" b="0" i="0">
              <a:solidFill>
                <a:srgbClr val="BFDBFF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3657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E40AF"/>
                </a:solidFill>
                <a:latin typeface="微软雅黑"/>
              </a:rPr>
              <a:t>7 个功能需求</a:t>
            </a:r>
            <a:endParaRPr sz="15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7200" y="3566160"/>
            <a:ext cx="1188720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02736"/>
            <a:ext cx="10972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编号</a:t>
            </a:r>
            <a:endParaRPr sz="1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645920" y="3566160"/>
            <a:ext cx="5760720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3602736"/>
            <a:ext cx="56692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功能</a:t>
            </a:r>
            <a:endParaRPr sz="1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406640" y="3566160"/>
            <a:ext cx="1645920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3602736"/>
            <a:ext cx="1554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是否必须</a:t>
            </a:r>
            <a:endParaRPr sz="1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118872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968496"/>
            <a:ext cx="107899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FR 1.0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45920" y="3931920"/>
            <a:ext cx="576072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00784" y="3968496"/>
            <a:ext cx="565099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需求导入（CSV/文本/表单）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406640" y="3931920"/>
            <a:ext cx="164592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61504" y="3968496"/>
            <a:ext cx="153619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✅ 必须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57200" y="4297680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334256"/>
            <a:ext cx="107899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FR 1.1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645920" y="4297680"/>
            <a:ext cx="5760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00784" y="4334256"/>
            <a:ext cx="565099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需求结构化解析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406640" y="4297680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61504" y="4334256"/>
            <a:ext cx="153619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✅ 必须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4663440"/>
            <a:ext cx="118872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" y="4700016"/>
            <a:ext cx="107899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FR 2.0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645920" y="4663440"/>
            <a:ext cx="576072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00784" y="4700016"/>
            <a:ext cx="565099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风险分析与优先级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406640" y="4663440"/>
            <a:ext cx="164592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61504" y="4700016"/>
            <a:ext cx="153619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✅ 必须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57200" y="5029200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2064" y="5065776"/>
            <a:ext cx="107899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FR 3.0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645920" y="5029200"/>
            <a:ext cx="5760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700784" y="5065776"/>
            <a:ext cx="565099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黑盒用例生成（EP/BVA/决策表）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406640" y="5029200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61504" y="5065776"/>
            <a:ext cx="153619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✅ 必须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57200" y="5394960"/>
            <a:ext cx="118872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2064" y="5431536"/>
            <a:ext cx="107899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FR 4.0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645920" y="5394960"/>
            <a:ext cx="576072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700784" y="5431536"/>
            <a:ext cx="565099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白盒状态机建模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7406640" y="5394960"/>
            <a:ext cx="164592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61504" y="5431536"/>
            <a:ext cx="153619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⭐ 加分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57200" y="5760720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2064" y="5797296"/>
            <a:ext cx="107899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FR 6.0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645920" y="5760720"/>
            <a:ext cx="5760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700784" y="5797296"/>
            <a:ext cx="565099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JSON/CSV/Excel 导出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7406640" y="5760720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61504" y="5797296"/>
            <a:ext cx="153619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✅ 必须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57200" y="6126480"/>
            <a:ext cx="118872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2064" y="6163056"/>
            <a:ext cx="107899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FR 7.0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645920" y="6126480"/>
            <a:ext cx="576072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700784" y="6163056"/>
            <a:ext cx="565099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测试套件优化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406640" y="6126480"/>
            <a:ext cx="164592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61504" y="6163056"/>
            <a:ext cx="153619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⭐ 加分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sz="2800" b="1" i="0">
                <a:solidFill>
                  <a:srgbClr val="FFFFFF"/>
                </a:solidFill>
                <a:latin typeface="微软雅黑"/>
              </a:rPr>
              <a:t>需要自建</a:t>
            </a:r>
            <a:r>
              <a:rPr sz="2800" b="1" i="0">
                <a:solidFill>
                  <a:srgbClr val="FFFFFF"/>
                </a:solidFill>
                <a:latin typeface="微软雅黑"/>
              </a:rPr>
              <a:t>目标</a:t>
            </a:r>
            <a:r>
              <a:rPr lang="zh-CN" sz="2800" b="1" i="0">
                <a:solidFill>
                  <a:srgbClr val="FFFFFF"/>
                </a:solidFill>
                <a:latin typeface="微软雅黑"/>
              </a:rPr>
              <a:t>测试</a:t>
            </a:r>
            <a:r>
              <a:rPr sz="2800" b="1" i="0">
                <a:solidFill>
                  <a:srgbClr val="FFFFFF"/>
                </a:solidFill>
                <a:latin typeface="微软雅黑"/>
              </a:rPr>
              <a:t>应用：VCU 行为仿真器</a:t>
            </a:r>
            <a:endParaRPr sz="2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FDBFF"/>
                </a:solidFill>
                <a:latin typeface="微软雅黑"/>
              </a:rPr>
              <a:t>基于真实数据库建立——老师了解项目背景</a:t>
            </a:r>
            <a:endParaRPr sz="1400" b="0" i="0">
              <a:solidFill>
                <a:srgbClr val="BFDBFF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96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64748B"/>
                </a:solidFill>
                <a:latin typeface="微软雅黑"/>
              </a:rPr>
              <a:t>AutoTestDesign 启动会 · 2026</a:t>
            </a:r>
            <a:endParaRPr sz="10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6400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E40AF"/>
                </a:solidFill>
                <a:latin typeface="微软雅黑"/>
              </a:rPr>
              <a:t>为什么要自建仿真器？</a:t>
            </a:r>
            <a:endParaRPr sz="15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112471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34D6B"/>
                </a:solidFill>
                <a:latin typeface="微软雅黑"/>
              </a:rPr>
              <a:t>真实 BAIC HIL 台架目前无法连接 → 行业标准本来就是「先SIL仿真，再HIL测试」</a:t>
            </a:r>
            <a:endParaRPr sz="13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7315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E40AF"/>
                </a:solidFill>
                <a:latin typeface="微软雅黑"/>
              </a:rPr>
              <a:t>仿真器核心响应规则（均来自真实数据库验证）：</a:t>
            </a:r>
            <a:endParaRPr sz="15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2286000" cy="3931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05456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发送信号</a:t>
            </a:r>
            <a:endParaRPr sz="1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0" y="2468880"/>
            <a:ext cx="2560320" cy="3931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2505456"/>
            <a:ext cx="246887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测试值</a:t>
            </a:r>
            <a:endParaRPr sz="1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303520" y="2468880"/>
            <a:ext cx="2377440" cy="3931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2505456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返回 vehicle_state</a:t>
            </a:r>
            <a:endParaRPr sz="1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80960" y="2468880"/>
            <a:ext cx="2194560" cy="3931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80" y="2505456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含义</a:t>
            </a:r>
            <a:endParaRPr sz="1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2862072"/>
            <a:ext cx="2286000" cy="39319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2898648"/>
            <a:ext cx="217627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CC2电压 ⭐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743200" y="2862072"/>
            <a:ext cx="2560320" cy="39319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98064" y="2898648"/>
            <a:ext cx="2450591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6.3V（有效范围内）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03520" y="2862072"/>
            <a:ext cx="2377440" cy="39319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58383" y="2898648"/>
            <a:ext cx="226771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170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680960" y="2862072"/>
            <a:ext cx="2194560" cy="39319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35824" y="2898648"/>
            <a:ext cx="2084831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唤醒成功 ✅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57200" y="3255264"/>
            <a:ext cx="22860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" y="3291840"/>
            <a:ext cx="217627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CC2电压 ⭐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743200" y="3255264"/>
            <a:ext cx="2560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98064" y="3291840"/>
            <a:ext cx="2450591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9.0V（越界）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303520" y="3255264"/>
            <a:ext cx="2377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58383" y="3291840"/>
            <a:ext cx="226771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30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680960" y="3255264"/>
            <a:ext cx="2194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35824" y="3291840"/>
            <a:ext cx="2084831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唤醒失败 ❌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57200" y="3648456"/>
            <a:ext cx="2286000" cy="39319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064" y="3685032"/>
            <a:ext cx="217627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CC2电压 ⭐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743200" y="3648456"/>
            <a:ext cx="2560320" cy="39319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98064" y="3685032"/>
            <a:ext cx="2450591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12.0V（休眠触发）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303520" y="3648456"/>
            <a:ext cx="2377440" cy="39319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58383" y="3685032"/>
            <a:ext cx="226771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30（status=3）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680960" y="3648456"/>
            <a:ext cx="2194560" cy="39319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35824" y="3685032"/>
            <a:ext cx="2084831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正常休眠 💤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57200" y="4041648"/>
            <a:ext cx="22860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2064" y="4078224"/>
            <a:ext cx="217627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CC电压值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743200" y="4041648"/>
            <a:ext cx="2560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98064" y="4078224"/>
            <a:ext cx="2450591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2.0V（接触不良区间）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303520" y="4041648"/>
            <a:ext cx="2377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58383" y="4078224"/>
            <a:ext cx="226771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30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680960" y="4041648"/>
            <a:ext cx="2194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35824" y="4078224"/>
            <a:ext cx="2084831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检测失败 ❌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57200" y="4434840"/>
            <a:ext cx="2286000" cy="39319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2064" y="4471416"/>
            <a:ext cx="217627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CP幅值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2743200" y="4434840"/>
            <a:ext cx="2560320" cy="39319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98064" y="4471416"/>
            <a:ext cx="2450591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11.0V（协议冲突区间）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5303520" y="4434840"/>
            <a:ext cx="2377440" cy="39319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58383" y="4471416"/>
            <a:ext cx="226771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30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7680960" y="4434840"/>
            <a:ext cx="2194560" cy="39319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35824" y="4471416"/>
            <a:ext cx="2084831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检测失败 ❌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457200" y="4828032"/>
            <a:ext cx="22860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2064" y="4864608"/>
            <a:ext cx="217627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供电电压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2743200" y="4828032"/>
            <a:ext cx="2560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98064" y="4864608"/>
            <a:ext cx="2450591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12.5V（过压区间）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5303520" y="4828032"/>
            <a:ext cx="2377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58383" y="4864608"/>
            <a:ext cx="226771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30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680960" y="4828032"/>
            <a:ext cx="2194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35824" y="4864608"/>
            <a:ext cx="2084831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检测失败 ❌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457200" y="5221224"/>
            <a:ext cx="2286000" cy="39319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12064" y="5257800"/>
            <a:ext cx="217627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网络唤醒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2743200" y="5221224"/>
            <a:ext cx="2560320" cy="39319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98064" y="5257800"/>
            <a:ext cx="2450591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1（冲突使能）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5303520" y="5221224"/>
            <a:ext cx="2377440" cy="39319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58383" y="5257800"/>
            <a:ext cx="226771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30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7680960" y="5221224"/>
            <a:ext cx="2194560" cy="39319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735824" y="5257800"/>
            <a:ext cx="2084831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微软雅黑"/>
              </a:rPr>
              <a:t>检测失败 ❌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457200" y="580644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A580C"/>
                </a:solidFill>
                <a:latin typeface="微软雅黑"/>
              </a:rPr>
              <a:t>3 个重要边界发现（来自数据分析，答辩会被问）：</a:t>
            </a:r>
            <a:endParaRPr sz="1200" b="1" i="0">
              <a:solidFill>
                <a:srgbClr val="EA580C"/>
              </a:solidFill>
              <a:latin typeface="微软雅黑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微软雅黑"/>
              </a:rPr>
              <a:t>① CC2=4.8V 能成功唤醒（db_2 6条确认）  ② 休眠测试5个信号全固定  ③ db_15 上界扩展到 8.1V</a:t>
            </a:r>
            <a:endParaRPr sz="1100" b="0" i="0">
              <a:solidFill>
                <a:srgbClr val="64748B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评分权重</a:t>
            </a:r>
            <a:endParaRPr sz="2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FDBFF"/>
                </a:solidFill>
                <a:latin typeface="微软雅黑"/>
              </a:rPr>
              <a:t>交什么、怎么评——这是重中之重</a:t>
            </a:r>
            <a:endParaRPr sz="1400" b="0" i="0">
              <a:solidFill>
                <a:srgbClr val="BFDBFF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96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64748B"/>
                </a:solidFill>
                <a:latin typeface="微软雅黑"/>
              </a:rPr>
              <a:t>AutoTestDesign 启动会 · 2026</a:t>
            </a:r>
            <a:endParaRPr sz="10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E40AF"/>
                </a:solidFill>
                <a:latin typeface="微软雅黑"/>
              </a:rPr>
              <a:t>四个交付物</a:t>
            </a:r>
            <a:endParaRPr sz="16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118872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56232"/>
            <a:ext cx="1188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</a:rPr>
              <a:t>20%</a:t>
            </a:r>
            <a:endParaRPr sz="2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83080" y="178308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40AF"/>
                </a:solidFill>
                <a:latin typeface="微软雅黑"/>
              </a:rPr>
              <a:t>工具本体</a:t>
            </a:r>
            <a:endParaRPr sz="14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83080" y="210312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64748B"/>
                </a:solidFill>
                <a:latin typeface="微软雅黑"/>
              </a:rPr>
              <a:t>代码 + README + 视频 Demo</a:t>
            </a:r>
            <a:endParaRPr sz="12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2697480"/>
            <a:ext cx="1188720" cy="777240"/>
          </a:xfrm>
          <a:prstGeom prst="rect">
            <a:avLst/>
          </a:prstGeom>
          <a:solidFill>
            <a:srgbClr val="33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62072"/>
            <a:ext cx="1188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</a:rPr>
              <a:t>10%</a:t>
            </a:r>
            <a:endParaRPr sz="2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83080" y="278892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334D6B"/>
                </a:solidFill>
                <a:latin typeface="微软雅黑"/>
              </a:rPr>
              <a:t>风险分析报告</a:t>
            </a:r>
            <a:endParaRPr sz="1400" b="1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83080" y="31089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64748B"/>
                </a:solidFill>
                <a:latin typeface="微软雅黑"/>
              </a:rPr>
              <a:t>针对 VCU 仿真器的风险分析</a:t>
            </a:r>
            <a:endParaRPr sz="12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7200" y="3703320"/>
            <a:ext cx="1188720" cy="777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867912"/>
            <a:ext cx="1188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</a:rPr>
              <a:t>40%</a:t>
            </a:r>
            <a:endParaRPr sz="2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83080" y="379476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DC2626"/>
                </a:solidFill>
                <a:latin typeface="微软雅黑"/>
              </a:rPr>
              <a:t>测试计划 Test Plan</a:t>
            </a:r>
            <a:endParaRPr sz="1400" b="1" i="0">
              <a:solidFill>
                <a:srgbClr val="DC2626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783080" y="41148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64748B"/>
                </a:solidFill>
                <a:latin typeface="微软雅黑"/>
              </a:rPr>
              <a:t>7个章节，最重要！</a:t>
            </a:r>
            <a:endParaRPr sz="12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57200" y="4709160"/>
            <a:ext cx="1188720" cy="7772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73752"/>
            <a:ext cx="1188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</a:rPr>
              <a:t>30%</a:t>
            </a:r>
            <a:endParaRPr sz="2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783080" y="480060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A580C"/>
                </a:solidFill>
                <a:latin typeface="微软雅黑"/>
              </a:rPr>
              <a:t>详细测试设计与执行</a:t>
            </a:r>
            <a:endParaRPr sz="1400" b="1" i="0">
              <a:solidFill>
                <a:srgbClr val="EA580C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83080" y="51206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64748B"/>
                </a:solidFill>
                <a:latin typeface="微软雅黑"/>
              </a:rPr>
              <a:t>用例设计 + 脚本 + 结果分析</a:t>
            </a:r>
            <a:endParaRPr sz="12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83680" y="123444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E40AF"/>
                </a:solidFill>
                <a:latin typeface="微软雅黑"/>
              </a:rPr>
              <a:t>五个评分维度</a:t>
            </a:r>
            <a:endParaRPr sz="16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583680" y="1691640"/>
            <a:ext cx="1005840" cy="6858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828800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10%</a:t>
            </a:r>
            <a:endParaRPr sz="1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26679" y="1746504"/>
            <a:ext cx="4206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40AF"/>
                </a:solidFill>
                <a:latin typeface="微软雅黑"/>
              </a:rPr>
              <a:t>概念理解</a:t>
            </a:r>
            <a:endParaRPr sz="14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26679" y="2039112"/>
            <a:ext cx="4206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64748B"/>
                </a:solidFill>
                <a:latin typeface="微软雅黑"/>
              </a:rPr>
              <a:t>ISO 29119-4，ISTQB，EP/BVA 是什么</a:t>
            </a:r>
            <a:endParaRPr sz="12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583680" y="2560320"/>
            <a:ext cx="1005840" cy="6858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697479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20%</a:t>
            </a:r>
            <a:endParaRPr sz="1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726679" y="2615184"/>
            <a:ext cx="4206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40AF"/>
                </a:solidFill>
                <a:latin typeface="微软雅黑"/>
              </a:rPr>
              <a:t>设计连贯性</a:t>
            </a:r>
            <a:endParaRPr sz="14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26679" y="2907791"/>
            <a:ext cx="4206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64748B"/>
                </a:solidFill>
                <a:latin typeface="微软雅黑"/>
              </a:rPr>
              <a:t>需求→风险→用例→执行，逻辑自洽</a:t>
            </a:r>
            <a:endParaRPr sz="12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583680" y="3429000"/>
            <a:ext cx="1005840" cy="6858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3566160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40%</a:t>
            </a:r>
            <a:endParaRPr sz="1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26679" y="3483864"/>
            <a:ext cx="4206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40AF"/>
                </a:solidFill>
                <a:latin typeface="微软雅黑"/>
              </a:rPr>
              <a:t>覆盖度与有效性</a:t>
            </a:r>
            <a:endParaRPr sz="14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726679" y="3776472"/>
            <a:ext cx="4206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64748B"/>
                </a:solidFill>
                <a:latin typeface="微软雅黑"/>
              </a:rPr>
              <a:t>FR 全部实现，工具真的能用</a:t>
            </a:r>
            <a:endParaRPr sz="12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583680" y="4297680"/>
            <a:ext cx="1005840" cy="6858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4434840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20%</a:t>
            </a:r>
            <a:endParaRPr sz="1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726679" y="4352544"/>
            <a:ext cx="4206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40AF"/>
                </a:solidFill>
                <a:latin typeface="微软雅黑"/>
              </a:rPr>
              <a:t>深度分析</a:t>
            </a:r>
            <a:endParaRPr sz="14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726679" y="4645152"/>
            <a:ext cx="4206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64748B"/>
                </a:solidFill>
                <a:latin typeface="微软雅黑"/>
              </a:rPr>
              <a:t>为什么这么设计，能推广吗</a:t>
            </a:r>
            <a:endParaRPr sz="12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583680" y="5166360"/>
            <a:ext cx="1005840" cy="6858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5303520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10%</a:t>
            </a:r>
            <a:endParaRPr sz="1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726679" y="5221224"/>
            <a:ext cx="4206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40AF"/>
                </a:solidFill>
                <a:latin typeface="微软雅黑"/>
              </a:rPr>
              <a:t>答辩表现</a:t>
            </a:r>
            <a:endParaRPr sz="14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726679" y="5513832"/>
            <a:ext cx="4206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64748B"/>
                </a:solidFill>
                <a:latin typeface="微软雅黑"/>
              </a:rPr>
              <a:t>15分钟讲清楚，含 Q&amp;A</a:t>
            </a:r>
            <a:endParaRPr sz="12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57200" y="5989320"/>
            <a:ext cx="11247120" cy="41148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6035040"/>
            <a:ext cx="10972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EA580C"/>
                </a:solidFill>
                <a:latin typeface="微软雅黑"/>
              </a:rPr>
              <a:t>⚠  Test Plan(40%) + Detailed Test Design(30%) = 70%   代码好不如文档好</a:t>
            </a:r>
            <a:endParaRPr sz="1400" b="1" i="0">
              <a:solidFill>
                <a:srgbClr val="EA580C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我们的方案：整体架构</a:t>
            </a:r>
            <a:endParaRPr sz="2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FDBFF"/>
                </a:solidFill>
                <a:latin typeface="微软雅黑"/>
              </a:rPr>
              <a:t>两个服务，一套完整流程</a:t>
            </a:r>
            <a:endParaRPr sz="1400" b="0" i="0">
              <a:solidFill>
                <a:srgbClr val="BFDBFF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96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64748B"/>
                </a:solidFill>
                <a:latin typeface="微软雅黑"/>
              </a:rPr>
              <a:t>AutoTestDesign 启动会 · 2026</a:t>
            </a:r>
            <a:endParaRPr sz="10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11430000" cy="29260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61872"/>
            <a:ext cx="7315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1E40AF"/>
                </a:solidFill>
                <a:latin typeface="微软雅黑"/>
              </a:rPr>
              <a:t>AutoTestDesign Tool  （端口 8000）</a:t>
            </a:r>
            <a:endParaRPr sz="17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80160" y="1783080"/>
            <a:ext cx="1417320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874519"/>
            <a:ext cx="1325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</a:rPr>
              <a:t>需求导入
FR 1.0</a:t>
            </a:r>
            <a:endParaRPr sz="11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834640" y="1783080"/>
            <a:ext cx="1417320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1874519"/>
            <a:ext cx="1325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</a:rPr>
              <a:t>需求解析
FR 1.1</a:t>
            </a:r>
            <a:endParaRPr sz="11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89120" y="1783080"/>
            <a:ext cx="1417320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874519"/>
            <a:ext cx="1325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</a:rPr>
              <a:t>风险分析
FR 2.0</a:t>
            </a:r>
            <a:endParaRPr sz="11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943600" y="1783080"/>
            <a:ext cx="1417320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1874519"/>
            <a:ext cx="1325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</a:rPr>
              <a:t>用例生成
FR 3.0+GAN</a:t>
            </a:r>
            <a:endParaRPr sz="11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498079" y="1783080"/>
            <a:ext cx="1417320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1874519"/>
            <a:ext cx="1325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</a:rPr>
              <a:t>执行验证
FR 5.0</a:t>
            </a:r>
            <a:endParaRPr sz="11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052560" y="1783080"/>
            <a:ext cx="1417320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874519"/>
            <a:ext cx="1325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</a:rPr>
              <a:t>导出报告
FR 6.0</a:t>
            </a:r>
            <a:endParaRPr sz="11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97480" y="2176272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2963D0"/>
                </a:solidFill>
                <a:latin typeface="微软雅黑"/>
              </a:rPr>
              <a:t>→</a:t>
            </a:r>
            <a:endParaRPr sz="1800" b="1" i="0">
              <a:solidFill>
                <a:srgbClr val="2963D0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251960" y="2176272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2963D0"/>
                </a:solidFill>
                <a:latin typeface="微软雅黑"/>
              </a:rPr>
              <a:t>→</a:t>
            </a:r>
            <a:endParaRPr sz="1800" b="1" i="0">
              <a:solidFill>
                <a:srgbClr val="2963D0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806440" y="2176272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2963D0"/>
                </a:solidFill>
                <a:latin typeface="微软雅黑"/>
              </a:rPr>
              <a:t>→</a:t>
            </a:r>
            <a:endParaRPr sz="1800" b="1" i="0">
              <a:solidFill>
                <a:srgbClr val="2963D0"/>
              </a:solidFill>
              <a:latin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60920" y="2176272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2963D0"/>
                </a:solidFill>
                <a:latin typeface="微软雅黑"/>
              </a:rPr>
              <a:t>→</a:t>
            </a:r>
            <a:endParaRPr sz="1800" b="1" i="0">
              <a:solidFill>
                <a:srgbClr val="2963D0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915400" y="2176272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2963D0"/>
                </a:solidFill>
                <a:latin typeface="微软雅黑"/>
              </a:rPr>
              <a:t>→</a:t>
            </a:r>
            <a:endParaRPr sz="1800" b="1" i="0">
              <a:solidFill>
                <a:srgbClr val="2963D0"/>
              </a:solidFill>
              <a:latin typeface="微软雅黑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65760" y="2926080"/>
            <a:ext cx="11430000" cy="548640"/>
          </a:xfrm>
          <a:prstGeom prst="rect">
            <a:avLst/>
          </a:prstGeom>
          <a:solidFill>
            <a:srgbClr val="296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017520"/>
            <a:ext cx="10972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前端 React（端口 3000）  ↔  后端 FastAPI（端口 8000）  ↔  GAN 模型（CC2 电压时序）</a:t>
            </a:r>
            <a:endParaRPr sz="1300" b="0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114800" y="3611880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E40AF"/>
                </a:solidFill>
                <a:latin typeface="微软雅黑"/>
              </a:rPr>
              <a:t>↓  HTTP POST /simulate  发送单信号测试请求</a:t>
            </a:r>
            <a:endParaRPr sz="14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65760" y="4160520"/>
            <a:ext cx="11430000" cy="18288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251960"/>
            <a:ext cx="7315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  <a:latin typeface="微软雅黑"/>
              </a:rPr>
              <a:t>VCU 行为仿真器  （目标应用，端口 8001）</a:t>
            </a:r>
            <a:endParaRPr sz="17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31520" y="47091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BFDBFF"/>
                </a:solidFill>
                <a:latin typeface="微软雅黑"/>
              </a:rPr>
              <a:t>接收：5种输入信号之一（名称 + 值）</a:t>
            </a:r>
            <a:endParaRPr sz="1300" b="0" i="0">
              <a:solidFill>
                <a:srgbClr val="BFDBFF"/>
              </a:solidFill>
              <a:latin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31520" y="5056632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BFDBFF"/>
                </a:solidFill>
                <a:latin typeface="微软雅黑"/>
              </a:rPr>
              <a:t>返回：test_status  /  vehicle_state  /  vehicle_mode  /  ready_flag</a:t>
            </a:r>
            <a:endParaRPr sz="1300" b="0" i="0">
              <a:solidFill>
                <a:srgbClr val="BFDBFF"/>
              </a:solidFill>
              <a:latin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0" y="470916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7DD3FC"/>
                </a:solidFill>
                <a:latin typeface="微软雅黑"/>
              </a:rPr>
              <a:t>基于 9615 条真实记录建立的仿真逻辑</a:t>
            </a:r>
            <a:endParaRPr sz="1200" b="0" i="0">
              <a:solidFill>
                <a:srgbClr val="7DD3FC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测试用例怎么生成？</a:t>
            </a:r>
            <a:endParaRPr sz="2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FDBFF"/>
                </a:solidFill>
                <a:latin typeface="微软雅黑"/>
              </a:rPr>
              <a:t>三种黑盒技术 + GAN 补充</a:t>
            </a:r>
            <a:endParaRPr sz="1400" b="0" i="0">
              <a:solidFill>
                <a:srgbClr val="BFDBFF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96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64748B"/>
                </a:solidFill>
                <a:latin typeface="微软雅黑"/>
              </a:rPr>
              <a:t>AutoTestDesign 启动会 · 2026</a:t>
            </a:r>
            <a:endParaRPr sz="10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274320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34440"/>
            <a:ext cx="2743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</a:rPr>
              <a:t>等价划分 EP</a:t>
            </a:r>
            <a:endParaRPr sz="15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1645920"/>
            <a:ext cx="2743200" cy="18288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19072"/>
            <a:ext cx="256032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微软雅黑"/>
              </a:rPr>
              <a:t>把输入范围分「有效类」和「无效类」
每类取一个代表值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5760" y="3493008"/>
            <a:ext cx="2743200" cy="1645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547872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40AF"/>
                </a:solidFill>
                <a:latin typeface="微软雅黑"/>
              </a:rPr>
              <a:t>示例：</a:t>
            </a:r>
            <a:endParaRPr sz="11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3794760"/>
            <a:ext cx="25603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D6B"/>
                </a:solidFill>
                <a:latin typeface="微软雅黑"/>
              </a:rPr>
              <a:t>CC2电压：
  有效类取 6.3V
  无效低取 3.0V
  无效高取 9.0V</a:t>
            </a:r>
            <a:endParaRPr sz="11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10128" y="1188720"/>
            <a:ext cx="27432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1234440"/>
            <a:ext cx="2743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</a:rPr>
              <a:t>边界值分析 BVA</a:t>
            </a:r>
            <a:endParaRPr sz="15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310128" y="1645920"/>
            <a:ext cx="2743200" cy="18288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1568" y="1719072"/>
            <a:ext cx="256032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微软雅黑"/>
              </a:rPr>
              <a:t>专测边界点
bug 最容易藏在边界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310128" y="3493008"/>
            <a:ext cx="2743200" cy="1645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01568" y="3547872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7C3AED"/>
                </a:solidFill>
                <a:latin typeface="微软雅黑"/>
              </a:rPr>
              <a:t>示例：</a:t>
            </a:r>
            <a:endParaRPr sz="1100" b="1" i="0">
              <a:solidFill>
                <a:srgbClr val="7C3AED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01568" y="3794760"/>
            <a:ext cx="25603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D6B"/>
                </a:solidFill>
                <a:latin typeface="微软雅黑"/>
              </a:rPr>
              <a:t>CC2 边界 4.8V：
  4.7V（刚越界）
  4.8V（精确边界）
  4.9V（刚进入）</a:t>
            </a:r>
            <a:endParaRPr sz="11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254496" y="1188720"/>
            <a:ext cx="274320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4496" y="1234440"/>
            <a:ext cx="2743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</a:rPr>
              <a:t>决策表</a:t>
            </a:r>
            <a:endParaRPr sz="15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254496" y="1645920"/>
            <a:ext cx="2743200" cy="18288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1719072"/>
            <a:ext cx="256032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微软雅黑"/>
              </a:rPr>
              <a:t>测多信号组合条件
一个信号异常→整体FAIL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254496" y="3493008"/>
            <a:ext cx="2743200" cy="1645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3547872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6A34A"/>
                </a:solidFill>
                <a:latin typeface="微软雅黑"/>
              </a:rPr>
              <a:t>示例：</a:t>
            </a:r>
            <a:endParaRPr sz="1100" b="1" i="0">
              <a:solidFill>
                <a:srgbClr val="16A34A"/>
              </a:solidFill>
              <a:latin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45936" y="3794760"/>
            <a:ext cx="25603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D6B"/>
                </a:solidFill>
                <a:latin typeface="微软雅黑"/>
              </a:rPr>
              <a:t>CC2有效 + CC电压值无效
→ 整体 FAIL
（来自真实测试策略）</a:t>
            </a:r>
            <a:endParaRPr sz="11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198864" y="1188720"/>
            <a:ext cx="274320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98864" y="1234440"/>
            <a:ext cx="2743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</a:rPr>
              <a:t>GAN 序列</a:t>
            </a:r>
            <a:endParaRPr sz="15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198864" y="1645920"/>
            <a:ext cx="2743200" cy="18288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90304" y="1719072"/>
            <a:ext cx="256032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微软雅黑"/>
              </a:rPr>
              <a:t>测电压连续变化过程
静态单点测不到的场景</a:t>
            </a:r>
            <a:endParaRPr sz="12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198864" y="3493008"/>
            <a:ext cx="2743200" cy="1645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90304" y="3547872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EA580C"/>
                </a:solidFill>
                <a:latin typeface="微软雅黑"/>
              </a:rPr>
              <a:t>示例：</a:t>
            </a:r>
            <a:endParaRPr sz="1100" b="1" i="0">
              <a:solidFill>
                <a:srgbClr val="EA580C"/>
              </a:solidFill>
              <a:latin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290304" y="3794760"/>
            <a:ext cx="25603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D6B"/>
                </a:solidFill>
                <a:latin typeface="微软雅黑"/>
              </a:rPr>
              <a:t>[5.2, 6.1, 7.3, 7.6, 7.7,
 7.8, 8.1, 9.0]
→检测状态转变位置</a:t>
            </a:r>
            <a:endParaRPr sz="11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65760" y="525780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40AF"/>
                </a:solidFill>
                <a:latin typeface="微软雅黑"/>
              </a:rPr>
              <a:t>各信号使用的生成方法：</a:t>
            </a:r>
            <a:endParaRPr sz="14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65760" y="5623560"/>
            <a:ext cx="2286000" cy="3291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2590" y="5577586"/>
            <a:ext cx="2194560" cy="25603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</a:rPr>
              <a:t>信号</a:t>
            </a:r>
            <a:endParaRPr sz="11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651760" y="5623560"/>
            <a:ext cx="1188720" cy="3291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79" y="5660136"/>
            <a:ext cx="1097280" cy="25603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</a:rPr>
              <a:t>EP</a:t>
            </a:r>
            <a:endParaRPr sz="11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840480" y="5623560"/>
            <a:ext cx="1188720" cy="3291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86200" y="5660136"/>
            <a:ext cx="1097280" cy="25603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</a:rPr>
              <a:t>BVA</a:t>
            </a:r>
            <a:endParaRPr sz="11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029200" y="5623560"/>
            <a:ext cx="2103120" cy="3291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5660136"/>
            <a:ext cx="2011679" cy="25603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</a:rPr>
              <a:t>GAN</a:t>
            </a:r>
            <a:endParaRPr sz="11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65760" y="5952744"/>
            <a:ext cx="2286000" cy="329184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4" y="5989320"/>
            <a:ext cx="2176272" cy="25603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F172A"/>
                </a:solidFill>
                <a:latin typeface="微软雅黑"/>
              </a:rPr>
              <a:t>CC2电压 ⭐</a:t>
            </a:r>
            <a:endParaRPr sz="11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651760" y="5952744"/>
            <a:ext cx="1188720" cy="329184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6624" y="5989320"/>
            <a:ext cx="1078992" cy="25603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F172A"/>
                </a:solidFill>
                <a:latin typeface="微软雅黑"/>
              </a:rPr>
              <a:t>✅</a:t>
            </a:r>
            <a:endParaRPr sz="11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840480" y="5952744"/>
            <a:ext cx="1188720" cy="329184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95344" y="5989320"/>
            <a:ext cx="1078992" cy="25603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F172A"/>
                </a:solidFill>
                <a:latin typeface="微软雅黑"/>
              </a:rPr>
              <a:t>✅</a:t>
            </a:r>
            <a:endParaRPr sz="11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029200" y="5952744"/>
            <a:ext cx="2103120" cy="329184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84064" y="5989320"/>
            <a:ext cx="1993391" cy="25603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F172A"/>
                </a:solidFill>
                <a:latin typeface="微软雅黑"/>
              </a:rPr>
              <a:t>✅时序序列</a:t>
            </a:r>
            <a:endParaRPr sz="11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65760" y="6281928"/>
            <a:ext cx="2286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0624" y="6318504"/>
            <a:ext cx="2176272" cy="25603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F172A"/>
                </a:solidFill>
                <a:latin typeface="微软雅黑"/>
              </a:rPr>
              <a:t>CC电压值</a:t>
            </a:r>
            <a:endParaRPr sz="11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651760" y="6281928"/>
            <a:ext cx="1188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06624" y="6318504"/>
            <a:ext cx="1078992" cy="25603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F172A"/>
                </a:solidFill>
                <a:latin typeface="微软雅黑"/>
              </a:rPr>
              <a:t>✅</a:t>
            </a:r>
            <a:endParaRPr sz="11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840480" y="6281928"/>
            <a:ext cx="1188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95344" y="6318504"/>
            <a:ext cx="1078992" cy="25603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F172A"/>
                </a:solidFill>
                <a:latin typeface="微软雅黑"/>
              </a:rPr>
              <a:t>✅</a:t>
            </a:r>
            <a:endParaRPr sz="11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029200" y="6281928"/>
            <a:ext cx="2103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84064" y="6318504"/>
            <a:ext cx="1993391" cy="25603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F172A"/>
                </a:solidFill>
                <a:latin typeface="微软雅黑"/>
              </a:rPr>
              <a:t>❌</a:t>
            </a:r>
            <a:endParaRPr sz="11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65760" y="6611112"/>
            <a:ext cx="2286000" cy="329184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0624" y="6647688"/>
            <a:ext cx="2176272" cy="25603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F172A"/>
                </a:solidFill>
                <a:latin typeface="微软雅黑"/>
              </a:rPr>
              <a:t>CP幅值</a:t>
            </a:r>
            <a:endParaRPr sz="11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2651760" y="6611112"/>
            <a:ext cx="1188720" cy="329184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06624" y="6647688"/>
            <a:ext cx="1078992" cy="25603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F172A"/>
                </a:solidFill>
                <a:latin typeface="微软雅黑"/>
              </a:rPr>
              <a:t>✅</a:t>
            </a:r>
            <a:endParaRPr sz="11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3840480" y="6611112"/>
            <a:ext cx="1188720" cy="329184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895344" y="6647688"/>
            <a:ext cx="1078992" cy="25603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F172A"/>
                </a:solidFill>
                <a:latin typeface="微软雅黑"/>
              </a:rPr>
              <a:t>✅</a:t>
            </a:r>
            <a:endParaRPr sz="11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5029200" y="6611112"/>
            <a:ext cx="2103120" cy="329184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84064" y="6647688"/>
            <a:ext cx="1993391" cy="25603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F172A"/>
                </a:solidFill>
                <a:latin typeface="微软雅黑"/>
              </a:rPr>
              <a:t>❌</a:t>
            </a:r>
            <a:endParaRPr sz="11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365760" y="6940296"/>
            <a:ext cx="2286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0624" y="6976872"/>
            <a:ext cx="2176272" cy="25603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F172A"/>
                </a:solidFill>
                <a:latin typeface="微软雅黑"/>
              </a:rPr>
              <a:t>供电电压</a:t>
            </a:r>
            <a:endParaRPr sz="11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2651760" y="6940296"/>
            <a:ext cx="1188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06624" y="6976872"/>
            <a:ext cx="1078992" cy="25603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F172A"/>
                </a:solidFill>
                <a:latin typeface="微软雅黑"/>
              </a:rPr>
              <a:t>✅</a:t>
            </a:r>
            <a:endParaRPr sz="11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3840480" y="6940296"/>
            <a:ext cx="1188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895344" y="6976872"/>
            <a:ext cx="1078992" cy="25603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F172A"/>
                </a:solidFill>
                <a:latin typeface="微软雅黑"/>
              </a:rPr>
              <a:t>✅</a:t>
            </a:r>
            <a:endParaRPr sz="11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5029200" y="6940296"/>
            <a:ext cx="2103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84064" y="6976872"/>
            <a:ext cx="1993391" cy="25603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F172A"/>
                </a:solidFill>
                <a:latin typeface="微软雅黑"/>
              </a:rPr>
              <a:t>❌</a:t>
            </a:r>
            <a:endParaRPr sz="11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365760" y="7269480"/>
            <a:ext cx="2286000" cy="329184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20624" y="7306056"/>
            <a:ext cx="2176272" cy="25603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F172A"/>
                </a:solidFill>
                <a:latin typeface="微软雅黑"/>
              </a:rPr>
              <a:t>网络唤醒</a:t>
            </a:r>
            <a:endParaRPr sz="11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2651760" y="7269480"/>
            <a:ext cx="1188720" cy="329184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06624" y="7306056"/>
            <a:ext cx="1078992" cy="25603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F172A"/>
                </a:solidFill>
                <a:latin typeface="微软雅黑"/>
              </a:rPr>
              <a:t>✅穷举</a:t>
            </a:r>
            <a:endParaRPr sz="11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3840480" y="7269480"/>
            <a:ext cx="1188720" cy="329184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895344" y="7306056"/>
            <a:ext cx="1078992" cy="25603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F172A"/>
                </a:solidFill>
                <a:latin typeface="微软雅黑"/>
              </a:rPr>
              <a:t>❌</a:t>
            </a:r>
            <a:endParaRPr sz="11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5029200" y="7269480"/>
            <a:ext cx="2103120" cy="329184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84064" y="7306056"/>
            <a:ext cx="1993391" cy="25603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F172A"/>
                </a:solidFill>
                <a:latin typeface="微软雅黑"/>
              </a:rPr>
              <a:t>❌</a:t>
            </a:r>
            <a:endParaRPr sz="1100" b="0" i="0">
              <a:solidFill>
                <a:srgbClr val="0F172A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工具的完整流程</a:t>
            </a:r>
            <a:endParaRPr sz="2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FDBFF"/>
                </a:solidFill>
                <a:latin typeface="微软雅黑"/>
              </a:rPr>
              <a:t>从需求到结果——满足作业的Mainly 要求</a:t>
            </a:r>
            <a:endParaRPr sz="1400" b="0" i="0">
              <a:solidFill>
                <a:srgbClr val="BFDBFF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96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64748B"/>
                </a:solidFill>
                <a:latin typeface="微软雅黑"/>
              </a:rPr>
              <a:t>AutoTestDesign 启动会 · 2026</a:t>
            </a:r>
            <a:endParaRPr sz="10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1541417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325880"/>
            <a:ext cx="1541417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软雅黑"/>
              </a:rPr>
              <a:t>1</a:t>
            </a:r>
            <a:endParaRPr sz="24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" y="1783080"/>
            <a:ext cx="1541417" cy="10058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59" y="1856232"/>
            <a:ext cx="1449977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1E40AF"/>
                </a:solidFill>
                <a:latin typeface="微软雅黑"/>
              </a:rPr>
              <a:t>导入 VCU 需求</a:t>
            </a:r>
            <a:endParaRPr sz="12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59" y="2240280"/>
            <a:ext cx="1449977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334D6B"/>
                </a:solidFill>
                <a:latin typeface="微软雅黑"/>
              </a:rPr>
              <a:t>CSV / 文本 / 手动表单</a:t>
            </a:r>
            <a:endParaRPr sz="10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65759" y="2788920"/>
            <a:ext cx="1449977" cy="2743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59" y="2788920"/>
            <a:ext cx="1449977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1E40AF"/>
                </a:solidFill>
                <a:latin typeface="微软雅黑"/>
              </a:rPr>
              <a:t>FR 1.0</a:t>
            </a:r>
            <a:endParaRPr sz="9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70017" y="205740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2963D0"/>
                </a:solidFill>
                <a:latin typeface="微软雅黑"/>
              </a:rPr>
              <a:t>→</a:t>
            </a:r>
            <a:endParaRPr sz="1400" b="1" i="0">
              <a:solidFill>
                <a:srgbClr val="2963D0"/>
              </a:solidFill>
              <a:latin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952897" y="1234440"/>
            <a:ext cx="1541417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52897" y="1325880"/>
            <a:ext cx="1541417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软雅黑"/>
              </a:rPr>
              <a:t>2</a:t>
            </a:r>
            <a:endParaRPr sz="24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952897" y="1783080"/>
            <a:ext cx="1541417" cy="10058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98617" y="1856232"/>
            <a:ext cx="1449977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1E40AF"/>
                </a:solidFill>
                <a:latin typeface="微软雅黑"/>
              </a:rPr>
              <a:t>结构化解析</a:t>
            </a:r>
            <a:endParaRPr sz="12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98617" y="2240280"/>
            <a:ext cx="1449977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334D6B"/>
                </a:solidFill>
                <a:latin typeface="微软雅黑"/>
              </a:rPr>
              <a:t>识别信号名/数值范围/条件/动作</a:t>
            </a:r>
            <a:endParaRPr sz="10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998617" y="2788920"/>
            <a:ext cx="1449977" cy="2743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98617" y="2788920"/>
            <a:ext cx="1449977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1E40AF"/>
                </a:solidFill>
                <a:latin typeface="微软雅黑"/>
              </a:rPr>
              <a:t>FR 1.1</a:t>
            </a:r>
            <a:endParaRPr sz="9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02874" y="205740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2963D0"/>
                </a:solidFill>
                <a:latin typeface="微软雅黑"/>
              </a:rPr>
              <a:t>→</a:t>
            </a:r>
            <a:endParaRPr sz="1400" b="1" i="0">
              <a:solidFill>
                <a:srgbClr val="2963D0"/>
              </a:solidFill>
              <a:latin typeface="微软雅黑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585754" y="1234440"/>
            <a:ext cx="1541417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85754" y="1325880"/>
            <a:ext cx="1541417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软雅黑"/>
              </a:rPr>
              <a:t>3</a:t>
            </a:r>
            <a:endParaRPr sz="24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585754" y="1783080"/>
            <a:ext cx="1541417" cy="10058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31474" y="1856232"/>
            <a:ext cx="1449977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1E40AF"/>
                </a:solidFill>
                <a:latin typeface="微软雅黑"/>
              </a:rPr>
              <a:t>风险分析打分</a:t>
            </a:r>
            <a:endParaRPr sz="12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31474" y="2240280"/>
            <a:ext cx="1449977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334D6B"/>
                </a:solidFill>
                <a:latin typeface="微软雅黑"/>
              </a:rPr>
              <a:t>5维度评分 → High/Medium/Low</a:t>
            </a:r>
            <a:endParaRPr sz="10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631474" y="2788920"/>
            <a:ext cx="1449977" cy="2743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1474" y="2788920"/>
            <a:ext cx="1449977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1E40AF"/>
                </a:solidFill>
                <a:latin typeface="微软雅黑"/>
              </a:rPr>
              <a:t>FR 2.0</a:t>
            </a:r>
            <a:endParaRPr sz="9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35731" y="205740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2963D0"/>
                </a:solidFill>
                <a:latin typeface="微软雅黑"/>
              </a:rPr>
              <a:t>→</a:t>
            </a:r>
            <a:endParaRPr sz="1400" b="1" i="0">
              <a:solidFill>
                <a:srgbClr val="2963D0"/>
              </a:solidFill>
              <a:latin typeface="微软雅黑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218611" y="1234440"/>
            <a:ext cx="1541417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8611" y="1325880"/>
            <a:ext cx="1541417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软雅黑"/>
              </a:rPr>
              <a:t>4</a:t>
            </a:r>
            <a:endParaRPr sz="24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218611" y="1783080"/>
            <a:ext cx="1541417" cy="10058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64331" y="1856232"/>
            <a:ext cx="1449977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1E40AF"/>
                </a:solidFill>
                <a:latin typeface="微软雅黑"/>
              </a:rPr>
              <a:t>生成测试用例</a:t>
            </a:r>
            <a:endParaRPr sz="12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264331" y="2240280"/>
            <a:ext cx="1449977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334D6B"/>
                </a:solidFill>
                <a:latin typeface="微软雅黑"/>
              </a:rPr>
              <a:t>EP + BVA + 决策表 + GAN 序列</a:t>
            </a:r>
            <a:endParaRPr sz="10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264331" y="2788920"/>
            <a:ext cx="1449977" cy="2743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64331" y="2788920"/>
            <a:ext cx="1449977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1E40AF"/>
                </a:solidFill>
                <a:latin typeface="微软雅黑"/>
              </a:rPr>
              <a:t>FR 3.0</a:t>
            </a:r>
            <a:endParaRPr sz="9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668588" y="205740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2963D0"/>
                </a:solidFill>
                <a:latin typeface="微软雅黑"/>
              </a:rPr>
              <a:t>→</a:t>
            </a:r>
            <a:endParaRPr sz="1400" b="1" i="0">
              <a:solidFill>
                <a:srgbClr val="2963D0"/>
              </a:solidFill>
              <a:latin typeface="微软雅黑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851468" y="1234440"/>
            <a:ext cx="1541417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1468" y="1325880"/>
            <a:ext cx="1541417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软雅黑"/>
              </a:rPr>
              <a:t>5</a:t>
            </a:r>
            <a:endParaRPr sz="24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851468" y="1783080"/>
            <a:ext cx="1541417" cy="10058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97188" y="1856232"/>
            <a:ext cx="1449977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1E40AF"/>
                </a:solidFill>
                <a:latin typeface="微软雅黑"/>
              </a:rPr>
              <a:t>调用仿真器执行</a:t>
            </a:r>
            <a:endParaRPr sz="12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897188" y="2240280"/>
            <a:ext cx="1449977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334D6B"/>
                </a:solidFill>
                <a:latin typeface="微软雅黑"/>
              </a:rPr>
              <a:t>发送信号 → 获取 vehicle_state</a:t>
            </a:r>
            <a:endParaRPr sz="10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897188" y="2788920"/>
            <a:ext cx="1449977" cy="2743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97188" y="2788920"/>
            <a:ext cx="1449977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1E40AF"/>
                </a:solidFill>
                <a:latin typeface="微软雅黑"/>
              </a:rPr>
              <a:t>FR 5.0</a:t>
            </a:r>
            <a:endParaRPr sz="9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301445" y="205740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2963D0"/>
                </a:solidFill>
                <a:latin typeface="微软雅黑"/>
              </a:rPr>
              <a:t>→</a:t>
            </a:r>
            <a:endParaRPr sz="1400" b="1" i="0">
              <a:solidFill>
                <a:srgbClr val="2963D0"/>
              </a:solidFill>
              <a:latin typeface="微软雅黑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8484325" y="1234440"/>
            <a:ext cx="1541417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84325" y="1325880"/>
            <a:ext cx="1541417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软雅黑"/>
              </a:rPr>
              <a:t>6</a:t>
            </a:r>
            <a:endParaRPr sz="24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8484325" y="1783080"/>
            <a:ext cx="1541417" cy="10058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30045" y="1856232"/>
            <a:ext cx="1449977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1E40AF"/>
                </a:solidFill>
                <a:latin typeface="微软雅黑"/>
              </a:rPr>
              <a:t>结果分析</a:t>
            </a:r>
            <a:endParaRPr sz="12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530045" y="2240280"/>
            <a:ext cx="1449977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334D6B"/>
                </a:solidFill>
                <a:latin typeface="微软雅黑"/>
              </a:rPr>
              <a:t>PASS/FAIL 统计，覆盖率报告</a:t>
            </a:r>
            <a:endParaRPr sz="10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8530045" y="2788920"/>
            <a:ext cx="1449977" cy="2743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30045" y="2788920"/>
            <a:ext cx="1449977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1E40AF"/>
                </a:solidFill>
                <a:latin typeface="微软雅黑"/>
              </a:rPr>
              <a:t>分析</a:t>
            </a:r>
            <a:endParaRPr sz="9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934302" y="205740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2963D0"/>
                </a:solidFill>
                <a:latin typeface="微软雅黑"/>
              </a:rPr>
              <a:t>→</a:t>
            </a:r>
            <a:endParaRPr sz="1400" b="1" i="0">
              <a:solidFill>
                <a:srgbClr val="2963D0"/>
              </a:solidFill>
              <a:latin typeface="微软雅黑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0117182" y="1234440"/>
            <a:ext cx="1541417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117182" y="1325880"/>
            <a:ext cx="1541417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软雅黑"/>
              </a:rPr>
              <a:t>7</a:t>
            </a:r>
            <a:endParaRPr sz="24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0117182" y="1783080"/>
            <a:ext cx="1541417" cy="10058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162902" y="1856232"/>
            <a:ext cx="1449977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1E40AF"/>
                </a:solidFill>
                <a:latin typeface="微软雅黑"/>
              </a:rPr>
              <a:t>导出制品</a:t>
            </a:r>
            <a:endParaRPr sz="12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0162902" y="2240280"/>
            <a:ext cx="1449977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334D6B"/>
                </a:solidFill>
                <a:latin typeface="微软雅黑"/>
              </a:rPr>
              <a:t>JSON / CSV / Excel 含追踪矩阵</a:t>
            </a:r>
            <a:endParaRPr sz="10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10162902" y="2788920"/>
            <a:ext cx="1449977" cy="2743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162902" y="2788920"/>
            <a:ext cx="1449977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1E40AF"/>
                </a:solidFill>
                <a:latin typeface="微软雅黑"/>
              </a:rPr>
              <a:t>FR 6.0</a:t>
            </a:r>
            <a:endParaRPr sz="9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2057400"/>
            <a:ext cx="11430000" cy="59436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214884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6A34A"/>
                </a:solidFill>
                <a:latin typeface="微软雅黑"/>
              </a:rPr>
              <a:t>🔄  Interactive Review（强制要求）：每个步骤用户都可以介入修改，不是可选功能！</a:t>
            </a:r>
            <a:endParaRPr sz="1300" b="1" i="0">
              <a:solidFill>
                <a:srgbClr val="16A34A"/>
              </a:solidFill>
              <a:latin typeface="微软雅黑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20040" y="3063240"/>
            <a:ext cx="5486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40AF"/>
                </a:solidFill>
                <a:latin typeface="微软雅黑"/>
              </a:rPr>
              <a:t>每个阶段的可交互内容：</a:t>
            </a:r>
            <a:endParaRPr sz="14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57200" y="3328670"/>
            <a:ext cx="10972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34D6B"/>
                </a:solidFill>
                <a:latin typeface="微软雅黑"/>
              </a:rPr>
              <a:t>  ✦  需求导入 → 内联编辑任何需求字段</a:t>
            </a:r>
            <a:endParaRPr sz="13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57200" y="3675888"/>
            <a:ext cx="10972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34D6B"/>
                </a:solidFill>
                <a:latin typeface="微软雅黑"/>
              </a:rPr>
              <a:t>  ✦  解析结果 → 增删改 Input Fields / Data Ranges / Conditions</a:t>
            </a:r>
            <a:endParaRPr sz="13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57200" y="4059936"/>
            <a:ext cx="10972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34D6B"/>
                </a:solidFill>
                <a:latin typeface="微软雅黑"/>
              </a:rPr>
              <a:t>  ✦  风险分析 → 手动覆盖任意维度分值和优先级</a:t>
            </a:r>
            <a:endParaRPr sz="13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57200" y="4443984"/>
            <a:ext cx="10972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34D6B"/>
                </a:solidFill>
                <a:latin typeface="微软雅黑"/>
              </a:rPr>
              <a:t>  ✦  测试用例 → 编辑/删除/手动新增任意用例</a:t>
            </a:r>
            <a:endParaRPr sz="13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457200" y="4828032"/>
            <a:ext cx="10972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34D6B"/>
                </a:solidFill>
                <a:latin typeface="微软雅黑"/>
              </a:rPr>
              <a:t>  ✦  导出内容 → 勾选要导出的模块和格式</a:t>
            </a:r>
            <a:endParaRPr sz="1300" b="0" i="0">
              <a:solidFill>
                <a:srgbClr val="334D6B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0" cy="1051560"/>
          </a:xfrm>
          <a:prstGeom prst="rect">
            <a:avLst/>
          </a:prstGeom>
          <a:solidFill>
            <a:srgbClr val="296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"/>
            <a:ext cx="12801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200" b="1" i="0">
                <a:solidFill>
                  <a:srgbClr val="FFFFFF"/>
                </a:solidFill>
                <a:latin typeface="微软雅黑"/>
              </a:rPr>
              <a:t>A</a:t>
            </a:r>
            <a:endParaRPr sz="4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</a:rPr>
              <a:t>成员 A — 后端架构师</a:t>
            </a:r>
            <a:endParaRPr sz="26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64748B"/>
                </a:solidFill>
                <a:latin typeface="微软雅黑"/>
              </a:rPr>
              <a:t>AutoTestDesign 启动会 · 2026</a:t>
            </a:r>
            <a:endParaRPr sz="10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5394960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43584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代码任务</a:t>
            </a:r>
            <a:endParaRPr sz="14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1645920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VCU 仿真器（vcu_simulator/，端口8001）⭐最高优先级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60" y="2029968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扩展 schemas.py（与B对齐数据模型）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" y="2414016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FR 1.0/1.1：需求导入API + 正则解析服务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760" y="2798064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main.py 注册所有新路由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126480" y="1188720"/>
            <a:ext cx="5394960" cy="365760"/>
          </a:xfrm>
          <a:prstGeom prst="rect">
            <a:avLst/>
          </a:prstGeom>
          <a:solidFill>
            <a:srgbClr val="33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243584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文档 / 答辩任务</a:t>
            </a:r>
            <a:endParaRPr sz="14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80" y="1645920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simulator_spec_for_doc.md → 给D写文档用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26480" y="2029968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API_reference_for_frontend.md → 给C开发用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26480" y="2414016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Test Plan: Testing Framework章节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26480" y="2798064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Test Plan: Cost Estimation章节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26480" y="3182112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Test Plan: Schedule / Checklist章节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65760" y="5212080"/>
            <a:ext cx="1115568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239512"/>
            <a:ext cx="2743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334D6B"/>
                </a:solidFill>
                <a:latin typeface="微软雅黑"/>
              </a:rPr>
              <a:t>📦  关键交付物</a:t>
            </a:r>
            <a:endParaRPr sz="1200" b="1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08960" y="5239512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D6B"/>
                </a:solidFill>
                <a:latin typeface="微软雅黑"/>
              </a:rPr>
              <a:t>第1周末：仿真器跑通  |  两份说明文档  |  第2周末：FR1.0/1.1完成</a:t>
            </a:r>
            <a:endParaRPr sz="11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65760" y="5623560"/>
            <a:ext cx="11155680" cy="50292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687568"/>
            <a:ext cx="10972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A580C"/>
                </a:solidFill>
                <a:latin typeface="微软雅黑"/>
              </a:rPr>
              <a:t>💡  你是关键路径！仿真器必须第1周末完成，否则B和C都无法开始联调</a:t>
            </a:r>
            <a:endParaRPr sz="1200" b="1" i="0">
              <a:solidFill>
                <a:srgbClr val="EA580C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0" cy="1051560"/>
          </a:xfrm>
          <a:prstGeom prst="rect">
            <a:avLst/>
          </a:prstGeom>
          <a:solidFill>
            <a:srgbClr val="296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"/>
            <a:ext cx="12801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200" b="1" i="0">
                <a:solidFill>
                  <a:srgbClr val="FFFFFF"/>
                </a:solidFill>
                <a:latin typeface="微软雅黑"/>
              </a:rPr>
              <a:t>B</a:t>
            </a:r>
            <a:endParaRPr sz="4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</a:rPr>
              <a:t>成员 B — 测试算法工程师</a:t>
            </a:r>
            <a:endParaRPr sz="26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64748B"/>
                </a:solidFill>
                <a:latin typeface="微软雅黑"/>
              </a:rPr>
              <a:t>AutoTestDesign 启动会 · 2026</a:t>
            </a:r>
            <a:endParaRPr sz="10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539496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43584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代码任务</a:t>
            </a:r>
            <a:endParaRPr sz="14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1645920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FR 2.0：5维度风险评分算法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60" y="2029968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FR 3.0：EP / BVA / 决策表生成器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" y="2414016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simulator_client.py（调用仿真器的HTTP客户端）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760" y="2798064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FR 6.0：JSON / CSV / Excel 导出服务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5760" y="3182112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pytest 测试脚本（37条参数化用例）+ 实际执行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26480" y="1188720"/>
            <a:ext cx="5394960" cy="365760"/>
          </a:xfrm>
          <a:prstGeom prst="rect">
            <a:avLst/>
          </a:prstGeom>
          <a:solidFill>
            <a:srgbClr val="33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243584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文档 / 答辩任务</a:t>
            </a:r>
            <a:endParaRPr sz="14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26480" y="1645920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detailed_test_case_design.md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26480" y="2029968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  → EP/BVA/决策表完整用例表格 + 选型理由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26480" y="2414016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test_result_analysis.md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26480" y="2798064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  → pytest结果统计 + 追踪矩阵 + 改进说明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65760" y="5212080"/>
            <a:ext cx="1115568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239512"/>
            <a:ext cx="2743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334D6B"/>
                </a:solidFill>
                <a:latin typeface="微软雅黑"/>
              </a:rPr>
              <a:t>📦  关键交付物</a:t>
            </a:r>
            <a:endParaRPr sz="1200" b="1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08960" y="5239512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D6B"/>
                </a:solidFill>
                <a:latin typeface="微软雅黑"/>
              </a:rPr>
              <a:t>第2周末：FR2/3/6后端完成  |  第3周：pytest_results.txt  |  两份文档</a:t>
            </a:r>
            <a:endParaRPr sz="11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65760" y="5623560"/>
            <a:ext cx="11155680" cy="50292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687568"/>
            <a:ext cx="10972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A580C"/>
                </a:solidFill>
                <a:latin typeface="微软雅黑"/>
              </a:rPr>
              <a:t>💡  你写代码的同时同步写文档——这两份文档直接变成 Detailed Test Design（30分）</a:t>
            </a:r>
            <a:endParaRPr sz="1200" b="1" i="0">
              <a:solidFill>
                <a:srgbClr val="EA580C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0" cy="1051560"/>
          </a:xfrm>
          <a:prstGeom prst="rect">
            <a:avLst/>
          </a:prstGeom>
          <a:solidFill>
            <a:srgbClr val="296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"/>
            <a:ext cx="12801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200" b="1" i="0">
                <a:solidFill>
                  <a:srgbClr val="FFFFFF"/>
                </a:solidFill>
                <a:latin typeface="微软雅黑"/>
              </a:rPr>
              <a:t>C</a:t>
            </a:r>
            <a:endParaRPr sz="4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</a:rPr>
              <a:t>成员 C — 前端工程师</a:t>
            </a:r>
            <a:endParaRPr sz="26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64748B"/>
                </a:solidFill>
                <a:latin typeface="微软雅黑"/>
              </a:rPr>
              <a:t>AutoTestDesign 启动会 · 2026</a:t>
            </a:r>
            <a:endParaRPr sz="10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5394960" cy="365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43584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代码任务</a:t>
            </a:r>
            <a:endParaRPr sz="14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1645920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修改 Sidebar.tsx / App.tsx / api.ts（第1周先做）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60" y="2029968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RequirementInput.tsx（需求导入+解析展示）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" y="2414016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RiskAnalysis.tsx（风险矩阵+分值调整）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760" y="2798064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TestCaseDesign.tsx（用例表格+执行进度）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5760" y="3182112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ExportCenter.tsx（格式选择+下载）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26480" y="1188720"/>
            <a:ext cx="5394960" cy="365760"/>
          </a:xfrm>
          <a:prstGeom prst="rect">
            <a:avLst/>
          </a:prstGeom>
          <a:solidFill>
            <a:srgbClr val="33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243584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文档 / 答辩任务</a:t>
            </a:r>
            <a:endParaRPr sz="14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26480" y="1645920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每个页面实现 Interactive Review（内联编辑）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26480" y="2029968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录制视频 Demo（6分钟，按脚本）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26480" y="2414016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更新 README.md（新页面说明）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26480" y="2798064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整理各页面截图（约8~10张，给E做PPT）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65760" y="5212080"/>
            <a:ext cx="1115568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239512"/>
            <a:ext cx="2743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334D6B"/>
                </a:solidFill>
                <a:latin typeface="微软雅黑"/>
              </a:rPr>
              <a:t>📦  关键交付物</a:t>
            </a:r>
            <a:endParaRPr sz="1200" b="1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08960" y="5239512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D6B"/>
                </a:solidFill>
                <a:latin typeface="微软雅黑"/>
              </a:rPr>
              <a:t>第2周初：Sidebar/App修改完  |  第3周末：4页面联调完+截图  |  第4周：视频Demo</a:t>
            </a:r>
            <a:endParaRPr sz="11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65760" y="5623560"/>
            <a:ext cx="11155680" cy="50292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687568"/>
            <a:ext cx="10972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A580C"/>
                </a:solidFill>
                <a:latin typeface="微软雅黑"/>
              </a:rPr>
              <a:t>💡  等不到接口时用 Mock 数据先开发 UI，联调时再换真实接口</a:t>
            </a:r>
            <a:endParaRPr sz="1200" b="1" i="0">
              <a:solidFill>
                <a:srgbClr val="EA580C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0" cy="1051560"/>
          </a:xfrm>
          <a:prstGeom prst="rect">
            <a:avLst/>
          </a:prstGeom>
          <a:solidFill>
            <a:srgbClr val="296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"/>
            <a:ext cx="12801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200" b="1" i="0">
                <a:solidFill>
                  <a:srgbClr val="FFFFFF"/>
                </a:solidFill>
                <a:latin typeface="微软雅黑"/>
              </a:rPr>
              <a:t>D</a:t>
            </a:r>
            <a:endParaRPr sz="4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</a:rPr>
              <a:t>成员 D — 测试分析师</a:t>
            </a:r>
            <a:r>
              <a:rPr lang="en-US" sz="2600" b="1" i="0">
                <a:solidFill>
                  <a:srgbClr val="FFFFFF"/>
                </a:solidFill>
                <a:latin typeface="微软雅黑"/>
              </a:rPr>
              <a:t>（</a:t>
            </a:r>
            <a:r>
              <a:rPr lang="zh-CN" altLang="en-US" sz="2600" b="1" i="0">
                <a:solidFill>
                  <a:srgbClr val="FFFFFF"/>
                </a:solidFill>
                <a:latin typeface="微软雅黑"/>
              </a:rPr>
              <a:t>文档</a:t>
            </a:r>
            <a:r>
              <a:rPr lang="en-US" sz="2600" b="1" i="0">
                <a:solidFill>
                  <a:srgbClr val="FFFFFF"/>
                </a:solidFill>
                <a:latin typeface="微软雅黑"/>
              </a:rPr>
              <a:t>）</a:t>
            </a:r>
            <a:endParaRPr lang="en-US" sz="26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64748B"/>
                </a:solidFill>
                <a:latin typeface="微软雅黑"/>
              </a:rPr>
              <a:t>AutoTestDesign 启动会 · 2026</a:t>
            </a:r>
            <a:endParaRPr sz="10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5394960" cy="3657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43584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代码任务</a:t>
            </a:r>
            <a:endParaRPr sz="14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1645920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（不是主力写代码）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60" y="2029968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协助：运行 pytest 脚本获取测试截图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" y="2414016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整理风险矩阵图（工具截图 or Excel制作）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5394960" cy="365760"/>
          </a:xfrm>
          <a:prstGeom prst="rect">
            <a:avLst/>
          </a:prstGeom>
          <a:solidFill>
            <a:srgbClr val="33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243584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文档 / 答辩任务</a:t>
            </a:r>
            <a:endParaRPr sz="14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26480" y="1645920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Artifact 2（完整）：Risk Analysis Report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80" y="2029968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  → 10条需求 × 5维度评分表 + 风险矩阵图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26480" y="2414016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Test Plan: Project Scope章节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26480" y="2798064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Test Plan: Test Items章节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26480" y="3182112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Test Plan: High-level Suite Design（7套件）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65760" y="5212080"/>
            <a:ext cx="1115568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239512"/>
            <a:ext cx="2743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334D6B"/>
                </a:solidFill>
                <a:latin typeface="微软雅黑"/>
              </a:rPr>
              <a:t>📦  关键交付物</a:t>
            </a:r>
            <a:endParaRPr sz="1200" b="1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108960" y="5239512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D6B"/>
                </a:solidFill>
                <a:latin typeface="微软雅黑"/>
              </a:rPr>
              <a:t>第2周末：Risk Report草稿  |  第3周初：Test Plan主体三章节  |  风险矩阵图</a:t>
            </a:r>
            <a:endParaRPr sz="11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65760" y="5623560"/>
            <a:ext cx="11155680" cy="50292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687568"/>
            <a:ext cx="10972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A580C"/>
                </a:solidFill>
                <a:latin typeface="微软雅黑"/>
              </a:rPr>
              <a:t>💡  你写的 Risk Analysis Report(10%) + Test Plan主体(40%) 合计决定50%的分值</a:t>
            </a:r>
            <a:endParaRPr sz="1200" b="1" i="0">
              <a:solidFill>
                <a:srgbClr val="EA580C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3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0" cy="1051560"/>
          </a:xfrm>
          <a:prstGeom prst="rect">
            <a:avLst/>
          </a:prstGeom>
          <a:solidFill>
            <a:srgbClr val="296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"/>
            <a:ext cx="12801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200" b="1" i="0">
                <a:solidFill>
                  <a:srgbClr val="FFFFFF"/>
                </a:solidFill>
                <a:latin typeface="微软雅黑"/>
              </a:rPr>
              <a:t>E</a:t>
            </a:r>
            <a:endParaRPr sz="42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</a:rPr>
              <a:t>成员 E — 统筹负责人</a:t>
            </a:r>
            <a:endParaRPr sz="26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64748B"/>
                </a:solidFill>
                <a:latin typeface="微软雅黑"/>
              </a:rPr>
              <a:t>AutoTestDesign 启动会 · 2026</a:t>
            </a:r>
            <a:endParaRPr sz="10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5394960" cy="365760"/>
          </a:xfrm>
          <a:prstGeom prst="rect">
            <a:avLst/>
          </a:prstGeom>
          <a:solidFill>
            <a:srgbClr val="33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43584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代码任务</a:t>
            </a:r>
            <a:endParaRPr sz="14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1645920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（不负责独立代码模块）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60" y="2029968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负责整体联调协调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" y="2414016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检查各服务能否互相正确调用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5394960" cy="365760"/>
          </a:xfrm>
          <a:prstGeom prst="rect">
            <a:avLst/>
          </a:prstGeom>
          <a:solidFill>
            <a:srgbClr val="33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243584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文档 / 答辩任务</a:t>
            </a:r>
            <a:endParaRPr sz="14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26480" y="1645920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Test Plan: Organization Chart章节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80" y="2029968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汇总 Test Plan（校对一致性）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26480" y="2414016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汇总 Detailed Test Design（补写Tool Implementation节）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26480" y="2798064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制作 PPT（18~22页）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26480" y="3182112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Q&amp;A问题库 + 答辩脚本（15分钟分配）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26480" y="3566160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▸  组织全员答辩排练（至少1次）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65760" y="5212080"/>
            <a:ext cx="1115568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239512"/>
            <a:ext cx="2743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334D6B"/>
                </a:solidFill>
                <a:latin typeface="微软雅黑"/>
              </a:rPr>
              <a:t>📦  关键交付物</a:t>
            </a:r>
            <a:endParaRPr sz="1200" b="1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08960" y="5239512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D6B"/>
                </a:solidFill>
                <a:latin typeface="微软雅黑"/>
              </a:rPr>
              <a:t>第3周末：Q&amp;A问题库  |  第4周初：PPT完成  |  答辩脚本分发</a:t>
            </a:r>
            <a:endParaRPr sz="11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65760" y="5623560"/>
            <a:ext cx="11155680" cy="50292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687568"/>
            <a:ext cx="10972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A580C"/>
                </a:solidFill>
                <a:latin typeface="微软雅黑"/>
              </a:rPr>
              <a:t>💡  你需要理解所有人的工作——建议每周和每个成员同步一次进度</a:t>
            </a:r>
            <a:endParaRPr sz="1200" b="1" i="0">
              <a:solidFill>
                <a:srgbClr val="EA580C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现在来选！</a:t>
            </a:r>
            <a:endParaRPr sz="2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FDBFF"/>
                </a:solidFill>
                <a:latin typeface="微软雅黑"/>
              </a:rPr>
              <a:t>每人选一个角色，现场确认</a:t>
            </a:r>
            <a:endParaRPr sz="1400" b="0" i="0">
              <a:solidFill>
                <a:srgbClr val="BFDBFF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96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64748B"/>
                </a:solidFill>
                <a:latin typeface="微软雅黑"/>
              </a:rPr>
              <a:t>AutoTestDesign 启动会 · 2026</a:t>
            </a:r>
            <a:endParaRPr sz="10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274320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71016"/>
            <a:ext cx="2651760" cy="5212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角色</a:t>
            </a:r>
            <a:endParaRPr sz="13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08960" y="1234440"/>
            <a:ext cx="256032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79" y="1271016"/>
            <a:ext cx="2468879" cy="5212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主要技能需求</a:t>
            </a:r>
            <a:endParaRPr sz="13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669279" y="1234440"/>
            <a:ext cx="320040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4999" y="1271016"/>
            <a:ext cx="3108960" cy="5212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工作重心</a:t>
            </a:r>
            <a:endParaRPr sz="13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869680" y="1234440"/>
            <a:ext cx="256032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1271016"/>
            <a:ext cx="2468879" cy="5212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意向人选</a:t>
            </a:r>
            <a:endParaRPr sz="13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5760" y="1828800"/>
            <a:ext cx="2743200" cy="59436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" y="1865376"/>
            <a:ext cx="2633472" cy="5212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F172A"/>
                </a:solidFill>
                <a:latin typeface="微软雅黑"/>
              </a:rPr>
              <a:t>A — 后端架构师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108960" y="1828800"/>
            <a:ext cx="2560320" cy="59436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63824" y="1865376"/>
            <a:ext cx="2450591" cy="5212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F172A"/>
                </a:solidFill>
                <a:latin typeface="微软雅黑"/>
              </a:rPr>
              <a:t>Python / FastAPI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669279" y="1828800"/>
            <a:ext cx="3200400" cy="59436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24143" y="1865376"/>
            <a:ext cx="3090672" cy="5212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F172A"/>
                </a:solidFill>
                <a:latin typeface="微软雅黑"/>
              </a:rPr>
              <a:t>代码（仿真器+FR1）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869680" y="1828800"/>
            <a:ext cx="2560320" cy="59436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24544" y="1865376"/>
            <a:ext cx="2450591" cy="5212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65760" y="2423160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2459736"/>
            <a:ext cx="2633472" cy="5212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F172A"/>
                </a:solidFill>
                <a:latin typeface="微软雅黑"/>
              </a:rPr>
              <a:t>B — 测试算法工程师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108960" y="2423160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63824" y="2459736"/>
            <a:ext cx="2450591" cy="5212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F172A"/>
                </a:solidFill>
                <a:latin typeface="微软雅黑"/>
              </a:rPr>
              <a:t>Python / 逻辑思维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669279" y="2423160"/>
            <a:ext cx="3200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24143" y="2459736"/>
            <a:ext cx="3090672" cy="5212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F172A"/>
                </a:solidFill>
                <a:latin typeface="微软雅黑"/>
              </a:rPr>
              <a:t>代码（FR2/3/6）+ 文档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869680" y="2423160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24544" y="2459736"/>
            <a:ext cx="2450591" cy="5212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65760" y="3017520"/>
            <a:ext cx="2743200" cy="59436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" y="3054096"/>
            <a:ext cx="2633472" cy="5212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F172A"/>
                </a:solidFill>
                <a:latin typeface="微软雅黑"/>
              </a:rPr>
              <a:t>C — 前端工程师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108960" y="3017520"/>
            <a:ext cx="2560320" cy="59436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63824" y="3054096"/>
            <a:ext cx="2450591" cy="5212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F172A"/>
                </a:solidFill>
                <a:latin typeface="微软雅黑"/>
              </a:rPr>
              <a:t>React / TypeScript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669279" y="3017520"/>
            <a:ext cx="3200400" cy="59436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24143" y="3054096"/>
            <a:ext cx="3090672" cy="5212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F172A"/>
                </a:solidFill>
                <a:latin typeface="微软雅黑"/>
              </a:rPr>
              <a:t>代码（前端页面）+ 视频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869680" y="3017520"/>
            <a:ext cx="2560320" cy="59436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24544" y="3054096"/>
            <a:ext cx="2450591" cy="5212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65760" y="3611880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3648456"/>
            <a:ext cx="2633472" cy="5212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F172A"/>
                </a:solidFill>
                <a:latin typeface="微软雅黑"/>
              </a:rPr>
              <a:t>D — 测试分析师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108960" y="3611880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63824" y="3648456"/>
            <a:ext cx="2450591" cy="5212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F172A"/>
                </a:solidFill>
                <a:latin typeface="微软雅黑"/>
              </a:rPr>
              <a:t>文档写作能力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669279" y="3611880"/>
            <a:ext cx="3200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24143" y="3648456"/>
            <a:ext cx="3090672" cy="5212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F172A"/>
                </a:solidFill>
                <a:latin typeface="微软雅黑"/>
              </a:rPr>
              <a:t>文档（Risk Report + Test Plan）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869680" y="3611880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24544" y="3648456"/>
            <a:ext cx="2450591" cy="5212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65760" y="4206240"/>
            <a:ext cx="2743200" cy="59436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0624" y="4242816"/>
            <a:ext cx="2633472" cy="5212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F172A"/>
                </a:solidFill>
                <a:latin typeface="微软雅黑"/>
              </a:rPr>
              <a:t>E — 统筹负责人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3108960" y="4206240"/>
            <a:ext cx="2560320" cy="59436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63824" y="4242816"/>
            <a:ext cx="2450591" cy="5212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F172A"/>
                </a:solidFill>
                <a:latin typeface="微软雅黑"/>
              </a:rPr>
              <a:t>统筹能力 / PPT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5669279" y="4206240"/>
            <a:ext cx="3200400" cy="59436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24143" y="4242816"/>
            <a:ext cx="3090672" cy="5212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F172A"/>
                </a:solidFill>
                <a:latin typeface="微软雅黑"/>
              </a:rPr>
              <a:t>汇总整合 + 答辩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8869680" y="4206240"/>
            <a:ext cx="2560320" cy="59436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24544" y="4242816"/>
            <a:ext cx="2450591" cy="5212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65760" y="4983480"/>
            <a:ext cx="3657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40AF"/>
                </a:solidFill>
                <a:latin typeface="微软雅黑"/>
              </a:rPr>
              <a:t>选择参考：</a:t>
            </a:r>
            <a:endParaRPr sz="14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65760" y="53949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34D6B"/>
                </a:solidFill>
                <a:latin typeface="微软雅黑"/>
              </a:rPr>
              <a:t>  •  Python / 后端经验</a:t>
            </a:r>
            <a:endParaRPr sz="13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943600" y="53949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E40AF"/>
                </a:solidFill>
                <a:latin typeface="微软雅黑"/>
              </a:rPr>
              <a:t>→ 优先选 A 或 B</a:t>
            </a:r>
            <a:endParaRPr sz="13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65760" y="5779008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34D6B"/>
                </a:solidFill>
                <a:latin typeface="微软雅黑"/>
              </a:rPr>
              <a:t>  •  React / 前端经验</a:t>
            </a:r>
            <a:endParaRPr sz="13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943600" y="577900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E40AF"/>
                </a:solidFill>
                <a:latin typeface="微软雅黑"/>
              </a:rPr>
              <a:t>→ 选 C</a:t>
            </a:r>
            <a:endParaRPr sz="13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65760" y="6163056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34D6B"/>
                </a:solidFill>
                <a:latin typeface="微软雅黑"/>
              </a:rPr>
              <a:t>  •  文档能力强，不一定会写代码</a:t>
            </a:r>
            <a:endParaRPr sz="13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943600" y="6163056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E40AF"/>
                </a:solidFill>
                <a:latin typeface="微软雅黑"/>
              </a:rPr>
              <a:t>→ 选 D</a:t>
            </a:r>
            <a:endParaRPr sz="13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65760" y="6547104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34D6B"/>
                </a:solidFill>
                <a:latin typeface="微软雅黑"/>
              </a:rPr>
              <a:t>  •  愿意统筹协调，喜欢答辩</a:t>
            </a:r>
            <a:endParaRPr sz="1300" b="0" i="0">
              <a:solidFill>
                <a:srgbClr val="334D6B"/>
              </a:solidFill>
              <a:latin typeface="微软雅黑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943600" y="6547104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E40AF"/>
                </a:solidFill>
                <a:latin typeface="微软雅黑"/>
              </a:rPr>
              <a:t>→ 选 E</a:t>
            </a:r>
            <a:endParaRPr sz="1300" b="1" i="0">
              <a:solidFill>
                <a:srgbClr val="1E40A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会后行动清单</a:t>
            </a:r>
            <a:endParaRPr sz="28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FDBFF"/>
                </a:solidFill>
                <a:latin typeface="微软雅黑"/>
              </a:rPr>
              <a:t>今晚确定，明天开始</a:t>
            </a:r>
            <a:endParaRPr sz="1400" b="0" i="0">
              <a:solidFill>
                <a:srgbClr val="BFDBFF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96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64748B"/>
                </a:solidFill>
                <a:latin typeface="微软雅黑"/>
              </a:rPr>
              <a:t>AutoTestDesign 启动会 · 2026</a:t>
            </a:r>
            <a:endParaRPr sz="10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486400" cy="5029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5120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E40AF"/>
                </a:solidFill>
                <a:latin typeface="微软雅黑"/>
              </a:rPr>
              <a:t>📋  今晚确认</a:t>
            </a:r>
            <a:endParaRPr sz="16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120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F172A"/>
                </a:solidFill>
                <a:latin typeface="微软雅黑"/>
              </a:rPr>
              <a:t>□  5人分工表填写完毕</a:t>
            </a:r>
            <a:endParaRPr sz="1300" b="1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2075688"/>
            <a:ext cx="5120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F172A"/>
                </a:solidFill>
                <a:latin typeface="微软雅黑"/>
              </a:rPr>
              <a:t>□  每人阅读自己的任务书</a:t>
            </a:r>
            <a:endParaRPr sz="1300" b="1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2459736"/>
            <a:ext cx="5120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 docs/tasks/member_X_xxx.md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2843784"/>
            <a:ext cx="5120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F172A"/>
                </a:solidFill>
                <a:latin typeface="微软雅黑"/>
              </a:rPr>
              <a:t>□  A + B 约 schemas 对齐会（30分钟）</a:t>
            </a:r>
            <a:endParaRPr sz="1300" b="1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3227832"/>
            <a:ext cx="5120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F172A"/>
                </a:solidFill>
                <a:latin typeface="微软雅黑"/>
              </a:rPr>
              <a:t>□  E 建立共享文档空间</a:t>
            </a:r>
            <a:endParaRPr sz="1300" b="1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3611879"/>
            <a:ext cx="5120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   （飞书 / Notion / Google Docs）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5577840" cy="5029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261872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E40AF"/>
                </a:solidFill>
                <a:latin typeface="微软雅黑"/>
              </a:rPr>
              <a:t>🚀  本周重点（第1周）</a:t>
            </a:r>
            <a:endParaRPr sz="1600" b="1" i="0">
              <a:solidFill>
                <a:srgbClr val="1E40AF"/>
              </a:solidFill>
              <a:latin typeface="微软雅黑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00800" y="1691640"/>
            <a:ext cx="548640" cy="34747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728216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A</a:t>
            </a:r>
            <a:endParaRPr sz="13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40880" y="1691640"/>
            <a:ext cx="4572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开始写 VCU 仿真器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400800" y="2148840"/>
            <a:ext cx="54864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185416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B</a:t>
            </a:r>
            <a:endParaRPr sz="13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40880" y="2148840"/>
            <a:ext cx="4572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阅读 DESIGN_PLAN.md，与A对齐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400800" y="2606040"/>
            <a:ext cx="54864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642616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C</a:t>
            </a:r>
            <a:endParaRPr sz="13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040880" y="2606040"/>
            <a:ext cx="4572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搭前端框架，用Mock数据先开发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400800" y="3063240"/>
            <a:ext cx="548640" cy="34747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099816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D</a:t>
            </a:r>
            <a:endParaRPr sz="13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040880" y="3063240"/>
            <a:ext cx="4572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阅读 DESIGN_PLAN.md 第二节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400800" y="3520440"/>
            <a:ext cx="548640" cy="347472"/>
          </a:xfrm>
          <a:prstGeom prst="rect">
            <a:avLst/>
          </a:prstGeom>
          <a:solidFill>
            <a:srgbClr val="33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557016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E</a:t>
            </a:r>
            <a:endParaRPr sz="13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040880" y="3520440"/>
            <a:ext cx="4572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F172A"/>
                </a:solidFill>
                <a:latin typeface="微软雅黑"/>
              </a:rPr>
              <a:t>准备PPT模板，整理Q&amp;A框架</a:t>
            </a:r>
            <a:endParaRPr sz="1300" b="0" i="0">
              <a:solidFill>
                <a:srgbClr val="0F172A"/>
              </a:solidFill>
              <a:latin typeface="微软雅黑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65760" y="5989320"/>
            <a:ext cx="1143000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053328"/>
            <a:ext cx="11155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📁  docs/DESIGN_PLAN.md（必读）  |  docs/tasks/member_X.md（各自任务书）</a:t>
            </a:r>
            <a:endParaRPr sz="1300" b="1" i="0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30.39049722086503,&quot;left&quot;:738.0189763779528,&quot;top&quot;:306.8075590551181,&quot;width&quot;:586.4310236220473}"/>
</p:tagLst>
</file>

<file path=ppt/tags/tag2.xml><?xml version="1.0" encoding="utf-8"?>
<p:tagLst xmlns:p="http://schemas.openxmlformats.org/presentationml/2006/main">
  <p:tag name="KSO_WM_DIAGRAM_VIRTUALLY_FRAME" val="{&quot;height&quot;:430.39049722086503,&quot;left&quot;:738.0189763779528,&quot;top&quot;:306.8075590551181,&quot;width&quot;:586.4310236220473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7138</Words>
  <Application>WPS 文字</Application>
  <PresentationFormat>On-screen Show (4:3)</PresentationFormat>
  <Paragraphs>929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46" baseType="lpstr">
      <vt:lpstr>Arial</vt:lpstr>
      <vt:lpstr>宋体</vt:lpstr>
      <vt:lpstr>Wingdings</vt:lpstr>
      <vt:lpstr>Arial</vt:lpstr>
      <vt:lpstr>微软雅黑</vt:lpstr>
      <vt:lpstr>汉仪旗黑</vt:lpstr>
      <vt:lpstr>Calibri</vt:lpstr>
      <vt:lpstr>Helvetica Neue</vt:lpstr>
      <vt:lpstr>宋体</vt:lpstr>
      <vt:lpstr>汉仪书宋二KW</vt:lpstr>
      <vt:lpstr>微软雅黑</vt:lpstr>
      <vt:lpstr>Arial Unicode MS</vt:lpstr>
      <vt:lpstr>微软雅黑</vt:lpstr>
      <vt:lpstr>Apple Color Emoji</vt:lpstr>
      <vt:lpstr>儷宋 Pro</vt:lpstr>
      <vt:lpstr>OPPOSans B</vt:lpstr>
      <vt:lpstr>阿里巴巴普惠体 Medium</vt:lpstr>
      <vt:lpstr>OPPOSans L</vt:lpstr>
      <vt:lpstr>STHeiti</vt:lpstr>
      <vt:lpstr>苹方-简</vt:lpstr>
      <vt:lpstr>宋体-简</vt:lpstr>
      <vt:lpstr>OPPOSans M</vt:lpstr>
      <vt:lpstr>OPPOSans B</vt:lpstr>
      <vt:lpstr>STHeiti Light</vt:lpstr>
      <vt:lpstr>Microsoft JhengHei UI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蝶雨轩</cp:lastModifiedBy>
  <cp:revision>2</cp:revision>
  <dcterms:created xsi:type="dcterms:W3CDTF">2026-05-14T03:17:38Z</dcterms:created>
  <dcterms:modified xsi:type="dcterms:W3CDTF">2026-05-14T03:17:38Z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DC4370FBAD18C4A0D23E056A13F27C2D_42</vt:lpwstr>
  </property>
</Properties>
</file>