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>
                <a:solidFill>
                  <a:srgbClr val="FFFFFF"/>
                </a:solidFill>
                <a:latin typeface="Microsoft YaHei"/>
              </a:rPr>
              <a:t>AutoTestDesign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0" i="0">
                <a:solidFill>
                  <a:srgbClr val="BFDBFF"/>
                </a:solidFill>
                <a:latin typeface="Microsoft YaHei"/>
              </a:rPr>
              <a:t>期末项目启动会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54864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 i="0">
                <a:solidFill>
                  <a:srgbClr val="93C5FD"/>
                </a:solidFill>
                <a:latin typeface="Microsoft YaHei"/>
              </a:rPr>
              <a:t>软件测试课 · Assignment 2 Final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7DD3FC"/>
                </a:solidFill>
                <a:latin typeface="Microsoft YaHei"/>
              </a:rPr>
              <a:t>AI-Driven Test Design Tool for VCU Wake-Sleep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先说结论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我们的底牌是什么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74552" cy="11887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1E40AF"/>
                </a:solidFill>
                <a:latin typeface="Microsoft YaHei"/>
              </a:rPr>
              <a:t>💡  我们手里有一个已经跑通的完整系统：前端界面 + 后端 API + AI 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34D6B"/>
                </a:solidFill>
                <a:latin typeface="Microsoft YaHei"/>
              </a:rPr>
              <a:t>作业要我们做一个「AI驱动的自动测试工具」——我们要做的是改造和扩展，不是从零开始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60604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现有代码量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301752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34D6B"/>
                </a:solidFill>
                <a:latin typeface="Microsoft YaHei"/>
              </a:rPr>
              <a:t>前端 ~40 个组件，后端 ~10 个 API 模块，全部可运行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2900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342900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真实数据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384048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34D6B"/>
                </a:solidFill>
                <a:latin typeface="Microsoft YaHei"/>
              </a:rPr>
              <a:t>5 个真实 BAIC VCU 测试数据库，共 9615 条测试记录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5196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425196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工作量评估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320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663440"/>
            <a:ext cx="6995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34D6B"/>
                </a:solidFill>
                <a:latin typeface="Microsoft YaHei"/>
              </a:rPr>
              <a:t>5 人分工，约 4 周完成，每人约 30 小时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2560320"/>
            <a:ext cx="310896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2651760"/>
            <a:ext cx="31089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FFFFFF"/>
                </a:solidFill>
                <a:latin typeface="Microsoft YaHei"/>
              </a:rPr>
              <a:t>40+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108960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BFDBFF"/>
                </a:solidFill>
                <a:latin typeface="Microsoft YaHei"/>
              </a:rPr>
              <a:t>现有前端组件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364991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93C5FD"/>
                </a:solidFill>
                <a:latin typeface="Microsoft YaHei"/>
              </a:rPr>
              <a:t>全部保留复用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3840479"/>
            <a:ext cx="310896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3931919"/>
            <a:ext cx="31089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FFFFFF"/>
                </a:solidFill>
                <a:latin typeface="Microsoft YaHei"/>
              </a:rPr>
              <a:t>10+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389119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BFDBFF"/>
                </a:solidFill>
                <a:latin typeface="Microsoft YaHei"/>
              </a:rPr>
              <a:t>现有后端接口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645151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93C5FD"/>
                </a:solidFill>
                <a:latin typeface="Microsoft YaHei"/>
              </a:rPr>
              <a:t>扩展新增模块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5120640"/>
            <a:ext cx="310896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5212079"/>
            <a:ext cx="31089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FFFFFF"/>
                </a:solidFill>
                <a:latin typeface="Microsoft YaHei"/>
              </a:rPr>
              <a:t>9615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669279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BFDBFF"/>
                </a:solidFill>
                <a:latin typeface="Microsoft YaHei"/>
              </a:rPr>
              <a:t>真实测试记录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925312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93C5FD"/>
                </a:solidFill>
                <a:latin typeface="Microsoft YaHei"/>
              </a:rPr>
              <a:t>5个数据库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现有项目是干什么的？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用一句话和一个类比理解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577840" cy="51206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1E40AF"/>
                </a:solidFill>
                <a:latin typeface="Microsoft YaHei"/>
              </a:rPr>
              <a:t>🔌  生活类比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电动汽车插上充电枪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027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0603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汽车从睡眠状态被唤醒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7179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3755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这个过程由 VCU（整车控制器）控制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70332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我们的系统：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自动发送各种充电信号给 VCU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0060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34D6B"/>
                </a:solidFill>
                <a:latin typeface="Microsoft YaHei"/>
              </a:rPr>
              <a:t>观察 VCU 能不能正确响应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188720"/>
            <a:ext cx="5486400" cy="5120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1E40AF"/>
                </a:solidFill>
                <a:latin typeface="Microsoft YaHei"/>
              </a:rPr>
              <a:t>🛠  技术说明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874519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输入：向 VCU 发送测试信号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21991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CC2 电压值（如 6.3V / 4.7V）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69463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CC 电压值、CP 幅值、供电电压…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16935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64407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输出：VCU 返回状态向量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11879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整车State状态：170（唤醒）/ 30（休眠）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959351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整车模式：5（唤醒）/ 2（休眠）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06823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READY 标志位：1 /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54295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001767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6A34A"/>
                </a:solidFill>
                <a:latin typeface="Microsoft YaHei"/>
              </a:rPr>
              <a:t>结论：这就是软件黑盒测试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49239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给不同输入 → 检查输出是否符合预期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VCU 是什么？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3 分钟科普——不用记，看懂即可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61872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VCU 状态流程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47548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3200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充电桩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29967"/>
            <a:ext cx="4389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DBEAFE"/>
                </a:solidFill>
                <a:latin typeface="Microsoft YaHei"/>
              </a:rPr>
              <a:t>输出 CC2 电压信号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240279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04872"/>
            <a:ext cx="4754880" cy="50292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32303"/>
            <a:ext cx="3200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VCU 整车控制器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51760"/>
            <a:ext cx="4389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DBEAFE"/>
                </a:solidFill>
                <a:latin typeface="Microsoft YaHei"/>
              </a:rPr>
              <a:t>判断电压是否在有效范围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86207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26664"/>
            <a:ext cx="475488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54096"/>
            <a:ext cx="3200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唤醒 ✅  state=170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73552"/>
            <a:ext cx="4389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YaHei"/>
              </a:rPr>
              <a:t>CC2 在 [4.8, 7.7]V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483864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48456"/>
            <a:ext cx="4754880" cy="50292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75888"/>
            <a:ext cx="3200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休眠 💤  state=30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95344"/>
            <a:ext cx="4389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DBEAFE"/>
                </a:solidFill>
                <a:latin typeface="Microsoft YaHei"/>
              </a:rPr>
              <a:t>CC2 = 12.0V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105656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70248"/>
            <a:ext cx="47548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97680"/>
            <a:ext cx="3200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故障 ❌  state=30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17136"/>
            <a:ext cx="4389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DBEAFE"/>
                </a:solidFill>
                <a:latin typeface="Microsoft YaHei"/>
              </a:rPr>
              <a:t>CC2 越界（&lt;4.8 或 &gt;7.8）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727448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188720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5 种输入信号（我们要测的）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1645920"/>
            <a:ext cx="2011680" cy="40233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89320" y="1682496"/>
            <a:ext cx="19202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信号名称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1645920"/>
            <a:ext cx="2103120" cy="40233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1682496"/>
            <a:ext cx="2011679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物理含义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1645920"/>
            <a:ext cx="1828800" cy="40233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4120" y="1682496"/>
            <a:ext cx="17373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有效区间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2048256"/>
            <a:ext cx="201168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98464" y="2084832"/>
            <a:ext cx="1901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CC2电压 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2048256"/>
            <a:ext cx="210312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0144" y="2084832"/>
            <a:ext cx="1993391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充电唤醒主信号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2048256"/>
            <a:ext cx="182880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13264" y="2084832"/>
            <a:ext cx="171907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4.8~7.7V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2450592"/>
            <a:ext cx="20116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98464" y="2487168"/>
            <a:ext cx="1901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CC电压值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79" y="2450592"/>
            <a:ext cx="21031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10144" y="2487168"/>
            <a:ext cx="1993391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充电枪接触检测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58400" y="2450592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13264" y="2487168"/>
            <a:ext cx="171907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&gt; 4.0V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2852928"/>
            <a:ext cx="201168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98464" y="2889504"/>
            <a:ext cx="1901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CP幅值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55279" y="2852928"/>
            <a:ext cx="210312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10144" y="2889504"/>
            <a:ext cx="1993391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充电协议握手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0" y="2852928"/>
            <a:ext cx="182880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13264" y="2889504"/>
            <a:ext cx="171907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0V（待机）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0" y="3255264"/>
            <a:ext cx="20116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98464" y="3291840"/>
            <a:ext cx="1901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供电电压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55279" y="3255264"/>
            <a:ext cx="21031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10144" y="3291840"/>
            <a:ext cx="1993391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外部交流供电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58400" y="325526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13264" y="3291840"/>
            <a:ext cx="171907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0V（无外供）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3657600"/>
            <a:ext cx="201168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98464" y="3694176"/>
            <a:ext cx="1901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网络唤醒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55279" y="3657600"/>
            <a:ext cx="210312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10144" y="3694176"/>
            <a:ext cx="1993391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远程唤醒指令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3657600"/>
            <a:ext cx="1828800" cy="402336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3694176"/>
            <a:ext cx="171907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0（关闭）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029200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⭐ CC2电压是最关键的主唤醒信号，其他4个是辅助检测信号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5440680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Microsoft YaHei"/>
              </a:rPr>
              <a:t>所有边界值均来自 5 个真实 BAIC VCU 数据库（9615 条记录）分析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GAN 是什么？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不用深究——知道它能干什么就够了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577840" cy="51206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🎨  通俗类比：临摹大师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GAN = 造假大师 + 鉴别专家 对抗训练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12264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41448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1. 造假大师 生成一张假名画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70632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2. 鉴别专家 说这里不像真的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99815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3. 造假大师 根据反馈改进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28999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4. 反复训练 → 以假乱真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58183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87368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在我们项目里：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16552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• 真实数据 = 真实 CC2 电压序列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45736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• 造假大师 = GAN 生成器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074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• 鉴别专家 = GAN 判别器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404104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• 结果 = 生成逼真的新电压序列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188720"/>
            <a:ext cx="5486400" cy="5120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✅  GAN 在本项目中的角色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7830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0F172A"/>
                </a:solidFill>
                <a:latin typeface="Microsoft YaHei"/>
              </a:rPr>
              <a:t>EP / BVA 覆盖的场景（静态）：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103120"/>
            <a:ext cx="4937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单次注入一个离散电压值
→ 检验该值对应的输出状态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GAN 补充的场景（动态）：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108960"/>
            <a:ext cx="493776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注入连续变化的 8 步电压序列
→ 检验 VCU 在动态过程中
   是否在正确位置发生状态转变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977639"/>
            <a:ext cx="5303520" cy="5029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41648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E40AF"/>
                </a:solidFill>
                <a:latin typeface="Microsoft YaHei"/>
              </a:rPr>
              <a:t>示例序列：[5.2, 6.1, 7.3, 7.6, 7.7, 7.8, 8.1]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663440"/>
            <a:ext cx="5303520" cy="82296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7091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EA580C"/>
                </a:solidFill>
                <a:latin typeface="Microsoft YaHei"/>
              </a:rPr>
              <a:t>⚠  GAN 只用于 CC2 电压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010912"/>
            <a:ext cx="5120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其他4个信号用简单的 EP+BVA 即可
（它们在数据库里就是线性扫描）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现有系统长什么样？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已有功能 vs 需要新增的功能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5120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6A34A"/>
                </a:solidFill>
                <a:latin typeface="Microsoft YaHei"/>
              </a:rPr>
              <a:t>✅  已有功能（不用重写）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前端 React + TypeScript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67128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后端 FastAPI + SQLite 完整框架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51176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GAN 模型推理接口（/api/gan）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35224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测试计划管理（CRUD）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19272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测试任务执行与监控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0332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实时 WebSocket 监控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报告生成（JSON/Markdown）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71416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66F3A"/>
                </a:solidFill>
                <a:latin typeface="Microsoft YaHei"/>
              </a:rPr>
              <a:t>  ✓  完整的 shadcn/ui 组件库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188720"/>
            <a:ext cx="5669280" cy="5120640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28016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DC2626"/>
                </a:solidFill>
                <a:latin typeface="Microsoft YaHei"/>
              </a:rPr>
              <a:t>🔨  需要新增的功能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DC2626"/>
                </a:solidFill>
                <a:latin typeface="Microsoft YaHei"/>
              </a:rPr>
              <a:t>  ✗  VCU 行为仿真器（目标应用）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402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需求导入与解析  FR 1.0/1.1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风险分析打分  FR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EP/BVA/决策表生成  FR 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JSON/CSV/Excel 导出  FR 6.0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690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前端：4 个新功能页面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9B1C1C"/>
                </a:solidFill>
                <a:latin typeface="Microsoft YaHei"/>
              </a:rPr>
              <a:t>  ✗  pytest 测试脚本与执行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64748B"/>
                </a:solidFill>
                <a:latin typeface="Microsoft YaHei"/>
              </a:rPr>
              <a:t>合计新增工作量：约 70h 代码 + 80h 文档 + 25h 答辩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Assignment 2 要求什么？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关键理解：两个系统的关系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47120" cy="1828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AutoTestDesign 工具（我们开发）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058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负责：需求输入 → 解析 → 风险分析 → 用例生成 → 执行 → 导出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031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  调用 API 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1124712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96312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VCU 行为仿真器（目标应用，需要新建）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BFDBFF"/>
                </a:solidFill>
                <a:latin typeface="Microsoft YaHei"/>
              </a:rPr>
              <a:t>接收5种信号 → 返回 vehicle_state / test_status / ready_flag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7 个功能需求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18872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602736"/>
            <a:ext cx="1097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566160"/>
            <a:ext cx="576072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602736"/>
            <a:ext cx="5669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3566160"/>
            <a:ext cx="164592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3602736"/>
            <a:ext cx="1554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是否必须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1188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96849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3931920"/>
            <a:ext cx="5760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00784" y="396849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需求导入（CSV/文本/表单）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931920"/>
            <a:ext cx="16459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61504" y="396849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✅ 必须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97680"/>
            <a:ext cx="1188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33425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1.1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0" y="4297680"/>
            <a:ext cx="5760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0784" y="433425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需求结构化解析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4297680"/>
            <a:ext cx="1645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61504" y="433425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✅ 必须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63440"/>
            <a:ext cx="1188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70001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0" y="4663440"/>
            <a:ext cx="5760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00784" y="470001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风险分析与优先级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4663440"/>
            <a:ext cx="16459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61504" y="470001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✅ 必须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029200"/>
            <a:ext cx="1188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506577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3.0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45920" y="5029200"/>
            <a:ext cx="5760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00784" y="506577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黑盒用例生成（EP/BVA/决策表）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06640" y="5029200"/>
            <a:ext cx="1645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61504" y="506577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✅ 必须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94960"/>
            <a:ext cx="1188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2064" y="543153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4.0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5394960"/>
            <a:ext cx="5760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00784" y="543153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白盒状态机建模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0" y="5394960"/>
            <a:ext cx="16459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61504" y="543153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⭐ 加分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760720"/>
            <a:ext cx="1188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" y="579729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0" y="5760720"/>
            <a:ext cx="57607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00784" y="579729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JSON/CSV/Excel 导出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60720"/>
            <a:ext cx="1645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61504" y="579729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✅ 必须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6126480"/>
            <a:ext cx="1188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6163056"/>
            <a:ext cx="1078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FR 7.0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0" y="6126480"/>
            <a:ext cx="57607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00784" y="6163056"/>
            <a:ext cx="5650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测试套件优化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06640" y="6126480"/>
            <a:ext cx="164592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61504" y="6163056"/>
            <a:ext cx="15361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⭐ 加分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评分权重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交什么、怎么评——这是重中之重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四个交付物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188720" cy="7772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1188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783080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工具本体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10312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代码 + README + 视频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1188720" cy="77724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62072"/>
            <a:ext cx="1188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788920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334D6B"/>
                </a:solidFill>
                <a:latin typeface="Microsoft YaHei"/>
              </a:rPr>
              <a:t>风险分析报告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针对 VCU 仿真器的风险分析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03320"/>
            <a:ext cx="11887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2"/>
            <a:ext cx="1188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794760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DC2626"/>
                </a:solidFill>
                <a:latin typeface="Microsoft YaHei"/>
              </a:rPr>
              <a:t>测试计划 Test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11480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7个章节，最重要！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1188720" cy="7772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73752"/>
            <a:ext cx="1188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800600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EA580C"/>
                </a:solidFill>
                <a:latin typeface="Microsoft YaHei"/>
              </a:rPr>
              <a:t>详细测试设计与执行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1206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用例设计 + 脚本 + 结果分析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2344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五个评分维度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691640"/>
            <a:ext cx="100584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182880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1746504"/>
            <a:ext cx="4206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概念理解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2039112"/>
            <a:ext cx="4206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ISO 29119-4，ISTQB，EP/BVA 是什么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2560320"/>
            <a:ext cx="100584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697479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615184"/>
            <a:ext cx="4206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设计连贯性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2907791"/>
            <a:ext cx="4206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需求→风险→用例→执行，逻辑自洽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429000"/>
            <a:ext cx="100584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56616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40%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3483864"/>
            <a:ext cx="4206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覆盖度与有效性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3776472"/>
            <a:ext cx="4206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FR 全部实现，工具真的能用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297680"/>
            <a:ext cx="100584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443484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20%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4352544"/>
            <a:ext cx="4206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深度分析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4645152"/>
            <a:ext cx="4206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为什么这么设计，能推广吗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5166360"/>
            <a:ext cx="100584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530352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5221224"/>
            <a:ext cx="4206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答辩表现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5513832"/>
            <a:ext cx="4206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15分钟讲清楚，含 Q&amp;A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EA580C"/>
                </a:solidFill>
                <a:latin typeface="Microsoft YaHei"/>
              </a:rPr>
              <a:t>⚠  Test Plan(40%) + Detailed Test Design(30%) = 70%   代码好不如文档好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我们的方案：整体架构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两个服务，一套完整流程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11430000" cy="2926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61872"/>
            <a:ext cx="7315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1E40AF"/>
                </a:solidFill>
                <a:latin typeface="Microsoft YaHei"/>
              </a:rPr>
              <a:t>AutoTestDesign Tool  （端口 8000）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需求导入
FR 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需求解析
FR 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风险分析
FR 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用例生成
FR 3.0+GAN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执行验证
FR 5.0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783080"/>
            <a:ext cx="1417320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874519"/>
            <a:ext cx="13258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导出报告
FR 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76272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176272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2176272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176272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176272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926080"/>
            <a:ext cx="11430000" cy="54864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1752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FFFFFF"/>
                </a:solidFill>
                <a:latin typeface="Microsoft YaHei"/>
              </a:rPr>
              <a:t>前端 React（端口 3000）  ↔  后端 FastAPI（端口 8000）  ↔  GAN 模型（CC2 电压时序）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611880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1E40AF"/>
                </a:solidFill>
                <a:latin typeface="Microsoft YaHei"/>
              </a:rPr>
              <a:t>↓  HTTP POST /simulate  发送单信号测试请求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160520"/>
            <a:ext cx="11430000" cy="1828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51960"/>
            <a:ext cx="7315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Microsoft YaHei"/>
              </a:rPr>
              <a:t>VCU 行为仿真器  （目标应用，端口 8001）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BFDBFF"/>
                </a:solidFill>
                <a:latin typeface="Microsoft YaHei"/>
              </a:rPr>
              <a:t>接收：5种输入信号之一（名称 + 值）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56632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BFDBFF"/>
                </a:solidFill>
                <a:latin typeface="Microsoft YaHei"/>
              </a:rPr>
              <a:t>返回：test_status  /  vehicle_state  /  vehicle_mode  /  ready_flag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70916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7DD3FC"/>
                </a:solidFill>
                <a:latin typeface="Microsoft YaHei"/>
              </a:rPr>
              <a:t>基于 9615 条真实记录建立的仿真逻辑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目标应用：VCU 行为仿真器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基于真实数据库建立——老师了解项目背景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6400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为什么要自建仿真器？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真实 BAIC HIL 台架目前无法连接 → 行业标准本来就是「先SIL仿真，再HIL测试」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7315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仿真器核心响应规则（均来自真实数据库验证）：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286000" cy="3931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发送信号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468880"/>
            <a:ext cx="2560320" cy="3931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2505456"/>
            <a:ext cx="246887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测试值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2468880"/>
            <a:ext cx="2377440" cy="3931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505456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返回 vehicle_state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468880"/>
            <a:ext cx="2194560" cy="3931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2505456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62072"/>
            <a:ext cx="228600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898648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CC2电压 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862072"/>
            <a:ext cx="256032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98064" y="2898648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6.3V（有效范围内）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862072"/>
            <a:ext cx="237744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3" y="2898648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170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2862072"/>
            <a:ext cx="219456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4" y="2898648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唤醒成功 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55264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3291840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CC2电压 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3255264"/>
            <a:ext cx="25603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98064" y="3291840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9.0V（越界）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2552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3" y="3291840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255264"/>
            <a:ext cx="2194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35824" y="3291840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唤醒失败 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648456"/>
            <a:ext cx="228600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3685032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CC2电压 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3648456"/>
            <a:ext cx="256032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98064" y="3685032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12.0V（休眠触发）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3648456"/>
            <a:ext cx="237744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8383" y="3685032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30（status=3）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3648456"/>
            <a:ext cx="219456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35824" y="3685032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正常休眠 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041648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" y="4078224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CC电压值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4041648"/>
            <a:ext cx="25603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98064" y="4078224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2.0V（接触不良区间）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0" y="40416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8383" y="4078224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4041648"/>
            <a:ext cx="2194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35824" y="4078224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检测失败 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434840"/>
            <a:ext cx="228600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2064" y="4471416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CP幅值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4434840"/>
            <a:ext cx="256032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98064" y="4471416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11.0V（协议冲突区间）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03520" y="4434840"/>
            <a:ext cx="237744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58383" y="4471416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434840"/>
            <a:ext cx="219456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35824" y="4471416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检测失败 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828032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2064" y="4864608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供电电压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4828032"/>
            <a:ext cx="25603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98064" y="4864608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12.5V（过压区间）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03520" y="48280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58383" y="4864608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4828032"/>
            <a:ext cx="2194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35824" y="4864608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检测失败 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221224"/>
            <a:ext cx="228600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2064" y="5257800"/>
            <a:ext cx="217627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网络唤醒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5221224"/>
            <a:ext cx="256032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98064" y="5257800"/>
            <a:ext cx="245059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1（冲突使能）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03520" y="5221224"/>
            <a:ext cx="237744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58383" y="5257800"/>
            <a:ext cx="22677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80960" y="5221224"/>
            <a:ext cx="2194560" cy="393192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35824" y="5257800"/>
            <a:ext cx="2084831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0F172A"/>
                </a:solidFill>
                <a:latin typeface="Microsoft YaHei"/>
              </a:rPr>
              <a:t>检测失败 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58064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3 个重要边界发现（来自数据分析，答辩会被问）：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Microsoft YaHei"/>
              </a:rPr>
              <a:t>① CC2=4.8V 能成功唤醒（db_2 6条确认）  ② 休眠测试5个信号全固定  ③ db_15 上界扩展到 8.1V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测试用例怎么生成？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三种黑盒技术 + GAN 补充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74320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743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</a:rPr>
              <a:t>等价划分 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743200" cy="1828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256032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0F172A"/>
                </a:solidFill>
                <a:latin typeface="Microsoft YaHei"/>
              </a:rPr>
              <a:t>把输入范围分「有效类」和「无效类」
每类取一个代表值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2743200" cy="1645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547872"/>
            <a:ext cx="2560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1E40AF"/>
                </a:solidFill>
                <a:latin typeface="Microsoft YaHei"/>
              </a:rPr>
              <a:t>示例：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256032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CC2电压：
  有效类取 6.3V
  无效低取 3.0V
  无效高取 9.0V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188720"/>
            <a:ext cx="27432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1234440"/>
            <a:ext cx="2743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</a:rPr>
              <a:t>边界值分析 BVA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1645920"/>
            <a:ext cx="2743200" cy="1828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568" y="1719072"/>
            <a:ext cx="256032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0F172A"/>
                </a:solidFill>
                <a:latin typeface="Microsoft YaHei"/>
              </a:rPr>
              <a:t>专测边界点
bug 最容易藏在边界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493008"/>
            <a:ext cx="2743200" cy="1645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01568" y="3547872"/>
            <a:ext cx="2560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7C3AED"/>
                </a:solidFill>
                <a:latin typeface="Microsoft YaHei"/>
              </a:rPr>
              <a:t>示例：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3794760"/>
            <a:ext cx="256032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CC2 边界 4.8V：
  4.7V（刚越界）
  4.8V（精确边界）
  4.9V（刚进入）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96" y="1188720"/>
            <a:ext cx="274320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1234440"/>
            <a:ext cx="2743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</a:rPr>
              <a:t>决策表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54496" y="1645920"/>
            <a:ext cx="2743200" cy="1828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1719072"/>
            <a:ext cx="256032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0F172A"/>
                </a:solidFill>
                <a:latin typeface="Microsoft YaHei"/>
              </a:rPr>
              <a:t>测多信号组合条件
一个信号异常→整体FAIL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3493008"/>
            <a:ext cx="2743200" cy="1645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3547872"/>
            <a:ext cx="2560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16A34A"/>
                </a:solidFill>
                <a:latin typeface="Microsoft YaHei"/>
              </a:rPr>
              <a:t>示例：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3794760"/>
            <a:ext cx="256032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CC2有效 + CC电压值无效
→ 整体 FAIL
（来自真实测试策略）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98864" y="1188720"/>
            <a:ext cx="274320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1234440"/>
            <a:ext cx="2743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</a:rPr>
              <a:t>GAN 序列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98864" y="1645920"/>
            <a:ext cx="2743200" cy="1828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256032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0F172A"/>
                </a:solidFill>
                <a:latin typeface="Microsoft YaHei"/>
              </a:rPr>
              <a:t>测电压连续变化过程
静态单点测不到的场景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98864" y="3493008"/>
            <a:ext cx="2743200" cy="1645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0304" y="3547872"/>
            <a:ext cx="2560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EA580C"/>
                </a:solidFill>
                <a:latin typeface="Microsoft YaHei"/>
              </a:rPr>
              <a:t>示例：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3794760"/>
            <a:ext cx="256032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[5.2, 6.1, 7.3, 7.6, 7.7,
 7.8, 8.1, 9.0]
→检测状态转变位置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25780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各信号使用的生成方法：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623560"/>
            <a:ext cx="22860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5660136"/>
            <a:ext cx="2194560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信号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5623560"/>
            <a:ext cx="118872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79" y="5660136"/>
            <a:ext cx="1097280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0" y="5623560"/>
            <a:ext cx="118872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5660136"/>
            <a:ext cx="1097280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BVA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5623560"/>
            <a:ext cx="210312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4920" y="5660136"/>
            <a:ext cx="2011679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GAN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952744"/>
            <a:ext cx="228600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5989320"/>
            <a:ext cx="217627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CC2电压 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51760" y="5952744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6624" y="5989320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0" y="5952744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5344" y="5989320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0" y="5952744"/>
            <a:ext cx="21031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84064" y="5989320"/>
            <a:ext cx="1993391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✅时序序列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6281928"/>
            <a:ext cx="2286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" y="6318504"/>
            <a:ext cx="217627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CC电压值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51760" y="6281928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6624" y="6318504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6281928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95344" y="6318504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0" y="6281928"/>
            <a:ext cx="21031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84064" y="6318504"/>
            <a:ext cx="1993391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6611112"/>
            <a:ext cx="228600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624" y="6647688"/>
            <a:ext cx="217627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CP幅值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51760" y="6611112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6624" y="6647688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0" y="6611112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95344" y="6647688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0" y="6611112"/>
            <a:ext cx="21031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6647688"/>
            <a:ext cx="1993391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940296"/>
            <a:ext cx="2286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6976872"/>
            <a:ext cx="217627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供电电压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51760" y="6940296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06624" y="6976872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40480" y="6940296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95344" y="6976872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0" y="6940296"/>
            <a:ext cx="21031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84064" y="6976872"/>
            <a:ext cx="1993391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7269480"/>
            <a:ext cx="228600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0624" y="7306056"/>
            <a:ext cx="217627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网络唤醒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51760" y="7269480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06624" y="7306056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✅穷举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0" y="7269480"/>
            <a:ext cx="11887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95344" y="7306056"/>
            <a:ext cx="1078992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0" y="7269480"/>
            <a:ext cx="2103120" cy="329184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84064" y="7306056"/>
            <a:ext cx="1993391" cy="256031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0F172A"/>
                </a:solidFill>
                <a:latin typeface="Microsoft YaHei"/>
              </a:rPr>
              <a:t>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工具的完整流程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从需求到结果——满足作业的Mainly 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导入 VCU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CSV / 文本 / 手动表单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9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59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0017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52897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2897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52897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98617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结构化解析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8617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识别信号名/数值范围/条件/动作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98617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98617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2874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85754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5754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5754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1474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风险分析打分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1474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5维度评分 → High/Medium/Low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31474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1474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35731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18611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8611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18611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64331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生成测试用例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64331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EP + BVA + 决策表 + GAN 序列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4331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4331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3.0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8588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1468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1468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1468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97188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调用仿真器执行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97188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发送信号 → 获取 vehicle_state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97188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7188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1445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4325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84325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84325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30045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结果分析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30045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PASS/FAIL 统计，覆盖率报告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30045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30045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分析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34302" y="2057400"/>
            <a:ext cx="274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2963D0"/>
                </a:solidFill>
                <a:latin typeface="Microsoft YaHe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17182" y="1234440"/>
            <a:ext cx="1541417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17182" y="1325880"/>
            <a:ext cx="1541417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17182" y="1783080"/>
            <a:ext cx="1541417" cy="1005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62902" y="1856232"/>
            <a:ext cx="1449977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导出制品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2902" y="2240280"/>
            <a:ext cx="1449977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i="0">
                <a:solidFill>
                  <a:srgbClr val="334D6B"/>
                </a:solidFill>
                <a:latin typeface="Microsoft YaHei"/>
              </a:rPr>
              <a:t>JSON / CSV / Excel 含追踪矩阵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62902" y="2788920"/>
            <a:ext cx="1449977" cy="274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62902" y="2788920"/>
            <a:ext cx="1449977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1E40AF"/>
                </a:solidFill>
                <a:latin typeface="Microsoft YaHei"/>
              </a:rPr>
              <a:t>FR 6.0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2057400"/>
            <a:ext cx="11430000" cy="59436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6A34A"/>
                </a:solidFill>
                <a:latin typeface="Microsoft YaHei"/>
              </a:rPr>
              <a:t>🔄  Interactive Review（强制要求）：每个步骤用户都可以介入修改，不是可选功能！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880360"/>
            <a:ext cx="5486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每个阶段的可交互内容：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918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✦  需求导入 → 内联编辑任何需求字段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3675888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✦  解析结果 → 增删改 Input Fields / Data Ranges / Conditions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059936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✦  风险分析 → 手动覆盖任意维度分值和优先级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4443984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✦  测试用例 → 编辑/删除/手动新增任意用例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828032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✦  导出内容 → 勾选要导出的模块和格式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所有设计都有真实数据支撑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5 个数据库，9615 条记录分析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5486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我们分析的数据：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210312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8249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db_10.db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BFDBFF"/>
                </a:solidFill>
                <a:latin typeface="Microsoft YaHei"/>
              </a:rPr>
              <a:t>1010 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627632"/>
            <a:ext cx="210312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68249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db_11.db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751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BFDBFF"/>
                </a:solidFill>
                <a:latin typeface="Microsoft YaHei"/>
              </a:rPr>
              <a:t>1000 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627632"/>
            <a:ext cx="210312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68249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db_15.db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9751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BFDBFF"/>
                </a:solidFill>
                <a:latin typeface="Microsoft YaHei"/>
              </a:rPr>
              <a:t>1488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1627632"/>
            <a:ext cx="210312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168249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db.db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19751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BFDBFF"/>
                </a:solidFill>
                <a:latin typeface="Microsoft YaHei"/>
              </a:rPr>
              <a:t>3000 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627632"/>
            <a:ext cx="2103120" cy="685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168249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db_2.db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19751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BFDBFF"/>
                </a:solidFill>
                <a:latin typeface="Microsoft YaHei"/>
              </a:rPr>
              <a:t>1617 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514600"/>
            <a:ext cx="9144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E40AF"/>
                </a:solidFill>
                <a:latin typeface="Microsoft YaHei"/>
              </a:rPr>
              <a:t>3 个来自数据的重要发现（答辩必考）：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9232"/>
            <a:ext cx="365760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54096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发现 1：CC2=4.8V 能成功唤醒 VCU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64991"/>
            <a:ext cx="3657600" cy="23774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456432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db_2 中 6 条记录：4.8V → vehicle_state=170（成功唤醒）
但数据库 test_status=4，因为测试框架期望它失败——实际 VCU 成功响应了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999232"/>
            <a:ext cx="3657600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054096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发现 2：休眠测试 5 个信号全部固定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364991"/>
            <a:ext cx="3657600" cy="23774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3456432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1500 条 type=2 记录：5 个信号值完全不变
CC2=12.0V, CC=12.0V, CP=0, 供电=0, 网络唤醒=0
变化来自 VCU 的当前状态，不来自输入信号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2999232"/>
            <a:ext cx="3657600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054096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</a:rPr>
              <a:t>发现 3：db_15 CC2 有效上界扩展到 8.1V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364991"/>
            <a:ext cx="3657600" cy="237744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456432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其余 4 个数据库：CC2 最高 PASS = 7.7V
db_15：CC2 最高 PASS = 8.1V（939 条记录）
代表不同 VCU 固件批次的配置差异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080760"/>
            <a:ext cx="11430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1E40AF"/>
                </a:solidFill>
                <a:latin typeface="Microsoft YaHei"/>
              </a:rPr>
              <a:t>这说明：真实系统行为比规格说明更复杂  ——  AutoTestDesign 工具的价值正在于系统化发现这些差异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4 周工作计划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关键里程碑与每人每周目标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188720"/>
            <a:ext cx="224027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234440"/>
            <a:ext cx="2240279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第 1 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188720"/>
            <a:ext cx="224027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234440"/>
            <a:ext cx="2240279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第 2 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188720"/>
            <a:ext cx="224027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34440"/>
            <a:ext cx="2240279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第 3 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1188720"/>
            <a:ext cx="224027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1234440"/>
            <a:ext cx="2240279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第 4 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554480"/>
            <a:ext cx="1371600" cy="70408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645920"/>
            <a:ext cx="1371600" cy="521207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A 后端架构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155448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56231" y="166420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1E40AF"/>
                </a:solidFill>
                <a:latin typeface="Microsoft YaHei"/>
              </a:rPr>
              <a:t>⭐ VCU 仿真器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55448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166420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FR1.0/1.1 后端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155448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66420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Test Plan技术节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55448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51392" y="166420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修改+支持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31720"/>
            <a:ext cx="1371600" cy="7040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423160"/>
            <a:ext cx="1371600" cy="521207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B 测试算法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233172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6231" y="244144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对齐 schemas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33172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87952" y="244144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FR2.0/3.0 算法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233172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244144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pytest 执行+文档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233172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51392" y="244144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修改+支持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1371600" cy="7040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200400"/>
            <a:ext cx="1371600" cy="521207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C 前端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83080" y="310896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56231" y="321868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Mock 数据开发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310896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87952" y="321868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4页面开发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310896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21868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联调+截图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310896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51392" y="321868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README+视频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886200"/>
            <a:ext cx="1371600" cy="7040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977639"/>
            <a:ext cx="1371600" cy="521207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D 文档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83080" y="388620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56231" y="399592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Risk Report草稿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388620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87952" y="399592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Test Plan 主体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388620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9672" y="399592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文档收尾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78240" y="388620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1392" y="399592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配合修改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663440"/>
            <a:ext cx="1371600" cy="704088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4754879"/>
            <a:ext cx="1371600" cy="521207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E 统筹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783080" y="466344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56231" y="477316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PPT模板+Q&amp;A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0" y="466344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87952" y="477316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0F172A"/>
                </a:solidFill>
                <a:latin typeface="Microsoft YaHei"/>
              </a:rPr>
              <a:t>Test Plan 汇总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0" y="4663440"/>
            <a:ext cx="2240279" cy="704088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19672" y="477316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334D6B"/>
                </a:solidFill>
                <a:latin typeface="Microsoft YaHei"/>
              </a:rPr>
              <a:t>⭐ PPT+校对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78240" y="4663440"/>
            <a:ext cx="2240279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773168"/>
            <a:ext cx="2103120" cy="521207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334D6B"/>
                </a:solidFill>
                <a:latin typeface="Microsoft YaHei"/>
              </a:rPr>
              <a:t>⭐ 答辩排练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943600"/>
            <a:ext cx="82296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6016752"/>
            <a:ext cx="822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第1周末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0160" y="603504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仿真器跑通 → 其他人开始对接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5943600"/>
            <a:ext cx="82296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91840" y="6016752"/>
            <a:ext cx="822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第2周末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06240" y="603504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前端+后端联调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5943600"/>
            <a:ext cx="82296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17920" y="6016752"/>
            <a:ext cx="822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第3周末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32320" y="603504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代码完成 + 文档草稿完成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5943600"/>
            <a:ext cx="82296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0" y="6016752"/>
            <a:ext cx="822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第4周初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58400" y="603504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PPT + 视频 → 提交 + 答辩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五个人，五个角色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根据自己的技能和意愿选择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822960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22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1234440"/>
            <a:ext cx="1051560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307592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后端架构师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325880"/>
            <a:ext cx="2286000" cy="2743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325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Python/FastAPI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69164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搭系统骨架，最早完成，其他人都等你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58568"/>
            <a:ext cx="82296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822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58568"/>
            <a:ext cx="10515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331720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7C3AED"/>
                </a:solidFill>
                <a:latin typeface="Microsoft YaHei"/>
              </a:rPr>
              <a:t>测试算法工程师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50008"/>
            <a:ext cx="228600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35000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Python + 逻辑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715768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写工具最核心的算法，同时产出 Detailed Test 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82696"/>
            <a:ext cx="82296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419856"/>
            <a:ext cx="822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82696"/>
            <a:ext cx="1051560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355848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6A34A"/>
                </a:solidFill>
                <a:latin typeface="Microsoft YaHei"/>
              </a:rPr>
              <a:t>前端工程师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374136"/>
            <a:ext cx="2286000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3374136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React / TypeScript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739896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做用户看得见的界面，录制演示视频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306824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443984"/>
            <a:ext cx="822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4306824"/>
            <a:ext cx="10515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79976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EA580C"/>
                </a:solidFill>
                <a:latin typeface="Microsoft YaHei"/>
              </a:rPr>
              <a:t>测试分析师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4398264"/>
            <a:ext cx="2286000" cy="274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4398264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文档写作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764024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写风险分析报告和 Test Plan 主体，占总分 50%！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330952"/>
            <a:ext cx="822960" cy="8229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468112"/>
            <a:ext cx="822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0160" y="5330952"/>
            <a:ext cx="1051560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5404104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334D6B"/>
                </a:solidFill>
                <a:latin typeface="Microsoft YaHei"/>
              </a:rPr>
              <a:t>统筹负责人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422392"/>
            <a:ext cx="2286000" cy="27432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0" y="5422392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统筹 + PPT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788152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34D6B"/>
                </a:solidFill>
                <a:latin typeface="Microsoft YaHei"/>
              </a:rPr>
              <a:t>汇总所有人工作，制作 PPT，组织答辩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5156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"/>
            <a:ext cx="12801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</a:rPr>
              <a:t>成员 A — 后端架构师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代码任务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VCU 仿真器（vcu_simulator/，端口8001）⭐最高优先级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扩展 schemas.py（与B对齐数据模型）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FR 1.0/1.1：需求导入API + 正则解析服务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main.py 注册所有新路由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文档 / 答辩任务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simulator_spec_for_doc.md → 给D写文档用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API_reference_for_frontend.md → 给C开发用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Testing Framework章节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Cost Estimation章节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82112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Schedule / Checklist章节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1115568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9512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334D6B"/>
                </a:solidFill>
                <a:latin typeface="Microsoft YaHei"/>
              </a:rPr>
              <a:t>📦  关键交付物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239512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第1周末：仿真器跑通  |  两份说明文档  |  第2周末：FR1.0/1.1完成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23560"/>
            <a:ext cx="11155680" cy="5029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875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💡  你是关键路径！仿真器必须第1周末完成，否则B和C都无法开始联调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5156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"/>
            <a:ext cx="12801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</a:rPr>
              <a:t>成员 B — 测试算法工程师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代码任务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FR 2.0：5维度风险评分算法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FR 3.0：EP / BVA / 决策表生成器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simulator_client.py（调用仿真器的HTTP客户端）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FR 6.0：JSON / CSV / Excel 导出服务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182112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pytest 测试脚本（37条参数化用例）+ 实际执行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文档 / 答辩任务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detailed_test_case_design.md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  → EP/BVA/决策表完整用例表格 + 选型理由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test_result_analysis.md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  → pytest结果统计 + 追踪矩阵 + 改进说明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1115568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9512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334D6B"/>
                </a:solidFill>
                <a:latin typeface="Microsoft YaHei"/>
              </a:rPr>
              <a:t>📦  关键交付物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239512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第2周末：FR2/3/6后端完成  |  第3周：pytest_results.txt  |  两份文档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23560"/>
            <a:ext cx="11155680" cy="5029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875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💡  你写代码的同时同步写文档——这两份文档直接变成 Detailed Test Design（30分）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5156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"/>
            <a:ext cx="12801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</a:rPr>
              <a:t>成员 C — 前端工程师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代码任务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修改 Sidebar.tsx / App.tsx / api.ts（第1周先做）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RequirementInput.tsx（需求导入+解析展示）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RiskAnalysis.tsx（风险矩阵+分值调整）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TestCaseDesign.tsx（用例表格+执行进度）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182112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ExportCenter.tsx（格式选择+下载）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文档 / 答辩任务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每个页面实现 Interactive Review（内联编辑）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录制视频 Demo（6分钟，按脚本）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更新 README.md（新页面说明）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整理各页面截图（约8~10张，给E做PPT）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1115568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9512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334D6B"/>
                </a:solidFill>
                <a:latin typeface="Microsoft YaHei"/>
              </a:rPr>
              <a:t>📦  关键交付物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239512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第2周初：Sidebar/App修改完  |  第3周末：4页面联调完+截图  |  第4周：视频Demo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23560"/>
            <a:ext cx="11155680" cy="5029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875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💡  等不到接口时用 Mock 数据先开发 UI，联调时再换真实接口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5156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"/>
            <a:ext cx="12801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</a:rPr>
              <a:t>成员 D — 测试分析师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代码任务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（不是主力写代码）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协助：运行 pytest 脚本获取测试截图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整理风险矩阵图（工具截图 or Excel制作）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文档 / 答辩任务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Artifact 2（完整）：Risk Analysis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  → 10条需求 × 5维度评分表 + 风险矩阵图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Project Scope章节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Test Items章节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182112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High-level Suite Design（7套件）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80"/>
            <a:ext cx="1115568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239512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334D6B"/>
                </a:solidFill>
                <a:latin typeface="Microsoft YaHei"/>
              </a:rPr>
              <a:t>📦  关键交付物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239512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第2周末：Risk Report草稿  |  第3周初：Test Plan主体三章节  |  风险矩阵图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623560"/>
            <a:ext cx="11155680" cy="5029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6875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💡  你写的 Risk Analysis Report(10%) + Test Plan主体(40%) 合计决定50%的分值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51560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"/>
            <a:ext cx="12801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</a:rPr>
              <a:t>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</a:rPr>
              <a:t>成员 E — 统筹负责人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代码任务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（不负责独立代码模块）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负责整体联调协调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检查各服务能否互相正确调用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5394960" cy="36576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243584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文档 / 答辩任务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64592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Test Plan: Organization Chart章节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029968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汇总 Test Plan（校对一致性）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414016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汇总 Detailed Test Design（补写Tool Implementation节）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798064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制作 PPT（18~22页）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182112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Q&amp;A问题库 + 答辩脚本（15分钟分配）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566160"/>
            <a:ext cx="5394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▸  组织全员答辩排练（至少1次）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1115568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9512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334D6B"/>
                </a:solidFill>
                <a:latin typeface="Microsoft YaHei"/>
              </a:rPr>
              <a:t>📦  关键交付物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239512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D6B"/>
                </a:solidFill>
                <a:latin typeface="Microsoft YaHei"/>
              </a:rPr>
              <a:t>第3周末：Q&amp;A问题库  |  第4周初：PPT完成  |  答辩脚本分发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23560"/>
            <a:ext cx="11155680" cy="5029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8756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EA580C"/>
                </a:solidFill>
                <a:latin typeface="Microsoft YaHei"/>
              </a:rPr>
              <a:t>💡  你需要理解所有人的工作——建议每周和每个成员同步一次进度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现在来选！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每人选一个角色，现场确认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7432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71016"/>
            <a:ext cx="2651760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234440"/>
            <a:ext cx="256032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79" y="1271016"/>
            <a:ext cx="2468879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主要技能需求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79" y="1234440"/>
            <a:ext cx="32004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4999" y="1271016"/>
            <a:ext cx="3108960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工作重心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1234440"/>
            <a:ext cx="256032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271016"/>
            <a:ext cx="2468879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意向人选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28800"/>
            <a:ext cx="27432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1865376"/>
            <a:ext cx="26334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A — 后端架构师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2880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63824" y="186537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Python / FastAPI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79" y="1828800"/>
            <a:ext cx="32004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143" y="1865376"/>
            <a:ext cx="30906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代码（仿真器+FR1）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182880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24544" y="186537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42316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2459736"/>
            <a:ext cx="26334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B — 测试算法工程师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24231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63824" y="245973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Python / 逻辑思维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79" y="2423160"/>
            <a:ext cx="32004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4143" y="2459736"/>
            <a:ext cx="30906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代码（FR2/3/6）+ 文档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24231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24544" y="245973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017520"/>
            <a:ext cx="27432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3054096"/>
            <a:ext cx="26334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C — 前端工程师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301752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305409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React / TypeScript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79" y="3017520"/>
            <a:ext cx="32004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4143" y="3054096"/>
            <a:ext cx="30906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代码（前端页面）+ 视频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301752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24544" y="305409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1188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" y="3648456"/>
            <a:ext cx="26334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D — 测试分析师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36118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63824" y="364845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文档写作能力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79" y="3611880"/>
            <a:ext cx="32004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24143" y="3648456"/>
            <a:ext cx="30906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文档（Risk Report + Test Plan）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36118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24544" y="364845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206240"/>
            <a:ext cx="27432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4242816"/>
            <a:ext cx="26334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E — 统筹负责人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420624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63824" y="424281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统筹能力 / 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79" y="4206240"/>
            <a:ext cx="32004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24143" y="4242816"/>
            <a:ext cx="3090672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>汇总整合 + 答辩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4206240"/>
            <a:ext cx="25603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24544" y="4242816"/>
            <a:ext cx="2450591" cy="5212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0F172A"/>
                </a:solidFill>
                <a:latin typeface="Microsoft YaHei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98348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E40AF"/>
                </a:solidFill>
                <a:latin typeface="Microsoft YaHei"/>
              </a:rPr>
              <a:t>选择参考：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539496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•  Python / 后端经验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53949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→ 优先选 A 或 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5779008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•  React / 前端经验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5779008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→ 选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163056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•  文档能力强，不一定会写代码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6163056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→ 选 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547104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34D6B"/>
                </a:solidFill>
                <a:latin typeface="Microsoft YaHei"/>
              </a:rPr>
              <a:t>  •  愿意统筹协调，喜欢答辩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6547104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E40AF"/>
                </a:solidFill>
                <a:latin typeface="Microsoft YaHei"/>
              </a:rPr>
              <a:t>→ 选 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会后行动清单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FDBFF"/>
                </a:solidFill>
                <a:latin typeface="Microsoft YaHei"/>
              </a:rPr>
              <a:t>今晚确定，明天开始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96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AutoTestDesign 启动会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486400" cy="5029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61872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📋  今晚确认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0F172A"/>
                </a:solidFill>
                <a:latin typeface="Microsoft YaHei"/>
              </a:rPr>
              <a:t>□  5人分工表填写完毕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75688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0F172A"/>
                </a:solidFill>
                <a:latin typeface="Microsoft YaHei"/>
              </a:rPr>
              <a:t>□  每人阅读自己的任务书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59736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 docs/tasks/member_X_xxx.md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43784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0F172A"/>
                </a:solidFill>
                <a:latin typeface="Microsoft YaHei"/>
              </a:rPr>
              <a:t>□  A + B 约 schemas 对齐会（30分钟）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27832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0F172A"/>
                </a:solidFill>
                <a:latin typeface="Microsoft YaHei"/>
              </a:rPr>
              <a:t>□  E 建立共享文档空间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79"/>
            <a:ext cx="51206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   （飞书 / Notion / Google Docs）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557784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261872"/>
            <a:ext cx="52120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1E40AF"/>
                </a:solidFill>
                <a:latin typeface="Microsoft YaHei"/>
              </a:rPr>
              <a:t>🚀  本周重点（第1周）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91640"/>
            <a:ext cx="54864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28216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691640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开始写 VCU 仿真器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148840"/>
            <a:ext cx="5486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85416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48840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阅读 DESIGN_PLAN.md，与A对齐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606040"/>
            <a:ext cx="54864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642616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606040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搭前端框架，用Mock数据先开发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063240"/>
            <a:ext cx="548640" cy="3474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099816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063240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阅读 DESIGN_PLAN.md 第二节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20440"/>
            <a:ext cx="548640" cy="347472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557016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520440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0F172A"/>
                </a:solidFill>
                <a:latin typeface="Microsoft YaHei"/>
              </a:rPr>
              <a:t>准备PPT模板，整理Q&amp;A框架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89320"/>
            <a:ext cx="1143000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📁  docs/DESIGN_PLAN.md（必读）  |  docs/tasks/member_X.md（各自任务书）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