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3"/>
    <p:sldId id="263" r:id="rId4"/>
    <p:sldId id="264" r:id="rId5"/>
    <p:sldId id="265" r:id="rId6"/>
    <p:sldId id="259" r:id="rId7"/>
    <p:sldId id="260" r:id="rId8"/>
    <p:sldId id="261" r:id="rId10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B2A"/>
    <a:srgbClr val="FFD1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514" y="1143000"/>
            <a:ext cx="54849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601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项目架构：两个系统，角色明确</a:t>
            </a:r>
            <a:endParaRPr sz="27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601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AutoTestDesign Tool（我们的工具）  ×  VCU 行为仿真器（被测目标应用）</a:t>
            </a:r>
            <a:endParaRPr sz="1300" b="0">
              <a:solidFill>
                <a:srgbClr val="90E0E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44200" y="201168"/>
            <a:ext cx="114300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62488" y="219456"/>
            <a:ext cx="110642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2026.05.21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11548872" cy="56692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33856"/>
            <a:ext cx="11247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Assignment 要求：开发 AutoTestDesign Tool，选择一个目标应用，用工具测它。</a:t>
            </a:r>
            <a:endParaRPr sz="1300" b="0">
              <a:solidFill>
                <a:srgbClr val="90E0E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我们的工具 → AutoTestDesign Tool          我们的目标应用 → VCU 行为仿真器（基于北汽真实 HIL 数据库重建，取代已不可用的原 API）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1755648"/>
            <a:ext cx="438912" cy="3429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2286000"/>
            <a:ext cx="402336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T
O
O
L</a:t>
            </a:r>
            <a:endParaRPr sz="1100" b="1">
              <a:solidFill>
                <a:srgbClr val="0D1B2A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8952" y="1755648"/>
            <a:ext cx="5166360" cy="342900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92224"/>
            <a:ext cx="4937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AutoTestDesign Tool</a:t>
            </a:r>
            <a:endParaRPr sz="1400" b="1">
              <a:solidFill>
                <a:srgbClr val="00B4D8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2139696"/>
            <a:ext cx="4983480" cy="1837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● FR 1.0/1.1  导入并解析 VCU 需求（CSV/文本）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● FR 2.0       风险评估：High / Medium / Low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● FR 3.0       黑盒用例：EP + BVA + 决策表 + 状态转移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● FR 4.0 ★    白盒建模：state09/10/11 状态机，All-Transitions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● FR 5.0 ★    LLM 合成 5 个输出字段的 Oracle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● FR 6.0       导出 JSON/ CSV / Excel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● FR 7.0 ★    两轮模糊测试：DataVariation 三种变异策略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● Interactive Review：每阶段支持人工修改</a:t>
            </a:r>
            <a:endParaRPr sz="1200" b="0">
              <a:solidFill>
                <a:srgbClr val="CAD3E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89320" y="2926080"/>
            <a:ext cx="1005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166"/>
                </a:solidFill>
              </a:rPr>
              <a:t>HTTP
POST
/simulate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59168" y="1755648"/>
            <a:ext cx="438912" cy="34290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331720"/>
            <a:ext cx="402336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S
U
T</a:t>
            </a:r>
            <a:endParaRPr sz="1100" b="1">
              <a:solidFill>
                <a:srgbClr val="0D1B2A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98079" y="1755648"/>
            <a:ext cx="4370832" cy="342900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8" y="1792224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90E0EF"/>
                </a:solidFill>
              </a:rPr>
              <a:t>VCU 行为仿真器</a:t>
            </a:r>
            <a:endParaRPr sz="1400" b="1">
              <a:solidFill>
                <a:srgbClr val="90E0E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07808" y="2139696"/>
            <a:ext cx="41148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● 状态机：state09（休眠）→ state10（初始化）→ state11（运行）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● 7路唤醒（w1-w7）+ 3路休眠条件（h1-h3）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● 结果四分类：expected / error / stuck / new_state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● 5个输出字段：vehicle_state / vehicle_mode /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    power_current / bus_message_flag / pdcu_wake_reason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● 已知缺陷：快速上下电序列触发 state10 卡死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    → actual_duration 超时，来自北汽真实 bug 报告</a:t>
            </a:r>
            <a:endParaRPr sz="1200" b="0">
              <a:solidFill>
                <a:srgbClr val="CAD3E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0040" y="5303520"/>
            <a:ext cx="1154887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5367528"/>
            <a:ext cx="115488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FD166"/>
                </a:solidFill>
              </a:rPr>
              <a:t>Risk Analysis Report、Test Plan、Detailed Test Design 均针对被测软件（VCU 仿真器），而非工具本身</a:t>
            </a:r>
            <a:endParaRPr sz="1200" b="0">
              <a:solidFill>
                <a:srgbClr val="FFD16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601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VCU 行为仿真器：被测目标应用</a:t>
            </a:r>
            <a:endParaRPr sz="27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601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状态机 + 卡死缺陷仿真 + 灰色地带设计（触发 new_state）</a:t>
            </a:r>
            <a:endParaRPr sz="1300" b="0">
              <a:solidFill>
                <a:srgbClr val="90E0E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44200" y="201168"/>
            <a:ext cx="114300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62488" y="219456"/>
            <a:ext cx="110642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2026.05.21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111556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状态机</a:t>
            </a:r>
            <a:endParaRPr sz="1200" b="1">
              <a:solidFill>
                <a:srgbClr val="00B4D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426464"/>
            <a:ext cx="1554480" cy="47548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81328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state09
(休眠)</a:t>
            </a:r>
            <a:endParaRPr sz="1100" b="1">
              <a:solidFill>
                <a:srgbClr val="0D1B2A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03120" y="1426464"/>
            <a:ext cx="155448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39" y="1481328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state10
(初始化)</a:t>
            </a:r>
            <a:endParaRPr sz="1100" b="1">
              <a:solidFill>
                <a:srgbClr val="0D1B2A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31920" y="1426464"/>
            <a:ext cx="1554480" cy="475488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1481328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state11
(运行)</a:t>
            </a:r>
            <a:endParaRPr sz="1100" b="1">
              <a:solidFill>
                <a:srgbClr val="0D1B2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91640" y="1554607"/>
            <a:ext cx="621030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chemeClr val="bg1"/>
                </a:solidFill>
              </a:rPr>
              <a:t>w任一-&gt;</a:t>
            </a:r>
            <a:endParaRPr sz="900" b="1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54730" y="1536192"/>
            <a:ext cx="527685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chemeClr val="bg1"/>
                </a:solidFill>
              </a:rPr>
              <a:t>完成-&gt;</a:t>
            </a:r>
            <a:endParaRPr sz="900" b="1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3160" y="1965960"/>
            <a:ext cx="861060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chemeClr val="bg1"/>
                </a:solidFill>
              </a:rPr>
              <a:t>&lt;- h1+h2+h3</a:t>
            </a:r>
            <a:endParaRPr sz="900" b="1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0040" y="226771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输入信号</a:t>
            </a:r>
            <a:endParaRPr sz="1200" b="1">
              <a:solidFill>
                <a:srgbClr val="00B4D8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0040" y="2551176"/>
            <a:ext cx="1225296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" y="2615184"/>
            <a:ext cx="1133856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信号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572768" y="2551176"/>
            <a:ext cx="1124712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2615184"/>
            <a:ext cx="1033271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有效条件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24912" y="2551176"/>
            <a:ext cx="996696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9776" y="2615184"/>
            <a:ext cx="905256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时序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749039" y="2551176"/>
            <a:ext cx="1719072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03903" y="2615184"/>
            <a:ext cx="1627631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测试技术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" y="2852928"/>
            <a:ext cx="1225296" cy="31089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72768" y="2852928"/>
            <a:ext cx="1124712" cy="31089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24912" y="2852928"/>
            <a:ext cx="996696" cy="31089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49039" y="2852928"/>
            <a:ext cx="1719072" cy="31089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2926080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w1 供电电压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36776" y="2926080"/>
            <a:ext cx="1014983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7CC99"/>
                </a:solidFill>
              </a:rPr>
              <a:t>&gt; 9V</a:t>
            </a:r>
            <a:endParaRPr sz="1100" b="0">
              <a:solidFill>
                <a:srgbClr val="57CC99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88920" y="2926080"/>
            <a:ext cx="8869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≥10ms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813048" y="2926080"/>
            <a:ext cx="1609343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EP+BVA(双轴)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0040" y="3182112"/>
            <a:ext cx="1225296" cy="31089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72768" y="3182112"/>
            <a:ext cx="1124712" cy="31089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24912" y="3182112"/>
            <a:ext cx="996696" cy="31089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49039" y="3182112"/>
            <a:ext cx="1719072" cy="31089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3255264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w2 CAN 报文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36776" y="3255264"/>
            <a:ext cx="1014983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7CC99"/>
                </a:solidFill>
              </a:rPr>
              <a:t>0x400~47F</a:t>
            </a:r>
            <a:endParaRPr sz="1100" b="0">
              <a:solidFill>
                <a:srgbClr val="57CC99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88920" y="3255264"/>
            <a:ext cx="8869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无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813048" y="3255264"/>
            <a:ext cx="1609343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EP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20040" y="3511296"/>
            <a:ext cx="1225296" cy="31089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572768" y="3511296"/>
            <a:ext cx="1124712" cy="31089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24912" y="3511296"/>
            <a:ext cx="996696" cy="31089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749039" y="3511296"/>
            <a:ext cx="1719072" cy="31089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" y="3584448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w3 CP / w4 CC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636776" y="3584448"/>
            <a:ext cx="1014983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7CC99"/>
                </a:solidFill>
              </a:rPr>
              <a:t>&gt; 9V/&lt;4.4V</a:t>
            </a:r>
            <a:endParaRPr sz="1100" b="0">
              <a:solidFill>
                <a:srgbClr val="57CC99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788920" y="3584448"/>
            <a:ext cx="8869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无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813048" y="3584448"/>
            <a:ext cx="1609343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EP+BVA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20040" y="3840480"/>
            <a:ext cx="1225296" cy="31089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572768" y="3840480"/>
            <a:ext cx="1124712" cy="31089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24912" y="3840480"/>
            <a:ext cx="996696" cy="31089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749039" y="3840480"/>
            <a:ext cx="1719072" cy="31089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4048" y="391363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w5 CC2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636776" y="3913632"/>
            <a:ext cx="1014983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7CC99"/>
                </a:solidFill>
              </a:rPr>
              <a:t>UBR下降沿</a:t>
            </a:r>
            <a:endParaRPr sz="1100" b="0">
              <a:solidFill>
                <a:srgbClr val="57CC99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788920" y="3913632"/>
            <a:ext cx="8869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无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813048" y="3913632"/>
            <a:ext cx="1609343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EP+BVA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320040" y="4169664"/>
            <a:ext cx="1225296" cy="31089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572768" y="4169664"/>
            <a:ext cx="1124712" cy="31089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24912" y="4169664"/>
            <a:ext cx="996696" cy="31089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749039" y="4169664"/>
            <a:ext cx="1719072" cy="31089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4048" y="4242816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w6/w7 口盖/门板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636776" y="4242816"/>
            <a:ext cx="1014983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7CC99"/>
                </a:solidFill>
              </a:rPr>
              <a:t>&gt;4V/&lt;1V</a:t>
            </a:r>
            <a:endParaRPr sz="1100" b="0">
              <a:solidFill>
                <a:srgbClr val="57CC99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788920" y="4242816"/>
            <a:ext cx="8869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≥10ms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813048" y="4242816"/>
            <a:ext cx="1609343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EP+BVA(双轴)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320040" y="4498848"/>
            <a:ext cx="1225296" cy="31089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72768" y="4498848"/>
            <a:ext cx="1124712" cy="31089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724912" y="4498848"/>
            <a:ext cx="996696" cy="31089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749039" y="4498848"/>
            <a:ext cx="1719072" cy="31089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84048" y="4572000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h1+h2+h3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636776" y="4572000"/>
            <a:ext cx="1014983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7CC99"/>
                </a:solidFill>
              </a:rPr>
              <a:t>三者同时=1</a:t>
            </a:r>
            <a:endParaRPr sz="1100" b="0">
              <a:solidFill>
                <a:srgbClr val="57CC99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788920" y="4572000"/>
            <a:ext cx="8869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无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813048" y="4572000"/>
            <a:ext cx="1609343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决策表(8组合)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320040" y="4846320"/>
            <a:ext cx="5376672" cy="2560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4048" y="4864608"/>
            <a:ext cx="5257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卡死缺陷仿真逻辑（Suite E 专项）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320040" y="5120640"/>
            <a:ext cx="5376672" cy="102412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5157216"/>
            <a:ext cx="523036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仿真器维护最近唤醒时间戳列表，每次唤醒前检查：</a:t>
            </a:r>
            <a:endParaRPr sz="11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  若5秒内唤醒 ≥3次 且 所有相邻间隔 &lt;1秒</a:t>
            </a:r>
            <a:endParaRPr sz="11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  → state=10（卡死），power_current&gt;0.2A，duration=est_time×3</a:t>
            </a:r>
            <a:endParaRPr sz="11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  POST /reset 同时清空历史 → Suite A/B/C/F 不会意外触发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989320" y="111556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结果四分类</a:t>
            </a:r>
            <a:endParaRPr sz="1200" b="1">
              <a:solidFill>
                <a:srgbClr val="00B4D8"/>
              </a:solidFill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5989320" y="1426464"/>
            <a:ext cx="1325880" cy="493776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035040" y="1472184"/>
            <a:ext cx="12435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expected</a:t>
            </a:r>
            <a:endParaRPr sz="1100" b="1">
              <a:solidFill>
                <a:srgbClr val="0D1B2A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035040" y="1700784"/>
            <a:ext cx="124358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strategy=0</a:t>
            </a:r>
            <a:endParaRPr sz="900" b="0">
              <a:solidFill>
                <a:srgbClr val="0D1B2A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7333488" y="1426464"/>
            <a:ext cx="4572000" cy="49377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06640" y="1554480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5字段全匹配预期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989320" y="1993392"/>
            <a:ext cx="1325880" cy="49377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35040" y="2039112"/>
            <a:ext cx="12435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error</a:t>
            </a:r>
            <a:endParaRPr sz="1100" b="1">
              <a:solidFill>
                <a:srgbClr val="0D1B2A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035040" y="2267712"/>
            <a:ext cx="124358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strategy=1/2</a:t>
            </a:r>
            <a:endParaRPr sz="900" b="0">
              <a:solidFill>
                <a:srgbClr val="0D1B2A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7333488" y="1993392"/>
            <a:ext cx="4572000" cy="49377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06640" y="2121408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状态未跳转，触发变异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5989320" y="2560320"/>
            <a:ext cx="1325880" cy="4937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035040" y="2606039"/>
            <a:ext cx="12435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stuck</a:t>
            </a:r>
            <a:endParaRPr sz="1100" b="1">
              <a:solidFill>
                <a:srgbClr val="0D1B2A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035040" y="2834639"/>
            <a:ext cx="124358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strategy=3</a:t>
            </a:r>
            <a:endParaRPr sz="900" b="0">
              <a:solidFill>
                <a:srgbClr val="0D1B2A"/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7333488" y="2560320"/>
            <a:ext cx="4572000" cy="49377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406640" y="2688336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state10卡死，duration×3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5989320" y="3127248"/>
            <a:ext cx="1325880" cy="4937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35040" y="3172968"/>
            <a:ext cx="12435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new_state</a:t>
            </a:r>
            <a:endParaRPr sz="1100" b="1">
              <a:solidFill>
                <a:srgbClr val="0D1B2A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035040" y="3401568"/>
            <a:ext cx="124358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strategy=1/2</a:t>
            </a:r>
            <a:endParaRPr sz="900" b="0">
              <a:solidFill>
                <a:srgbClr val="0D1B2A"/>
              </a:solidFill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7333488" y="3127248"/>
            <a:ext cx="4572000" cy="49377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406640" y="3255264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不匹配任何预期→灰色地带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5989320" y="3730752"/>
            <a:ext cx="5879592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053328" y="3749039"/>
            <a:ext cx="5760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灰色地带设计（触发 new_state，使两轮模糊测试真正运转）</a:t>
            </a:r>
            <a:endParaRPr sz="1100" b="1">
              <a:solidFill>
                <a:srgbClr val="0D1B2A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5989320" y="4005072"/>
            <a:ext cx="5879592" cy="126187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062472" y="404164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问题：仿真器完全确定性，所有输出都被预定义，new_state 永远不会发生</a:t>
            </a:r>
            <a:endParaRPr sz="11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解决：在边界值处设置[灰色地带]——返回未预定义的输出组合</a:t>
            </a:r>
            <a:endParaRPr sz="11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示例：供电电压 = 9.0V（刚好等于边界）</a:t>
            </a:r>
            <a:endParaRPr sz="11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  → 返回 vehicle_state=10, power_current=0.08A（不属于正常也不属于卡死）</a:t>
            </a:r>
            <a:endParaRPr sz="11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  → Tool 匹配不上任何预期 → new_state → 第二轮围绕 9.0V 生成变异用例</a:t>
            </a:r>
            <a:endParaRPr sz="11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覆盖信号：w1(9.0V)、w3(9.0V)、w4(4.4V)、w6(4.0V)、w7(1.0V)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5989320" y="5376672"/>
            <a:ext cx="5879592" cy="256032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053328" y="5394960"/>
            <a:ext cx="5760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执行机制：单次请求，仿真器直接同步返回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5989320" y="5650992"/>
            <a:ext cx="5879592" cy="53035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062472" y="568756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POST /reset → POST /simulate → 返回5字段+result_type+actual_duration</a:t>
            </a:r>
            <a:endParaRPr sz="11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Tool 依次比较 expected → error → stuck，都不匹配则为 new_state</a:t>
            </a:r>
            <a:endParaRPr sz="1100" b="0">
              <a:solidFill>
                <a:srgbClr val="CAD3E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601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AutoTestDesign Tool：功能需求覆盖</a:t>
            </a:r>
            <a:endParaRPr sz="27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601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必须项 FR1.0/1.1/2.0/3.0/6.0 全部实现；FR4.0/5.0/7.0 加分项已纳入</a:t>
            </a:r>
            <a:endParaRPr sz="1300" b="0">
              <a:solidFill>
                <a:srgbClr val="90E0E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44200" y="201168"/>
            <a:ext cx="114300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62488" y="219456"/>
            <a:ext cx="110642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2026.05.21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658368" cy="329184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1207008"/>
            <a:ext cx="56692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ID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5840" y="1143000"/>
            <a:ext cx="2057400" cy="329184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1207008"/>
            <a:ext cx="1965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功能类别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90672" y="1143000"/>
            <a:ext cx="6217920" cy="329184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5536" y="1207008"/>
            <a:ext cx="61264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实现说明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345168" y="1143000"/>
            <a:ext cx="1170432" cy="329184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00032" y="1207008"/>
            <a:ext cx="107899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状态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0040" y="1472184"/>
            <a:ext cx="658368" cy="42976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1472184"/>
            <a:ext cx="2057400" cy="42976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90672" y="1472184"/>
            <a:ext cx="6217920" cy="42976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45168" y="1472184"/>
            <a:ext cx="1170432" cy="42976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1545336"/>
            <a:ext cx="5486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FR 1.0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9848" y="1545336"/>
            <a:ext cx="1947672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Input/Parsing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54679" y="1545336"/>
            <a:ext cx="6108192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从 CSV/文本导入 REQ-001~014，字段：ID/Title/Input/Condition/Expected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09176" y="1545336"/>
            <a:ext cx="1060704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7CC99"/>
                </a:solidFill>
              </a:rPr>
              <a:t>必须</a:t>
            </a:r>
            <a:endParaRPr sz="1100" b="0">
              <a:solidFill>
                <a:srgbClr val="57CC99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0040" y="1920240"/>
            <a:ext cx="658368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" y="1920240"/>
            <a:ext cx="2057400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90672" y="1920240"/>
            <a:ext cx="6217920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45168" y="1920240"/>
            <a:ext cx="1170432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1993392"/>
            <a:ext cx="5486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FR 1.1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69848" y="1993392"/>
            <a:ext cx="1947672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Requirement Structuring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54679" y="1993392"/>
            <a:ext cx="6108192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解析信号名/类型/范围、阈值/时序条件、5字段预期动作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09176" y="1993392"/>
            <a:ext cx="1060704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7CC99"/>
                </a:solidFill>
              </a:rPr>
              <a:t>必须</a:t>
            </a:r>
            <a:endParaRPr sz="1100" b="0">
              <a:solidFill>
                <a:srgbClr val="57CC99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20040" y="2368296"/>
            <a:ext cx="658368" cy="42976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5840" y="2368296"/>
            <a:ext cx="2057400" cy="42976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90672" y="2368296"/>
            <a:ext cx="6217920" cy="42976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45168" y="2368296"/>
            <a:ext cx="1170432" cy="42976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2441448"/>
            <a:ext cx="5486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FR 2.0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69848" y="2441448"/>
            <a:ext cx="1947672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Risk Analysis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154679" y="2441448"/>
            <a:ext cx="6108192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按安全影响×缺陷概率打分，REQ-001/002/011/012 为 High（含真实 bug）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409176" y="2441448"/>
            <a:ext cx="1060704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7CC99"/>
                </a:solidFill>
              </a:rPr>
              <a:t>必须</a:t>
            </a:r>
            <a:endParaRPr sz="1100" b="0">
              <a:solidFill>
                <a:srgbClr val="57CC99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20040" y="2816352"/>
            <a:ext cx="658368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5840" y="2816352"/>
            <a:ext cx="2057400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90672" y="2816352"/>
            <a:ext cx="6217920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45168" y="2816352"/>
            <a:ext cx="1170432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2889504"/>
            <a:ext cx="5486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FR 3.0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69848" y="2889504"/>
            <a:ext cx="1947672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Black-Box Test Design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154679" y="2889504"/>
            <a:ext cx="6108192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EP+BVA（电压+时序双轴）/ 决策表（h1×h2×h3 全8组合）/ 状态转移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409176" y="2889504"/>
            <a:ext cx="1060704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7CC99"/>
                </a:solidFill>
              </a:rPr>
              <a:t>必须</a:t>
            </a:r>
            <a:endParaRPr sz="1100" b="0">
              <a:solidFill>
                <a:srgbClr val="57CC99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20040" y="3264408"/>
            <a:ext cx="658368" cy="42976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05840" y="3264408"/>
            <a:ext cx="2057400" cy="42976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090672" y="3264408"/>
            <a:ext cx="6217920" cy="42976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45168" y="3264408"/>
            <a:ext cx="1170432" cy="42976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" y="3337560"/>
            <a:ext cx="5486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FR 4.0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69848" y="3337560"/>
            <a:ext cx="1947672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White-Box Test Modeling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154679" y="3337560"/>
            <a:ext cx="6108192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state09/10/11 状态机建模，All-States+All-Transitions，覆盖卡死路径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409176" y="3337560"/>
            <a:ext cx="1060704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加分★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20040" y="3712464"/>
            <a:ext cx="658368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05840" y="3712464"/>
            <a:ext cx="2057400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090672" y="3712464"/>
            <a:ext cx="6217920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45168" y="3712464"/>
            <a:ext cx="1170432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4048" y="3785616"/>
            <a:ext cx="5486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FR 5.0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069848" y="3785616"/>
            <a:ext cx="1947672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Test Oracle Generation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154679" y="3785616"/>
            <a:ext cx="6108192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LLM Prompt 合成5个输出字段（vehicle_state/mode/current/flag/reason）的预期值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409176" y="3785616"/>
            <a:ext cx="1060704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加分★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20040" y="4160520"/>
            <a:ext cx="658368" cy="42976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05840" y="4160520"/>
            <a:ext cx="2057400" cy="42976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090672" y="4160520"/>
            <a:ext cx="6217920" cy="42976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345168" y="4160520"/>
            <a:ext cx="1170432" cy="42976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4048" y="4233672"/>
            <a:ext cx="5486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FR 6.0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69848" y="4233672"/>
            <a:ext cx="1947672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Output &amp; Export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154679" y="4233672"/>
            <a:ext cx="6108192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导出 JSON（与 bq_new assert 格式兼容）/ CSV / Excel，含需求-用例追溯矩阵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409176" y="4233672"/>
            <a:ext cx="1060704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7CC99"/>
                </a:solidFill>
              </a:rPr>
              <a:t>必须</a:t>
            </a:r>
            <a:endParaRPr sz="1100" b="0">
              <a:solidFill>
                <a:srgbClr val="57CC99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320040" y="4608576"/>
            <a:ext cx="658368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05840" y="4608576"/>
            <a:ext cx="2057400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090672" y="4608576"/>
            <a:ext cx="6217920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345168" y="4608576"/>
            <a:ext cx="1170432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4048" y="4681728"/>
            <a:ext cx="5486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FR 7.0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069848" y="4681728"/>
            <a:ext cx="1947672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Test Suite Optimization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211829" y="4636008"/>
            <a:ext cx="4836795" cy="4298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基于风险评分排序执行：High(REQ-001/002/011/012) → Medium → Low，</a:t>
            </a:r>
            <a:endParaRPr sz="1100" b="0">
              <a:solidFill>
                <a:srgbClr val="FFFFFF"/>
              </a:solidFill>
            </a:endParaRPr>
          </a:p>
          <a:p>
            <a:pPr algn="l"/>
            <a:r>
              <a:rPr sz="1100" b="0">
                <a:solidFill>
                  <a:srgbClr val="FFFFFF"/>
                </a:solidFill>
              </a:rPr>
              <a:t>时间不足时优先保障高风险用例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409176" y="4681728"/>
            <a:ext cx="1060704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加分★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320040" y="5102352"/>
            <a:ext cx="11548872" cy="47548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1480" y="5138928"/>
            <a:ext cx="125412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</a:rPr>
              <a:t>补充（扩展）：</a:t>
            </a:r>
            <a:endParaRPr sz="1200" b="1">
              <a:solidFill>
                <a:srgbClr val="FFD166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2087880" y="5139055"/>
            <a:ext cx="686625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D3E0"/>
                </a:solidFill>
              </a:rPr>
              <a:t>两轮模糊测试（自适应测试，非 ISO 29119-4 标准技术）——第一轮运行82条用例，</a:t>
            </a:r>
            <a:endParaRPr sz="1200" b="0">
              <a:solidFill>
                <a:srgbClr val="CAD3E0"/>
              </a:solidFill>
            </a:endParaRPr>
          </a:p>
          <a:p>
            <a:pPr algn="l"/>
            <a:r>
              <a:rPr sz="1200" b="0">
                <a:solidFill>
                  <a:srgbClr val="CAD3E0"/>
                </a:solidFill>
              </a:rPr>
              <a:t>发现 new_state 后第二轮围绕灰色地带生成变异用例，属于测试用例生成的动态扩展手段</a:t>
            </a:r>
            <a:endParaRPr sz="1200" b="0">
              <a:solidFill>
                <a:srgbClr val="CAD3E0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320040" y="5687568"/>
            <a:ext cx="1154887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0040" y="576072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Interactive Review（Mainly 流程）：</a:t>
            </a:r>
            <a:endParaRPr sz="1300" b="1">
              <a:solidFill>
                <a:srgbClr val="00B4D8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3703320" y="5742432"/>
            <a:ext cx="1051560" cy="31089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39896" y="5760720"/>
            <a:ext cx="9784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需求导入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718304" y="5760720"/>
            <a:ext cx="9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-&gt;</a:t>
            </a:r>
            <a:endParaRPr sz="1200" b="0">
              <a:solidFill>
                <a:srgbClr val="00B4D8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4773168" y="5742432"/>
            <a:ext cx="1051560" cy="31089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809744" y="5760720"/>
            <a:ext cx="9784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Coverage识别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788152" y="5760720"/>
            <a:ext cx="9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-&gt;</a:t>
            </a:r>
            <a:endParaRPr sz="1200" b="0">
              <a:solidFill>
                <a:srgbClr val="00B4D8"/>
              </a:solidFill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5843016" y="5742432"/>
            <a:ext cx="1051560" cy="31089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879592" y="5760720"/>
            <a:ext cx="9784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策略选择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858000" y="5760720"/>
            <a:ext cx="9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-&gt;</a:t>
            </a:r>
            <a:endParaRPr sz="1200" b="0">
              <a:solidFill>
                <a:srgbClr val="00B4D8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6912864" y="5742432"/>
            <a:ext cx="1051560" cy="31089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949440" y="5760720"/>
            <a:ext cx="9784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用例+追溯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927848" y="5760720"/>
            <a:ext cx="9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-&gt;</a:t>
            </a:r>
            <a:endParaRPr sz="1200" b="0">
              <a:solidFill>
                <a:srgbClr val="00B4D8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7982712" y="5742432"/>
            <a:ext cx="1051560" cy="31089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19288" y="5760720"/>
            <a:ext cx="9784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Oracle合成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997696" y="5760720"/>
            <a:ext cx="9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-&gt;</a:t>
            </a:r>
            <a:endParaRPr sz="1200" b="0">
              <a:solidFill>
                <a:srgbClr val="00B4D8"/>
              </a:solidFill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9052560" y="5742432"/>
            <a:ext cx="1051560" cy="31089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089136" y="5760720"/>
            <a:ext cx="9784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执行+比较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0067544" y="5760720"/>
            <a:ext cx="9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-&gt;</a:t>
            </a:r>
            <a:endParaRPr sz="1200" b="0">
              <a:solidFill>
                <a:srgbClr val="00B4D8"/>
              </a:solidFill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10122408" y="5742432"/>
            <a:ext cx="1051560" cy="31089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158984" y="5760720"/>
            <a:ext cx="9784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结果分析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1137392" y="5760720"/>
            <a:ext cx="9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-&gt;</a:t>
            </a:r>
            <a:endParaRPr sz="1200" b="0">
              <a:solidFill>
                <a:srgbClr val="00B4D8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11192256" y="5742432"/>
            <a:ext cx="1051560" cy="31089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228832" y="5760720"/>
            <a:ext cx="9784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变异改进</a:t>
            </a:r>
            <a:endParaRPr sz="11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601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6个测试套，82条用例  |  风险优先级排序执行  |  pytest + httpx 执行框架</a:t>
            </a:r>
            <a:endParaRPr sz="1300" b="0">
              <a:solidFill>
                <a:srgbClr val="90E0E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44200" y="201168"/>
            <a:ext cx="114300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62488" y="219456"/>
            <a:ext cx="110642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2026.05.21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1115568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High-level Test Suite Design</a:t>
            </a:r>
            <a:endParaRPr sz="1300" b="1">
              <a:solidFill>
                <a:srgbClr val="00B4D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749808" cy="329184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481328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套件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97280" y="1417320"/>
            <a:ext cx="1024128" cy="329184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1481328"/>
            <a:ext cx="9326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需求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48840" y="1417320"/>
            <a:ext cx="1133856" cy="329184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03704" y="1481328"/>
            <a:ext cx="104241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对象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10128" y="1417320"/>
            <a:ext cx="1783080" cy="329184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1481328"/>
            <a:ext cx="1691639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技术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20640" y="1417320"/>
            <a:ext cx="658368" cy="329184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5503" y="1481328"/>
            <a:ext cx="56692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用例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0040" y="1746504"/>
            <a:ext cx="749808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1746504"/>
            <a:ext cx="1024128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48840" y="1746504"/>
            <a:ext cx="1133856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10128" y="1746504"/>
            <a:ext cx="1783080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0640" y="1746504"/>
            <a:ext cx="658368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1819656"/>
            <a:ext cx="6400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Suite A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61288" y="1819656"/>
            <a:ext cx="9144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REQ-001~007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12848" y="1819656"/>
            <a:ext cx="10241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7路唤醒 EP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74136" y="1819656"/>
            <a:ext cx="167335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等价类（有效/无效/时序无效）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84648" y="1819656"/>
            <a:ext cx="5486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21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0040" y="2121408"/>
            <a:ext cx="749808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2121408"/>
            <a:ext cx="1024128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48840" y="2121408"/>
            <a:ext cx="1133856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10128" y="2121408"/>
            <a:ext cx="1783080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20640" y="2121408"/>
            <a:ext cx="658368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2194560"/>
            <a:ext cx="6400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Suite B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61288" y="2194560"/>
            <a:ext cx="9144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REQ-001/6/7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212848" y="2194560"/>
            <a:ext cx="10241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BVA 双轴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374136" y="2194560"/>
            <a:ext cx="167335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电压边界 × 时序边界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184648" y="2194560"/>
            <a:ext cx="5486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18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0040" y="2496312"/>
            <a:ext cx="749808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97280" y="2496312"/>
            <a:ext cx="1024128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148840" y="2496312"/>
            <a:ext cx="1133856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10128" y="2496312"/>
            <a:ext cx="1783080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120640" y="2496312"/>
            <a:ext cx="658368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2569464"/>
            <a:ext cx="6400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Suite C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61288" y="2569464"/>
            <a:ext cx="9144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REQ-008~011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212848" y="2569464"/>
            <a:ext cx="10241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休眠决策表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374136" y="2569464"/>
            <a:ext cx="167335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h1×h2×h3 全8组合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184648" y="2569464"/>
            <a:ext cx="5486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8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20040" y="2871215"/>
            <a:ext cx="749808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97280" y="2871215"/>
            <a:ext cx="1024128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148840" y="2871215"/>
            <a:ext cx="1133856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10128" y="2871215"/>
            <a:ext cx="1783080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20640" y="2871215"/>
            <a:ext cx="658368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4048" y="2944368"/>
            <a:ext cx="6400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Suite D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61288" y="2944368"/>
            <a:ext cx="9144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REQ-001~012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212848" y="2944368"/>
            <a:ext cx="10241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状态转移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374136" y="2944368"/>
            <a:ext cx="167335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All-Transitions 5条路径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84648" y="2944368"/>
            <a:ext cx="5486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15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320040" y="3246120"/>
            <a:ext cx="749808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97280" y="3246120"/>
            <a:ext cx="1024128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148840" y="3246120"/>
            <a:ext cx="1133856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310128" y="3246120"/>
            <a:ext cx="1783080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120640" y="3246120"/>
            <a:ext cx="658368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4048" y="3319272"/>
            <a:ext cx="6400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Suite E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61288" y="3319272"/>
            <a:ext cx="9144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REQ-012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212848" y="3319272"/>
            <a:ext cx="10241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卡死缺陷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374136" y="3319272"/>
            <a:ext cx="167335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序列测试 + 重复执行变异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184648" y="3319272"/>
            <a:ext cx="5486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10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20040" y="3621024"/>
            <a:ext cx="749808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97280" y="3621024"/>
            <a:ext cx="1024128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148840" y="3621024"/>
            <a:ext cx="1133856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310128" y="3621024"/>
            <a:ext cx="1783080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120640" y="3621024"/>
            <a:ext cx="658368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4048" y="3694176"/>
            <a:ext cx="6400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Suite F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161288" y="3694176"/>
            <a:ext cx="9144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REQ-014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212848" y="3694176"/>
            <a:ext cx="10241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响应时序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374136" y="3694176"/>
            <a:ext cx="167335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actual_duration 趋势监控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184648" y="3694176"/>
            <a:ext cx="5486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10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320040" y="4005072"/>
            <a:ext cx="5577840" cy="31089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402336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合计：6套，82条用例，覆盖 ISO 29119-4 四种黑盒技术 + 白盒状态转移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20040" y="4434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Framework &amp; Cost</a:t>
            </a:r>
            <a:endParaRPr sz="1300" b="1">
              <a:solidFill>
                <a:srgbClr val="00B4D8"/>
              </a:solidFill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320040" y="4736592"/>
            <a:ext cx="5577840" cy="144475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1480" y="4773168"/>
            <a:ext cx="54406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框架：pytest + httpx，向 FastAPI 仿真器发 HTTP 请求</a:t>
            </a:r>
            <a:endParaRPr sz="11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流程：POST /reset → POST /simulate → 仿真器同步返回5字段+duration+result_type</a:t>
            </a:r>
            <a:endParaRPr sz="11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Tool 比较返回值与预期 → 确定 strategy → 结果存 SQLite</a:t>
            </a:r>
            <a:endParaRPr sz="11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手工估算：82条 × 10min ≈ 14人时    工具自动执行：&lt; 15分钟    节省 98%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989320" y="1115568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FR 7.0 实现：风险优先级排序执行</a:t>
            </a:r>
            <a:endParaRPr sz="1300" b="1">
              <a:solidFill>
                <a:srgbClr val="00B4D8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989320" y="1463040"/>
            <a:ext cx="685800" cy="7132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16752" y="1682496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第一批</a:t>
            </a:r>
            <a:endParaRPr sz="1100" b="1">
              <a:solidFill>
                <a:srgbClr val="0D1B2A"/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6693408" y="1463040"/>
            <a:ext cx="1234440" cy="713232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20840" y="1490472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High 风险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720840" y="1773936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0E0EF"/>
                </a:solidFill>
              </a:rPr>
              <a:t>REQ-001/002/011/012</a:t>
            </a:r>
            <a:endParaRPr sz="1000" b="0">
              <a:solidFill>
                <a:srgbClr val="90E0EF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7946136" y="1463040"/>
            <a:ext cx="3895344" cy="71323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10144" y="1664208"/>
            <a:ext cx="37856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唤醒核心路径 + 已知卡死缺陷，必须最先验证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5989320" y="2267712"/>
            <a:ext cx="685800" cy="7132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016752" y="248716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第二批</a:t>
            </a:r>
            <a:endParaRPr sz="1100" b="1">
              <a:solidFill>
                <a:srgbClr val="0D1B2A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6693408" y="2267712"/>
            <a:ext cx="1234440" cy="713232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720840" y="2295144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Medium 风险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720840" y="2578608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0E0EF"/>
                </a:solidFill>
              </a:rPr>
              <a:t>REQ-003~005/013/014</a:t>
            </a:r>
            <a:endParaRPr sz="1000" b="0">
              <a:solidFill>
                <a:srgbClr val="90E0EF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7946136" y="2267712"/>
            <a:ext cx="3895344" cy="71323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10144" y="2468880"/>
            <a:ext cx="37856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辅助唤醒信号 + 一致性 + 时序，主路径通过后执行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5989320" y="3072384"/>
            <a:ext cx="685800" cy="713232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016752" y="329184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第三批</a:t>
            </a:r>
            <a:endParaRPr sz="1100" b="1">
              <a:solidFill>
                <a:srgbClr val="0D1B2A"/>
              </a:solidFill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6693408" y="3072384"/>
            <a:ext cx="1234440" cy="713232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720840" y="3099816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Low 风险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720840" y="3383280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0E0EF"/>
                </a:solidFill>
              </a:rPr>
              <a:t>REQ-006/007/008/009</a:t>
            </a:r>
            <a:endParaRPr sz="1000" b="0">
              <a:solidFill>
                <a:srgbClr val="90E0EF"/>
              </a:solidFill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7946136" y="3072384"/>
            <a:ext cx="3895344" cy="71323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010144" y="3273552"/>
            <a:ext cx="37856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低优先级信号，时间充足时执行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989320" y="3913632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时间不足时：第三批可跳过，优先保障 High 风险用例全部通过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5989320" y="4251960"/>
            <a:ext cx="585216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053328" y="4270248"/>
            <a:ext cx="4709160" cy="260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补充（扩展）：两轮模糊测试——自适应测试，非 ISO 29119-4 标准技术</a:t>
            </a:r>
            <a:endParaRPr sz="1100" b="1">
              <a:solidFill>
                <a:srgbClr val="0D1B2A"/>
              </a:solidFill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5989320" y="4526280"/>
            <a:ext cx="5852160" cy="164592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062472" y="4562856"/>
            <a:ext cx="5742432" cy="105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第一轮（82条）：按高→中→低风险顺序执行，new_state 和 stuck 写入数据库</a:t>
            </a:r>
            <a:endParaRPr sz="11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第二轮（动态）：查询第一轮 new_state → based_new_state_fuzz 围绕灰色地带生成变异用例</a:t>
            </a:r>
            <a:endParaRPr sz="11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   示例：9.0V 触发 new_state → 第二轮自动生成 8.8V / 8.9V / 9.1V / 9.2V 四条变异用例</a:t>
            </a:r>
            <a:endParaRPr sz="11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作用：动态扩展——不是排序优化，而是基于覆盖发现补充遗漏边界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110" name="TextBox 2"/>
          <p:cNvSpPr txBox="1"/>
          <p:nvPr/>
        </p:nvSpPr>
        <p:spPr>
          <a:xfrm>
            <a:off x="365760" y="91440"/>
            <a:ext cx="396176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测试计划与测试设计流程</a:t>
            </a:r>
            <a:endParaRPr sz="27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396176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测试计划与测试设计流程</a:t>
            </a:r>
            <a:endParaRPr sz="27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601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6个测试套，82条用例  |  两轮模糊测试反馈  |  pytest + httpx 执行框架</a:t>
            </a:r>
            <a:endParaRPr sz="1300" b="0">
              <a:solidFill>
                <a:srgbClr val="90E0E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44200" y="201168"/>
            <a:ext cx="114300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62488" y="219456"/>
            <a:ext cx="110642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2026.05.21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1115568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High-level Test Suite Design</a:t>
            </a:r>
            <a:endParaRPr sz="1300" b="1">
              <a:solidFill>
                <a:srgbClr val="00B4D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749808" cy="329184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481328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套件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97280" y="1417320"/>
            <a:ext cx="1024128" cy="329184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1481328"/>
            <a:ext cx="9326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需求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48840" y="1417320"/>
            <a:ext cx="1133856" cy="329184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03704" y="1481328"/>
            <a:ext cx="104241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对象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10128" y="1417320"/>
            <a:ext cx="1783080" cy="329184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1481328"/>
            <a:ext cx="1691639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技术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20640" y="1417320"/>
            <a:ext cx="658368" cy="329184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5503" y="1481328"/>
            <a:ext cx="56692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用例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0040" y="1746504"/>
            <a:ext cx="749808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1746504"/>
            <a:ext cx="1024128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48840" y="1746504"/>
            <a:ext cx="1133856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10128" y="1746504"/>
            <a:ext cx="1783080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0640" y="1746504"/>
            <a:ext cx="658368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1819656"/>
            <a:ext cx="6400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Suite A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61288" y="1819656"/>
            <a:ext cx="9144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REQ-001~007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12848" y="1819656"/>
            <a:ext cx="10241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7路唤醒 EP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82696" y="1819656"/>
            <a:ext cx="167335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等价类（有效/无效/时序无效）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84648" y="1819656"/>
            <a:ext cx="5486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21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0040" y="2121408"/>
            <a:ext cx="749808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2121408"/>
            <a:ext cx="1024128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48840" y="2121408"/>
            <a:ext cx="1133856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10128" y="2121408"/>
            <a:ext cx="1783080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20640" y="2121408"/>
            <a:ext cx="658368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2194560"/>
            <a:ext cx="6400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Suite B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61288" y="2194560"/>
            <a:ext cx="9144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REQ-001/6/7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212848" y="2194560"/>
            <a:ext cx="10241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BVA 双轴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374136" y="2194560"/>
            <a:ext cx="167335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电压边界 × 时序边界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184648" y="2194560"/>
            <a:ext cx="5486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18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0040" y="2496312"/>
            <a:ext cx="749808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97280" y="2496312"/>
            <a:ext cx="1024128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148840" y="2496312"/>
            <a:ext cx="1133856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10128" y="2496312"/>
            <a:ext cx="1783080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120640" y="2496312"/>
            <a:ext cx="658368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2569464"/>
            <a:ext cx="6400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Suite C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61288" y="2569464"/>
            <a:ext cx="9144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REQ-008~011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212848" y="2569464"/>
            <a:ext cx="10241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休眠决策表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374136" y="2569464"/>
            <a:ext cx="167335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h1×h2×h3 全8组合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184648" y="2569464"/>
            <a:ext cx="5486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8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20040" y="2871215"/>
            <a:ext cx="749808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97280" y="2871215"/>
            <a:ext cx="1024128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148840" y="2871215"/>
            <a:ext cx="1133856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10128" y="2871215"/>
            <a:ext cx="1783080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20640" y="2871215"/>
            <a:ext cx="658368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4048" y="2944368"/>
            <a:ext cx="6400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Suite D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61288" y="2944368"/>
            <a:ext cx="9144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REQ-001~012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212848" y="2944368"/>
            <a:ext cx="10241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状态转移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374136" y="2944368"/>
            <a:ext cx="167335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All-Transitions 5条路径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84648" y="2944368"/>
            <a:ext cx="5486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15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320040" y="3246120"/>
            <a:ext cx="749808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97280" y="3246120"/>
            <a:ext cx="1024128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148840" y="3246120"/>
            <a:ext cx="1133856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310128" y="3246120"/>
            <a:ext cx="1783080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120640" y="3246120"/>
            <a:ext cx="658368" cy="356616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4048" y="3319272"/>
            <a:ext cx="6400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Suite E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61288" y="3319272"/>
            <a:ext cx="9144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REQ-012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212848" y="3319272"/>
            <a:ext cx="10241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卡死缺陷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374136" y="3319272"/>
            <a:ext cx="167335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序列测试 + 重复执行变异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184648" y="3319272"/>
            <a:ext cx="5486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10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20040" y="3621024"/>
            <a:ext cx="749808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97280" y="3621024"/>
            <a:ext cx="1024128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148840" y="3621024"/>
            <a:ext cx="1133856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310128" y="3621024"/>
            <a:ext cx="1783080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120640" y="3621024"/>
            <a:ext cx="658368" cy="356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4048" y="3694176"/>
            <a:ext cx="64008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Suite F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161288" y="3694176"/>
            <a:ext cx="91440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REQ-014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212848" y="3694176"/>
            <a:ext cx="102412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响应时序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374136" y="3694176"/>
            <a:ext cx="167335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actual_duration 趋势监控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184648" y="3694176"/>
            <a:ext cx="5486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10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320040" y="4005072"/>
            <a:ext cx="5577840" cy="31089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402336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合计：6套，82条用例，覆盖 ISO 29119-4 四种黑盒技术 + 白盒状态转移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20040" y="4434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Framework &amp; Cost</a:t>
            </a:r>
            <a:endParaRPr sz="1300" b="1">
              <a:solidFill>
                <a:srgbClr val="00B4D8"/>
              </a:solidFill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320040" y="4736592"/>
            <a:ext cx="5577840" cy="144475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1480" y="4773168"/>
            <a:ext cx="54406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框架：pytest + httpx，向 FastAPI 仿真器发 HTTP 请求</a:t>
            </a:r>
            <a:endParaRPr sz="11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流程：POST /reset → POST /simulate → 仿真器同步返回5字段+duration+result_type</a:t>
            </a:r>
            <a:endParaRPr sz="11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Tool 比较返回值与预期 → 确定 strategy → 结果存 SQLite</a:t>
            </a:r>
            <a:endParaRPr sz="11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AD3E0"/>
                </a:solidFill>
              </a:rPr>
              <a:t>手工估算：82条 × 10min ≈ 14人时    工具自动执行：&lt; 15分钟    节省 98%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989320" y="1115568"/>
            <a:ext cx="184023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两轮模糊测试反馈机制</a:t>
            </a:r>
            <a:endParaRPr sz="1300" b="1">
              <a:solidFill>
                <a:srgbClr val="00B4D8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989320" y="1444752"/>
            <a:ext cx="5852160" cy="384048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53328" y="1508760"/>
            <a:ext cx="57424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第一轮</a:t>
            </a:r>
            <a:endParaRPr sz="1400" b="1">
              <a:solidFill>
                <a:srgbClr val="0D1B2A"/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5989320" y="1828800"/>
            <a:ext cx="5852160" cy="182880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080760" y="1883664"/>
            <a:ext cx="566928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  ● 从 JSON 加载初始用例（82条）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  ● DataVariation 生成变异数据池（单参/多参/MIX）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  ● 逐条执行：reset → simulate → 比较返回结果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  ● 发现 new_state / stuck → 记录到数据库</a:t>
            </a:r>
            <a:endParaRPr sz="1200" b="0">
              <a:solidFill>
                <a:srgbClr val="CAD3E0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949440" y="371246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↓ new_state / stuck 写入数据库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5989320" y="3730752"/>
            <a:ext cx="585216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053328" y="3794760"/>
            <a:ext cx="57424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第二轮</a:t>
            </a:r>
            <a:endParaRPr sz="1400" b="1">
              <a:solidFill>
                <a:srgbClr val="0D1B2A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5989320" y="4114800"/>
            <a:ext cx="5852160" cy="182880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080760" y="4169664"/>
            <a:ext cx="566928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  ● 查询第一轮发现的 new_state 记录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  ● based_new_state_fuzz：围绕新状态生成变异用例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  ● 再次执行，验证复现并寻找更多边界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  ● 每10次分析 duration 趋势，检测潜在内存泄漏</a:t>
            </a:r>
            <a:endParaRPr sz="1200" b="0">
              <a:solidFill>
                <a:srgbClr val="CAD3E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601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详细测试设计：黑盒 + 白盒技术</a:t>
            </a:r>
            <a:endParaRPr sz="27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601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针对 VCU 仿真器  |  ISO 29119-4 四种黑盒技术 + 白盒 All-Transitions 覆盖</a:t>
            </a:r>
            <a:endParaRPr sz="1300" b="0">
              <a:solidFill>
                <a:srgbClr val="90E0E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44200" y="201168"/>
            <a:ext cx="114300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62488" y="219456"/>
            <a:ext cx="110642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2026.05.21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1115568"/>
            <a:ext cx="5577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黑盒测试技术</a:t>
            </a:r>
            <a:endParaRPr sz="1400" b="1">
              <a:solidFill>
                <a:srgbClr val="00B4D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5577840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5486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① 等价类划分（EP）— Suite A：7路唤醒信号，每路3个等价类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1746504"/>
            <a:ext cx="1042415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810512"/>
            <a:ext cx="950975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信号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89888" y="1746504"/>
            <a:ext cx="1097280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1810512"/>
            <a:ext cx="1005839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有效类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4600" y="1746504"/>
            <a:ext cx="1225296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9464" y="1810512"/>
            <a:ext cx="1133856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无效类(值)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767328" y="1746504"/>
            <a:ext cx="1874519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22191" y="1810512"/>
            <a:ext cx="1783079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无效类(时序)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0040" y="2020824"/>
            <a:ext cx="1042415" cy="30175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9888" y="2020824"/>
            <a:ext cx="1097280" cy="30175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14600" y="2020824"/>
            <a:ext cx="1225296" cy="30175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67328" y="2020824"/>
            <a:ext cx="1874519" cy="30175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093976"/>
            <a:ext cx="93268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w1 供电电压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53896" y="2093976"/>
            <a:ext cx="987552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7CC99"/>
                </a:solidFill>
              </a:rPr>
              <a:t>9.3V, 15ms</a:t>
            </a:r>
            <a:endParaRPr sz="1100" b="0">
              <a:solidFill>
                <a:srgbClr val="57CC99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78608" y="2093976"/>
            <a:ext cx="111556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</a:rPr>
              <a:t>8.5V（值不足）</a:t>
            </a:r>
            <a:endParaRPr sz="1100" b="0">
              <a:solidFill>
                <a:srgbClr val="FF6B6B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831336" y="2093976"/>
            <a:ext cx="1764791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9.3V, 8ms（时序不足）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" y="2340864"/>
            <a:ext cx="1042415" cy="301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89888" y="2340864"/>
            <a:ext cx="1097280" cy="301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14600" y="2340864"/>
            <a:ext cx="1225296" cy="301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67328" y="2340864"/>
            <a:ext cx="1874519" cy="301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2414016"/>
            <a:ext cx="93268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w4 CC 电压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53896" y="2414016"/>
            <a:ext cx="987552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7CC99"/>
                </a:solidFill>
              </a:rPr>
              <a:t>3.0V</a:t>
            </a:r>
            <a:endParaRPr sz="1100" b="0">
              <a:solidFill>
                <a:srgbClr val="57CC99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578608" y="2414016"/>
            <a:ext cx="111556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</a:rPr>
              <a:t>5.0V（超出范围）</a:t>
            </a:r>
            <a:endParaRPr sz="1100" b="0">
              <a:solidFill>
                <a:srgbClr val="FF6B6B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831336" y="2414016"/>
            <a:ext cx="1764791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—（无时序要求）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0040" y="2660904"/>
            <a:ext cx="1042415" cy="30175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89888" y="2660904"/>
            <a:ext cx="1097280" cy="30175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14600" y="2660904"/>
            <a:ext cx="1225296" cy="30175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67328" y="2660904"/>
            <a:ext cx="1874519" cy="30175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2734056"/>
            <a:ext cx="93268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w2 CAN报文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53896" y="2734056"/>
            <a:ext cx="987552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7CC99"/>
                </a:solidFill>
              </a:rPr>
              <a:t>0x420</a:t>
            </a:r>
            <a:endParaRPr sz="1100" b="0">
              <a:solidFill>
                <a:srgbClr val="57CC99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578608" y="2734056"/>
            <a:ext cx="111556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</a:rPr>
              <a:t>0x300（超范围）</a:t>
            </a:r>
            <a:endParaRPr sz="1100" b="0">
              <a:solidFill>
                <a:srgbClr val="FF6B6B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831336" y="2734056"/>
            <a:ext cx="1764791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—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20040" y="3017520"/>
            <a:ext cx="5577840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7190" y="3035808"/>
            <a:ext cx="5486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② 边界值分析（BVA）— Suite B：电压 × 时序 双轴边界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20040" y="3319272"/>
            <a:ext cx="1344168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4" y="3383279"/>
            <a:ext cx="1252728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边界类型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691640" y="3319272"/>
            <a:ext cx="1252728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46504" y="3383279"/>
            <a:ext cx="1161288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下边界-1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971800" y="3319272"/>
            <a:ext cx="1252728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3383279"/>
            <a:ext cx="1161288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下边界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251960" y="3319272"/>
            <a:ext cx="1289304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06824" y="3383279"/>
            <a:ext cx="1197863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下边界+1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20040" y="3621024"/>
            <a:ext cx="1344168" cy="30175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691640" y="3621024"/>
            <a:ext cx="1252728" cy="30175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971800" y="3621024"/>
            <a:ext cx="1252728" cy="30175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51960" y="3621024"/>
            <a:ext cx="1289304" cy="30175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3694176"/>
            <a:ext cx="12344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w1 电压轴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755648" y="3694176"/>
            <a:ext cx="11430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</a:rPr>
              <a:t>8.9V → error</a:t>
            </a:r>
            <a:endParaRPr sz="1100" b="0">
              <a:solidFill>
                <a:srgbClr val="FF6B6B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035808" y="3694176"/>
            <a:ext cx="11430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9.0V → error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315968" y="3694176"/>
            <a:ext cx="117957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7CC99"/>
                </a:solidFill>
              </a:rPr>
              <a:t>9.1V → expected</a:t>
            </a:r>
            <a:endParaRPr sz="1100" b="0">
              <a:solidFill>
                <a:srgbClr val="57CC99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20040" y="3941063"/>
            <a:ext cx="1344168" cy="301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691640" y="3941063"/>
            <a:ext cx="1252728" cy="301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971800" y="3941063"/>
            <a:ext cx="1252728" cy="301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51960" y="3941063"/>
            <a:ext cx="1289304" cy="301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4048" y="4014215"/>
            <a:ext cx="12344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w1 时序轴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755648" y="4014215"/>
            <a:ext cx="11430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</a:rPr>
              <a:t>9ms → error</a:t>
            </a:r>
            <a:endParaRPr sz="1100" b="0">
              <a:solidFill>
                <a:srgbClr val="FF6B6B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035808" y="4014215"/>
            <a:ext cx="11430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10ms → expected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315968" y="4014215"/>
            <a:ext cx="117957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7CC99"/>
                </a:solidFill>
              </a:rPr>
              <a:t>11ms → expected</a:t>
            </a:r>
            <a:endParaRPr sz="1100" b="0">
              <a:solidFill>
                <a:srgbClr val="57CC99"/>
              </a:solidFill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20040" y="4261104"/>
            <a:ext cx="1344168" cy="30175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691640" y="4261104"/>
            <a:ext cx="1252728" cy="30175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971800" y="4261104"/>
            <a:ext cx="1252728" cy="30175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251960" y="4261104"/>
            <a:ext cx="1289304" cy="301752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84048" y="4334256"/>
            <a:ext cx="12344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w6 电压轴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755648" y="4334256"/>
            <a:ext cx="11430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</a:rPr>
              <a:t>3.9V → error</a:t>
            </a:r>
            <a:endParaRPr sz="1100" b="0">
              <a:solidFill>
                <a:srgbClr val="FF6B6B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035808" y="4334256"/>
            <a:ext cx="11430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4.0V → error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315968" y="4334256"/>
            <a:ext cx="117957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7CC99"/>
                </a:solidFill>
              </a:rPr>
              <a:t>4.1V → expected</a:t>
            </a:r>
            <a:endParaRPr sz="1100" b="0">
              <a:solidFill>
                <a:srgbClr val="57CC99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320040" y="4645152"/>
            <a:ext cx="5577840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7180" y="4663440"/>
            <a:ext cx="5486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③ 决策表（Decision Table）— Suite C：休眠条件 h1 AND h2 AND h3（8组合）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320040" y="4946904"/>
            <a:ext cx="612648" cy="256032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74904" y="5010912"/>
            <a:ext cx="5212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h1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960120" y="4946904"/>
            <a:ext cx="612648" cy="256032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14984" y="5010912"/>
            <a:ext cx="5212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h2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600200" y="4946904"/>
            <a:ext cx="612648" cy="256032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55064" y="5010912"/>
            <a:ext cx="5212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h3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2240280" y="4946904"/>
            <a:ext cx="612648" cy="256032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295144" y="5010912"/>
            <a:ext cx="5212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×4组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2880360" y="4946904"/>
            <a:ext cx="2651760" cy="256032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935224" y="5010912"/>
            <a:ext cx="2560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预期结果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320040" y="5202936"/>
            <a:ext cx="612648" cy="29260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60120" y="5202936"/>
            <a:ext cx="612648" cy="29260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600200" y="5202936"/>
            <a:ext cx="612648" cy="29260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240280" y="5202936"/>
            <a:ext cx="612648" cy="29260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880360" y="5202936"/>
            <a:ext cx="2651760" cy="29260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5759" y="5266944"/>
            <a:ext cx="5394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AD3E0"/>
                </a:solidFill>
              </a:rPr>
              <a:t>0</a:t>
            </a:r>
            <a:endParaRPr sz="1000" b="0">
              <a:solidFill>
                <a:srgbClr val="CAD3E0"/>
              </a:solidFill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005840" y="5266944"/>
            <a:ext cx="5394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AD3E0"/>
                </a:solidFill>
              </a:rPr>
              <a:t>×</a:t>
            </a:r>
            <a:endParaRPr sz="1000" b="0">
              <a:solidFill>
                <a:srgbClr val="CAD3E0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645920" y="5266944"/>
            <a:ext cx="5394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AD3E0"/>
                </a:solidFill>
              </a:rPr>
              <a:t>×</a:t>
            </a:r>
            <a:endParaRPr sz="1000" b="0">
              <a:solidFill>
                <a:srgbClr val="CAD3E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286000" y="5266944"/>
            <a:ext cx="5394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0E0EF"/>
                </a:solidFill>
              </a:rPr>
              <a:t>(1~4组)</a:t>
            </a:r>
            <a:endParaRPr sz="1000" b="0">
              <a:solidFill>
                <a:srgbClr val="90E0EF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2926079" y="5266944"/>
            <a:ext cx="25786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6B6B"/>
                </a:solidFill>
              </a:rPr>
              <a:t>维持 state11，不休眠</a:t>
            </a:r>
            <a:endParaRPr sz="1000" b="0">
              <a:solidFill>
                <a:srgbClr val="FF6B6B"/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320040" y="5513832"/>
            <a:ext cx="612648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60120" y="5513832"/>
            <a:ext cx="612648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600200" y="5513832"/>
            <a:ext cx="612648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240280" y="5513832"/>
            <a:ext cx="612648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880360" y="5513832"/>
            <a:ext cx="2651760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65759" y="5577840"/>
            <a:ext cx="5394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AD3E0"/>
                </a:solidFill>
              </a:rPr>
              <a:t>1</a:t>
            </a:r>
            <a:endParaRPr sz="1000" b="0">
              <a:solidFill>
                <a:srgbClr val="CAD3E0"/>
              </a:solidFill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005840" y="5577840"/>
            <a:ext cx="5394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AD3E0"/>
                </a:solidFill>
              </a:rPr>
              <a:t>1</a:t>
            </a:r>
            <a:endParaRPr sz="1000" b="0">
              <a:solidFill>
                <a:srgbClr val="CAD3E0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645920" y="5577840"/>
            <a:ext cx="5394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AD3E0"/>
                </a:solidFill>
              </a:rPr>
              <a:t>1</a:t>
            </a:r>
            <a:endParaRPr sz="1000" b="0">
              <a:solidFill>
                <a:srgbClr val="CAD3E0"/>
              </a:solidFill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2286000" y="5577840"/>
            <a:ext cx="5394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0E0EF"/>
                </a:solidFill>
              </a:rPr>
              <a:t>(第8组)</a:t>
            </a:r>
            <a:endParaRPr sz="1000" b="0">
              <a:solidFill>
                <a:srgbClr val="90E0EF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2926079" y="5577840"/>
            <a:ext cx="25786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CC99"/>
                </a:solidFill>
              </a:rPr>
              <a:t>state09，bus_flag=0</a:t>
            </a:r>
            <a:endParaRPr sz="1000" b="0">
              <a:solidFill>
                <a:srgbClr val="57CC99"/>
              </a:solidFill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6035040" y="1115568"/>
            <a:ext cx="5760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白盒测试技术（FR 4.0）</a:t>
            </a:r>
            <a:endParaRPr sz="1400" b="1">
              <a:solidFill>
                <a:srgbClr val="00B4D8"/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6035040" y="1444752"/>
            <a:ext cx="5760720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26480" y="1463040"/>
            <a:ext cx="5669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④ 状态转移测试（State Transition）— Suite D + E：All-Transitions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6263640" y="1828800"/>
            <a:ext cx="1463040" cy="47548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59" y="188366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state09
(休眠)</a:t>
            </a:r>
            <a:endParaRPr sz="1200" b="1">
              <a:solidFill>
                <a:srgbClr val="0D1B2A"/>
              </a:solidFill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8092440" y="1828800"/>
            <a:ext cx="146304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138160" y="188366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state10
(初始化)</a:t>
            </a:r>
            <a:endParaRPr sz="1200" b="1">
              <a:solidFill>
                <a:srgbClr val="0D1B2A"/>
              </a:solidFill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9921240" y="1828800"/>
            <a:ext cx="1463040" cy="475488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966960" y="188366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state11
(运行)</a:t>
            </a:r>
            <a:endParaRPr sz="1200" b="1">
              <a:solidFill>
                <a:srgbClr val="0D1B2A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623810" y="1938528"/>
            <a:ext cx="749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chemeClr val="bg1"/>
                </a:solidFill>
              </a:rPr>
              <a:t>w有效-&gt;</a:t>
            </a:r>
            <a:endParaRPr sz="1000" b="0">
              <a:solidFill>
                <a:schemeClr val="bg1"/>
              </a:solidFill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9475470" y="1938528"/>
            <a:ext cx="6583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chemeClr val="bg1"/>
                </a:solidFill>
              </a:rPr>
              <a:t>完成-&gt;</a:t>
            </a:r>
            <a:endParaRPr sz="1000" b="0">
              <a:solidFill>
                <a:schemeClr val="bg1"/>
              </a:solidFill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6035040" y="2404872"/>
            <a:ext cx="5760720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126480" y="2423160"/>
            <a:ext cx="5669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5条转移路径（All-Transitions 覆盖准则）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6035040" y="2706624"/>
            <a:ext cx="886968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089903" y="2770632"/>
            <a:ext cx="795528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路径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6949440" y="2706624"/>
            <a:ext cx="1252728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004303" y="2770632"/>
            <a:ext cx="1161288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起始状态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8229600" y="2706624"/>
            <a:ext cx="1252728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284464" y="2770632"/>
            <a:ext cx="1161288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终止状态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9509760" y="2706624"/>
            <a:ext cx="2029968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564624" y="2736342"/>
            <a:ext cx="1938528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触发条件 / 预期结果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6035040" y="3008376"/>
            <a:ext cx="886968" cy="33832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949440" y="3008376"/>
            <a:ext cx="1252728" cy="33832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229600" y="3008376"/>
            <a:ext cx="1252728" cy="33832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509760" y="3008376"/>
            <a:ext cx="2029968" cy="33832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099048" y="3081528"/>
            <a:ext cx="7772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T-001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7013448" y="3081528"/>
            <a:ext cx="1143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state09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8293608" y="3081528"/>
            <a:ext cx="1143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7CC99"/>
                </a:solidFill>
              </a:rPr>
              <a:t>state11</a:t>
            </a:r>
            <a:endParaRPr sz="1100" b="0">
              <a:solidFill>
                <a:srgbClr val="57CC99"/>
              </a:solidFill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9505188" y="3081528"/>
            <a:ext cx="19202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w1有效(9.3V,15ms) → expected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6035040" y="3364992"/>
            <a:ext cx="886968" cy="3383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949440" y="3364992"/>
            <a:ext cx="1252728" cy="3383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229600" y="3364992"/>
            <a:ext cx="1252728" cy="3383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509760" y="3364992"/>
            <a:ext cx="2029968" cy="3383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099048" y="3438144"/>
            <a:ext cx="7772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T-002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7013448" y="3438144"/>
            <a:ext cx="1143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state11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8293608" y="3438144"/>
            <a:ext cx="1143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7CC99"/>
                </a:solidFill>
              </a:rPr>
              <a:t>state09</a:t>
            </a:r>
            <a:endParaRPr sz="1100" b="0">
              <a:solidFill>
                <a:srgbClr val="57CC99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9470898" y="3438144"/>
            <a:ext cx="19202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h1+h2+h3全=1 → expected，bus_flag=0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6035040" y="3721608"/>
            <a:ext cx="886968" cy="33832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949440" y="3721608"/>
            <a:ext cx="1252728" cy="33832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229600" y="3721608"/>
            <a:ext cx="1252728" cy="33832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509760" y="3721608"/>
            <a:ext cx="2029968" cy="33832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099048" y="3794760"/>
            <a:ext cx="7772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T-003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7013448" y="3794760"/>
            <a:ext cx="1143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state11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8293608" y="3794760"/>
            <a:ext cx="1143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</a:rPr>
              <a:t>state11</a:t>
            </a:r>
            <a:endParaRPr sz="1100" b="0">
              <a:solidFill>
                <a:srgbClr val="FFD166"/>
              </a:solidFill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9470898" y="3794760"/>
            <a:ext cx="19202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仅h1+h2=1（缺h3）→ error，不休眠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6035040" y="4078224"/>
            <a:ext cx="886968" cy="3383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949440" y="4078224"/>
            <a:ext cx="1252728" cy="3383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229600" y="4078224"/>
            <a:ext cx="1252728" cy="3383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509760" y="4078224"/>
            <a:ext cx="2029968" cy="3383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099048" y="4151376"/>
            <a:ext cx="7772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T-004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013448" y="4151376"/>
            <a:ext cx="1143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state09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8293608" y="4151376"/>
            <a:ext cx="1143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</a:rPr>
              <a:t>state09</a:t>
            </a:r>
            <a:endParaRPr sz="1100" b="0">
              <a:solidFill>
                <a:srgbClr val="FF6B6B"/>
              </a:solidFill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9493758" y="4151376"/>
            <a:ext cx="19202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w1无效(8.5V) → error，state不变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6035040" y="4434840"/>
            <a:ext cx="886968" cy="33832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49440" y="4434840"/>
            <a:ext cx="1252728" cy="33832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229600" y="4434840"/>
            <a:ext cx="1252728" cy="33832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9509760" y="4434840"/>
            <a:ext cx="2029968" cy="33832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099048" y="4507992"/>
            <a:ext cx="7772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T-005</a:t>
            </a:r>
            <a:endParaRPr sz="1100" b="0">
              <a:solidFill>
                <a:srgbClr val="00B4D8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7013448" y="4507992"/>
            <a:ext cx="1143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state09</a:t>
            </a:r>
            <a:endParaRPr sz="1100" b="0">
              <a:solidFill>
                <a:srgbClr val="90E0EF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8293608" y="4507992"/>
            <a:ext cx="1143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</a:rPr>
              <a:t>state10</a:t>
            </a:r>
            <a:endParaRPr sz="1100" b="0">
              <a:solidFill>
                <a:srgbClr val="FF6B6B"/>
              </a:solidFill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9333738" y="4507992"/>
            <a:ext cx="19202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AD3E0"/>
                </a:solidFill>
              </a:rPr>
              <a:t>连续3次唤醒间隔&lt;1s → stuck，duration超时</a:t>
            </a:r>
            <a:endParaRPr sz="1100" b="0">
              <a:solidFill>
                <a:srgbClr val="CAD3E0"/>
              </a:solidFill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6035040" y="4828032"/>
            <a:ext cx="5760720" cy="27432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126480" y="4846320"/>
            <a:ext cx="5669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白盒覆盖目标汇总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6035040" y="5129784"/>
            <a:ext cx="1572768" cy="256032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089903" y="5136642"/>
            <a:ext cx="14813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覆盖准则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7635240" y="5129784"/>
            <a:ext cx="2304288" cy="256032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690104" y="5148072"/>
            <a:ext cx="22128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对应路径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9966960" y="5129784"/>
            <a:ext cx="1572768" cy="256032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0021824" y="5148072"/>
            <a:ext cx="14813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Suite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77" name="Rectangle 176"/>
          <p:cNvSpPr/>
          <p:nvPr/>
        </p:nvSpPr>
        <p:spPr>
          <a:xfrm>
            <a:off x="6035040" y="5385816"/>
            <a:ext cx="1572768" cy="29260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635240" y="5385816"/>
            <a:ext cx="2304288" cy="29260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966960" y="5385816"/>
            <a:ext cx="1572768" cy="29260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080759" y="5449824"/>
            <a:ext cx="14996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CC99"/>
                </a:solidFill>
              </a:rPr>
              <a:t>All-States</a:t>
            </a:r>
            <a:endParaRPr sz="1000" b="0">
              <a:solidFill>
                <a:srgbClr val="57CC99"/>
              </a:solidFill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7680960" y="5449824"/>
            <a:ext cx="22311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AD3E0"/>
                </a:solidFill>
              </a:rPr>
              <a:t>state09/10/11 三状态全覆盖</a:t>
            </a:r>
            <a:endParaRPr sz="1000" b="0">
              <a:solidFill>
                <a:srgbClr val="CAD3E0"/>
              </a:solidFill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10012680" y="5449824"/>
            <a:ext cx="14996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B4D8"/>
                </a:solidFill>
              </a:rPr>
              <a:t>Suite D</a:t>
            </a:r>
            <a:endParaRPr sz="1000" b="0">
              <a:solidFill>
                <a:srgbClr val="00B4D8"/>
              </a:solidFill>
            </a:endParaRPr>
          </a:p>
        </p:txBody>
      </p:sp>
      <p:sp>
        <p:nvSpPr>
          <p:cNvPr id="183" name="Rectangle 182"/>
          <p:cNvSpPr/>
          <p:nvPr/>
        </p:nvSpPr>
        <p:spPr>
          <a:xfrm>
            <a:off x="6035040" y="5696712"/>
            <a:ext cx="1572768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7635240" y="5696712"/>
            <a:ext cx="2304288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966960" y="5696712"/>
            <a:ext cx="1572768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080759" y="5760720"/>
            <a:ext cx="14996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CC99"/>
                </a:solidFill>
              </a:rPr>
              <a:t>All-Transitions</a:t>
            </a:r>
            <a:endParaRPr sz="1000" b="0">
              <a:solidFill>
                <a:srgbClr val="57CC99"/>
              </a:solidFill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7680960" y="5760720"/>
            <a:ext cx="22311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AD3E0"/>
                </a:solidFill>
              </a:rPr>
              <a:t>T-001~T-005 五条路径全覆盖</a:t>
            </a:r>
            <a:endParaRPr sz="1000" b="0">
              <a:solidFill>
                <a:srgbClr val="CAD3E0"/>
              </a:solidFill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10012680" y="5760720"/>
            <a:ext cx="14996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B4D8"/>
                </a:solidFill>
              </a:rPr>
              <a:t>Suite D+E</a:t>
            </a:r>
            <a:endParaRPr sz="1000" b="0">
              <a:solidFill>
                <a:srgbClr val="00B4D8"/>
              </a:solidFill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6035040" y="6007607"/>
            <a:ext cx="1572768" cy="29260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635240" y="6007607"/>
            <a:ext cx="2304288" cy="29260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966960" y="6007607"/>
            <a:ext cx="1572768" cy="292608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080759" y="6071616"/>
            <a:ext cx="14996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0E0EF"/>
                </a:solidFill>
              </a:rPr>
              <a:t>Branch Coverage</a:t>
            </a:r>
            <a:endParaRPr sz="1000" b="0">
              <a:solidFill>
                <a:srgbClr val="90E0EF"/>
              </a:solidFill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7680960" y="6071616"/>
            <a:ext cx="22311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AD3E0"/>
                </a:solidFill>
              </a:rPr>
              <a:t>7路唤醒 × 有效/无效 分支</a:t>
            </a:r>
            <a:endParaRPr sz="1000" b="0">
              <a:solidFill>
                <a:srgbClr val="CAD3E0"/>
              </a:solidFill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10012680" y="6071616"/>
            <a:ext cx="14996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B4D8"/>
                </a:solidFill>
              </a:rPr>
              <a:t>Suite A</a:t>
            </a:r>
            <a:endParaRPr sz="1000" b="0">
              <a:solidFill>
                <a:srgbClr val="00B4D8"/>
              </a:solidFill>
            </a:endParaRPr>
          </a:p>
        </p:txBody>
      </p:sp>
      <p:sp>
        <p:nvSpPr>
          <p:cNvPr id="195" name="Rectangle 194"/>
          <p:cNvSpPr/>
          <p:nvPr/>
        </p:nvSpPr>
        <p:spPr>
          <a:xfrm>
            <a:off x="6035040" y="6318504"/>
            <a:ext cx="1572768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635240" y="6318504"/>
            <a:ext cx="2304288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966960" y="6318504"/>
            <a:ext cx="1572768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080759" y="6382512"/>
            <a:ext cx="14996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6B6B"/>
                </a:solidFill>
              </a:rPr>
              <a:t>Stuck Path</a:t>
            </a:r>
            <a:endParaRPr sz="1000" b="0">
              <a:solidFill>
                <a:srgbClr val="FF6B6B"/>
              </a:solidFill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7680960" y="6382512"/>
            <a:ext cx="22311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AD3E0"/>
                </a:solidFill>
              </a:rPr>
              <a:t>T-005 卡死缺陷专项路径</a:t>
            </a:r>
            <a:endParaRPr sz="1000" b="0">
              <a:solidFill>
                <a:srgbClr val="CAD3E0"/>
              </a:solidFill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10012680" y="6382512"/>
            <a:ext cx="14996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B4D8"/>
                </a:solidFill>
              </a:rPr>
              <a:t>Suite E</a:t>
            </a:r>
            <a:endParaRPr sz="1000" b="0">
              <a:solidFill>
                <a:srgbClr val="00B4D8"/>
              </a:solidFill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488315" y="6076315"/>
            <a:ext cx="5052695" cy="6616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300"/>
              </a:spcBef>
            </a:pPr>
            <a:r>
              <a:rPr lang="zh-CN" sz="1100" b="1">
                <a:solidFill>
                  <a:schemeClr val="bg1"/>
                </a:solidFill>
              </a:rPr>
              <a:t>非功能性测试</a:t>
            </a:r>
            <a:r>
              <a:rPr lang="en-US" altLang="zh-CN" sz="1100" b="1">
                <a:solidFill>
                  <a:schemeClr val="bg1"/>
                </a:solidFill>
              </a:rPr>
              <a:t>：</a:t>
            </a:r>
            <a:r>
              <a:rPr sz="1100" b="1">
                <a:solidFill>
                  <a:schemeClr val="bg1"/>
                </a:solidFill>
              </a:rPr>
              <a:t>actual_duration ≤ 20s；跨10次分析 duration 趋势，检测性能退化；power_current &gt; 0.2A 为功耗异常指标</a:t>
            </a:r>
            <a:endParaRPr sz="11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90055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我们的疑问</a:t>
            </a:r>
            <a:endParaRPr sz="27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44200" y="201168"/>
            <a:ext cx="114300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62488" y="219456"/>
            <a:ext cx="110642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2026.05.21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02920" cy="2377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5" y="2103120"/>
            <a:ext cx="4297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</a:rPr>
              <a:t>Q1</a:t>
            </a:r>
            <a:endParaRPr sz="1800" b="1">
              <a:solidFill>
                <a:srgbClr val="0D1B2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1188720"/>
            <a:ext cx="5120640" cy="237744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16736"/>
            <a:ext cx="4937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被测对象的选择是否合适？</a:t>
            </a:r>
            <a:endParaRPr sz="1400" b="1">
              <a:solidFill>
                <a:srgbClr val="00B4D8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1719072"/>
            <a:ext cx="49194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VCU 仿真器基于北汽真实 HIL 数据库重建，包含真实记录的 state10 卡死缺陷（0319文档）。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与 web app 等相比，这类嵌入式 SIL 仿真目标是否符合 Assignment 对「自选目标应用」的要求？</a:t>
            </a:r>
            <a:endParaRPr sz="1200" b="0">
              <a:solidFill>
                <a:srgbClr val="CAD3E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502920" cy="23774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216" y="2103120"/>
            <a:ext cx="4297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</a:rPr>
              <a:t>Q2</a:t>
            </a:r>
            <a:endParaRPr sz="1800" b="1">
              <a:solidFill>
                <a:srgbClr val="0D1B2A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766559" y="1188720"/>
            <a:ext cx="5120640" cy="237744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316736"/>
            <a:ext cx="365442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  <a:sym typeface="+mn-ea"/>
              </a:rPr>
              <a:t>GAN 在项目中如何归类，对评分有贡献吗？</a:t>
            </a:r>
            <a:endParaRPr sz="1400" b="1">
              <a:solidFill>
                <a:srgbClr val="FFD166"/>
              </a:solidFill>
            </a:endParaRPr>
          </a:p>
          <a:p>
            <a:pPr algn="l"/>
            <a:endParaRPr sz="1400" b="1">
              <a:solidFill>
                <a:srgbClr val="FFD166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0" y="1719072"/>
            <a:ext cx="4919472" cy="868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AD3E0"/>
                </a:solidFill>
                <a:sym typeface="+mn-ea"/>
              </a:rPr>
              <a:t>GAN 生成 CC2 电压时序数据，它是测试数据生成工具，不是 ISO 29119-4 定义的黑盒/白盒技术。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AD3E0"/>
                </a:solidFill>
                <a:sym typeface="+mn-ea"/>
              </a:rPr>
              <a:t>请问 GAN 应归入 FR 3.0（测试用例生成）还是 FR 7.0（测试套优化）？对哪个评分项有实质贡献？</a:t>
            </a:r>
            <a:endParaRPr sz="1200" b="0">
              <a:solidFill>
                <a:srgbClr val="CAD3E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0040" y="3703320"/>
            <a:ext cx="502920" cy="2377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5" y="4617720"/>
            <a:ext cx="4297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</a:rPr>
              <a:t>Q3</a:t>
            </a:r>
            <a:endParaRPr sz="1800" b="1">
              <a:solidFill>
                <a:srgbClr val="0D1B2A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2960" y="3703320"/>
            <a:ext cx="5120640" cy="237744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31335"/>
            <a:ext cx="4937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6B6B"/>
                </a:solidFill>
              </a:rPr>
              <a:t>两轮模糊测试反馈机制对应 FR 7.0 吗？</a:t>
            </a:r>
            <a:endParaRPr sz="1400" b="1">
              <a:solidFill>
                <a:srgbClr val="FF6B6B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4233672"/>
            <a:ext cx="49194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我们实现了：第一轮发现 new_state → 存库 → 第二轮 based_new_state_fuzz 变异再测。</a:t>
            </a:r>
            <a:endParaRPr sz="1200" b="0">
              <a:solidFill>
                <a:srgbClr val="CAD3E0"/>
              </a:solidFill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AD3E0"/>
                </a:solidFill>
              </a:rPr>
              <a:t>这是否满足 FR 7.0「Test Suite Optimization based on risk or coverage efficiency」的要求？</a:t>
            </a:r>
            <a:endParaRPr sz="1200" b="0">
              <a:solidFill>
                <a:srgbClr val="CAD3E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00216" y="4617720"/>
            <a:ext cx="4297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</a:rPr>
              <a:t>Q4</a:t>
            </a:r>
            <a:endParaRPr sz="1800" b="1">
              <a:solidFill>
                <a:srgbClr val="0D1B2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6365</Words>
  <Application>WPS 演示</Application>
  <PresentationFormat>On-screen Show (4:3)</PresentationFormat>
  <Paragraphs>741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蝶雨轩</cp:lastModifiedBy>
  <cp:revision>13</cp:revision>
  <dcterms:created xsi:type="dcterms:W3CDTF">2026-05-21T03:24:58Z</dcterms:created>
  <dcterms:modified xsi:type="dcterms:W3CDTF">2026-05-21T03:24:58Z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63C1B98DFE9A97F756690E6AE124454F_43</vt:lpwstr>
  </property>
</Properties>
</file>