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7395" r:id="rId3"/>
    <p:sldId id="7396" r:id="rId4"/>
    <p:sldId id="7398" r:id="rId5"/>
    <p:sldId id="7397" r:id="rId6"/>
    <p:sldId id="7399" r:id="rId7"/>
    <p:sldId id="7405" r:id="rId8"/>
    <p:sldId id="7401" r:id="rId9"/>
    <p:sldId id="7402" r:id="rId10"/>
    <p:sldId id="7403" r:id="rId11"/>
    <p:sldId id="7404" r:id="rId12"/>
    <p:sldId id="7400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7A7A7">
              <a:alpha val="100000"/>
            </a:srgbClr>
          </p15:clr>
        </p15:guide>
        <p15:guide id="2" orient="horz" pos="2156" userDrawn="1">
          <p15:clr>
            <a:srgbClr val="A7A7A7">
              <a:alpha val="100000"/>
            </a:srgbClr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D79"/>
    <a:srgbClr val="EBC6FF"/>
    <a:srgbClr val="FBE5D6"/>
    <a:srgbClr val="E8F1F9"/>
    <a:srgbClr val="5B9BD5"/>
    <a:srgbClr val="002F7C"/>
    <a:srgbClr val="548235"/>
    <a:srgbClr val="A9D18E"/>
    <a:srgbClr val="F2F8EE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8"/>
    <p:restoredTop sz="87216"/>
  </p:normalViewPr>
  <p:slideViewPr>
    <p:cSldViewPr snapToGrid="0" showGuides="1">
      <p:cViewPr varScale="1">
        <p:scale>
          <a:sx n="75" d="100"/>
          <a:sy n="75" d="100"/>
        </p:scale>
        <p:origin x="974" y="53"/>
      </p:cViewPr>
      <p:guideLst>
        <p:guide pos="3840"/>
        <p:guide orient="horz" pos="21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39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3710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44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48FBD87-ED0B-4F60-AF3B-0E0AD33A4811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45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6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zh-CN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2B735B0-1E6B-4AAE-9ED6-3DBCB2AC5596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2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29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30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4CEC58E8-DACA-4BE6-B257-D83C916C4624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31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</a:p>
        </p:txBody>
      </p:sp>
      <p:sp>
        <p:nvSpPr>
          <p:cNvPr id="36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37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</a:p>
        </p:txBody>
      </p:sp>
      <p:sp>
        <p:nvSpPr>
          <p:cNvPr id="38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39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03D01A9-6636-4B38-8357-40A6314F4E6C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40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1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7DA814-644F-4697-8FE5-46D4A0F5BBB0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49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50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</a:p>
        </p:txBody>
      </p:sp>
      <p:sp>
        <p:nvSpPr>
          <p:cNvPr id="5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5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</a:p>
        </p:txBody>
      </p:sp>
      <p:sp>
        <p:nvSpPr>
          <p:cNvPr id="5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56C93E30-C61A-46BA-B565-F0C97AF8078C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5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5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zh-CN"/>
          </a:p>
        </p:txBody>
      </p:sp>
      <p:sp>
        <p:nvSpPr>
          <p:cNvPr id="61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</a:p>
        </p:txBody>
      </p:sp>
      <p:sp>
        <p:nvSpPr>
          <p:cNvPr id="62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B927E94-0A4D-435C-8398-A30004961C83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63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4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67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68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6D6CCCE-95A5-42F6-9454-C73F14042C7C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69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70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16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5B82C61-D909-45A3-BA4D-6D6580355498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18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19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/>
              <a:t>2025/4/1</a:t>
            </a:fld>
            <a:endParaRPr lang="zh-CN" altLang="en-US"/>
          </a:p>
        </p:txBody>
      </p:sp>
      <p:sp>
        <p:nvSpPr>
          <p:cNvPr id="8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6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1">
            <a:extLst>
              <a:ext uri="{FF2B5EF4-FFF2-40B4-BE49-F238E27FC236}">
                <a16:creationId xmlns:a16="http://schemas.microsoft.com/office/drawing/2014/main" id="{3808AE17-2607-7C19-1213-2EA653410A6B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D557A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84285"/>
            <a:ext cx="10515600" cy="593431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r>
              <a:rPr lang="zh-CN" dirty="0"/>
              <a:t>单击此处编辑母版标题样式</a:t>
            </a:r>
            <a:endParaRPr lang="zh-CN" sz="4400" b="1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007918"/>
            <a:ext cx="10515600" cy="516904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05A1-66A8-41B4-8500-45B6E353A19E}" type="datetime1">
              <a:rPr lang="zh-CN" altLang="en-US"/>
              <a:t>2025/4/1</a:t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56F41-8DED-4DE8-A16A-5912936214B6}" type="slidenum">
              <a:rPr/>
              <a:t>‹#›</a:t>
            </a:fld>
            <a:endParaRPr lang="zh-CN" altLang="zh-CN"/>
          </a:p>
        </p:txBody>
      </p:sp>
      <p:pic>
        <p:nvPicPr>
          <p:cNvPr id="8" name="Picture 6" descr="D:\MBA工作\LOGO\同济经管LOGO反白.png">
            <a:extLst>
              <a:ext uri="{FF2B5EF4-FFF2-40B4-BE49-F238E27FC236}">
                <a16:creationId xmlns:a16="http://schemas.microsoft.com/office/drawing/2014/main" id="{E5AE5BE4-6081-BFBA-D852-EC5C93169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email"/>
          <a:srcRect t="17140" b="17140"/>
          <a:stretch>
            <a:fillRect/>
          </a:stretch>
        </p:blipFill>
        <p:spPr bwMode="auto">
          <a:xfrm>
            <a:off x="9857602" y="84285"/>
            <a:ext cx="1777376" cy="59343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74" r:id="rId10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lang="zh-CN" sz="4000" b="0">
          <a:solidFill>
            <a:schemeClr val="bg1"/>
          </a:solidFill>
          <a:latin typeface="微软雅黑" panose="020B0503020204020204" charset="-122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图片 7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734"/>
            <a:ext cx="12192000" cy="4465320"/>
          </a:xfrm>
          <a:prstGeom prst="rect">
            <a:avLst/>
          </a:prstGeom>
        </p:spPr>
      </p:pic>
      <p:sp>
        <p:nvSpPr>
          <p:cNvPr id="731" name="矩形 730"/>
          <p:cNvSpPr/>
          <p:nvPr/>
        </p:nvSpPr>
        <p:spPr>
          <a:xfrm>
            <a:off x="-14910" y="0"/>
            <a:ext cx="12221820" cy="1896028"/>
          </a:xfrm>
          <a:prstGeom prst="rect">
            <a:avLst/>
          </a:prstGeom>
          <a:gradFill rotWithShape="1">
            <a:gsLst>
              <a:gs pos="0">
                <a:srgbClr val="FFF2CC">
                  <a:alpha val="0"/>
                </a:srgbClr>
              </a:gs>
              <a:gs pos="100000">
                <a:srgbClr val="0C1F5E">
                  <a:alpha val="70000"/>
                </a:srgbClr>
              </a:gs>
            </a:gsLst>
            <a:lin ang="16200000" scaled="1"/>
          </a:gradFill>
          <a:ln w="0"/>
          <a:effectLst>
            <a:glow>
              <a:srgbClr val="0E0E0E">
                <a:alpha val="100000"/>
              </a:srgbClr>
            </a:glow>
            <a:outerShdw blurRad="447929" sx="0" sy="0" rotWithShape="0">
              <a:srgbClr val="000000">
                <a:alpha val="53000"/>
              </a:srgbClr>
            </a:outerShdw>
          </a:effec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2" name="矩形 731"/>
          <p:cNvSpPr/>
          <p:nvPr/>
        </p:nvSpPr>
        <p:spPr>
          <a:xfrm>
            <a:off x="6211" y="4331954"/>
            <a:ext cx="12192000" cy="1226157"/>
          </a:xfrm>
          <a:prstGeom prst="rect">
            <a:avLst/>
          </a:prstGeom>
          <a:solidFill>
            <a:srgbClr val="132D79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3" name="标题 1"/>
          <p:cNvSpPr>
            <a:spLocks noGrp="1"/>
          </p:cNvSpPr>
          <p:nvPr>
            <p:ph type="ctrTitle"/>
          </p:nvPr>
        </p:nvSpPr>
        <p:spPr>
          <a:xfrm>
            <a:off x="0" y="4149484"/>
            <a:ext cx="12169775" cy="1401686"/>
          </a:xfrm>
          <a:prstGeom prst="rect">
            <a:avLst/>
          </a:prstGeom>
          <a:solidFill>
            <a:srgbClr val="132D79">
              <a:alpha val="100000"/>
            </a:srgbClr>
          </a:solidFill>
        </p:spPr>
        <p:txBody>
          <a:bodyPr lIns="251968" anchor="ctr">
            <a:normAutofit/>
          </a:bodyPr>
          <a:lstStyle/>
          <a:p>
            <a:pPr marL="107950" indent="0" algn="l" defTabSz="9144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chemeClr val="bg1">
                    <a:alpha val="100000"/>
                  </a:schemeClr>
                </a:solidFill>
                <a:effectLst>
                  <a:outerShdw blurRad="76200" dist="50800" algn="l" rotWithShape="0">
                    <a:srgbClr val="000000">
                      <a:alpha val="40000"/>
                    </a:srgbClr>
                  </a:outerShdw>
                </a:effectLst>
              </a:rPr>
              <a:t>同济</a:t>
            </a:r>
            <a:r>
              <a:rPr lang="en-US" altLang="zh-CN" sz="4800" b="1" dirty="0">
                <a:solidFill>
                  <a:schemeClr val="bg1">
                    <a:alpha val="100000"/>
                  </a:schemeClr>
                </a:solidFill>
                <a:effectLst>
                  <a:outerShdw blurRad="76200" dist="50800" algn="l" rotWithShape="0">
                    <a:srgbClr val="000000">
                      <a:alpha val="40000"/>
                    </a:srgbClr>
                  </a:outerShdw>
                </a:effectLst>
              </a:rPr>
              <a:t>-</a:t>
            </a:r>
            <a:r>
              <a:rPr lang="zh-CN" altLang="en-US" sz="4800" b="1" dirty="0">
                <a:solidFill>
                  <a:schemeClr val="bg1">
                    <a:alpha val="100000"/>
                  </a:schemeClr>
                </a:solidFill>
                <a:effectLst>
                  <a:outerShdw blurRad="76200" dist="50800" algn="l" rotWithShape="0">
                    <a:srgbClr val="000000">
                      <a:alpha val="40000"/>
                    </a:srgbClr>
                  </a:outerShdw>
                </a:effectLst>
              </a:rPr>
              <a:t>北汽研究合作交流</a:t>
            </a:r>
            <a:endParaRPr lang="zh-CN" sz="4800" b="1" dirty="0">
              <a:solidFill>
                <a:schemeClr val="bg1">
                  <a:alpha val="100000"/>
                </a:schemeClr>
              </a:solidFill>
              <a:effectLst>
                <a:outerShdw blurRad="76200" dist="50800" algn="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735" name="直接箭头连接符 734"/>
          <p:cNvCxnSpPr/>
          <p:nvPr/>
        </p:nvCxnSpPr>
        <p:spPr>
          <a:xfrm>
            <a:off x="482773" y="698093"/>
            <a:ext cx="11623293" cy="0"/>
          </a:xfrm>
          <a:prstGeom prst="straightConnector1">
            <a:avLst/>
          </a:prstGeom>
          <a:ln w="76200">
            <a:solidFill>
              <a:srgbClr val="132D79">
                <a:alpha val="100000"/>
              </a:srgbClr>
            </a:solidFill>
            <a:prstDash val="solid"/>
          </a:ln>
        </p:spPr>
      </p:cxnSp>
      <p:pic>
        <p:nvPicPr>
          <p:cNvPr id="736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4" cstate="email"/>
          <a:srcRect t="17140" b="17140"/>
          <a:stretch>
            <a:fillRect/>
          </a:stretch>
        </p:blipFill>
        <p:spPr bwMode="auto">
          <a:xfrm>
            <a:off x="8845836" y="4405103"/>
            <a:ext cx="2551849" cy="879180"/>
          </a:xfrm>
          <a:prstGeom prst="rect">
            <a:avLst/>
          </a:prstGeom>
          <a:noFill/>
        </p:spPr>
      </p:pic>
      <p:graphicFrame>
        <p:nvGraphicFramePr>
          <p:cNvPr id="737" name="表格 736"/>
          <p:cNvGraphicFramePr/>
          <p:nvPr>
            <p:extLst>
              <p:ext uri="{D42A27DB-BD31-4B8C-83A1-F6EECF244321}">
                <p14:modId xmlns:p14="http://schemas.microsoft.com/office/powerpoint/2010/main" val="4018023009"/>
              </p:ext>
            </p:extLst>
          </p:nvPr>
        </p:nvGraphicFramePr>
        <p:xfrm>
          <a:off x="349110" y="5612075"/>
          <a:ext cx="8185289" cy="1053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algn="dist">
                        <a:lnSpc>
                          <a:spcPct val="130000"/>
                        </a:lnSpc>
                      </a:pPr>
                      <a:r>
                        <a:rPr lang="zh-CN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负责人：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altLang="en-US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刘琴、黄凯锋</a:t>
                      </a:r>
                      <a:endParaRPr lang="zh-CN" sz="2400" b="1" dirty="0">
                        <a:solidFill>
                          <a:schemeClr val="tx1">
                            <a:alpha val="10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dist">
                        <a:lnSpc>
                          <a:spcPct val="130000"/>
                        </a:lnSpc>
                      </a:pPr>
                      <a:r>
                        <a:rPr lang="zh-CN" altLang="en-US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单位</a:t>
                      </a:r>
                      <a:r>
                        <a:rPr lang="zh-CN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同济大学</a:t>
                      </a:r>
                      <a:r>
                        <a:rPr lang="zh-CN" altLang="en-US" sz="2400" b="1" dirty="0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计算机科学与技术学院</a:t>
                      </a:r>
                      <a:endParaRPr lang="zh-CN" sz="2400" b="1" dirty="0">
                        <a:solidFill>
                          <a:schemeClr val="tx1">
                            <a:alpha val="10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CD5B-C2A1-D777-78E4-7F31F05D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65834"/>
            <a:ext cx="10515600" cy="593431"/>
          </a:xfrm>
        </p:spPr>
        <p:txBody>
          <a:bodyPr/>
          <a:lstStyle/>
          <a:p>
            <a:r>
              <a:rPr lang="en-CN" sz="3600" dirty="0"/>
              <a:t>模糊测试技术方案</a:t>
            </a:r>
            <a:r>
              <a:rPr lang="en-US" altLang="zh-CN" sz="3600" dirty="0"/>
              <a:t>-</a:t>
            </a:r>
            <a:r>
              <a:rPr lang="zh-CN" altLang="en-US" sz="3600" dirty="0"/>
              <a:t>以</a:t>
            </a:r>
            <a:r>
              <a:rPr lang="en-US" altLang="zh-CN" sz="3600" dirty="0"/>
              <a:t>VCU</a:t>
            </a:r>
            <a:r>
              <a:rPr lang="zh-CN" altLang="en-US" sz="3600" dirty="0"/>
              <a:t>为例</a:t>
            </a:r>
            <a:endParaRPr lang="en-C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69E5-D1E2-507A-5F76-3BF30ED86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953488"/>
            <a:ext cx="10515600" cy="5838678"/>
          </a:xfrm>
        </p:spPr>
        <p:txBody>
          <a:bodyPr>
            <a:normAutofit fontScale="92500"/>
          </a:bodyPr>
          <a:lstStyle/>
          <a:p>
            <a:r>
              <a:rPr lang="en-CN" sz="2000" b="1" dirty="0"/>
              <a:t>被测对象</a:t>
            </a:r>
            <a:r>
              <a:rPr lang="zh-CN" altLang="en-US" sz="2000" b="1" dirty="0"/>
              <a:t>： </a:t>
            </a:r>
            <a:r>
              <a:rPr lang="en-US" altLang="zh-CN" sz="2000" dirty="0"/>
              <a:t>VCU</a:t>
            </a:r>
          </a:p>
          <a:p>
            <a:r>
              <a:rPr lang="zh-CN" altLang="en-US" sz="2000" b="1" dirty="0"/>
              <a:t>功能：</a:t>
            </a:r>
            <a:endParaRPr lang="en-US" altLang="zh-CN" sz="2000" b="1" dirty="0"/>
          </a:p>
          <a:p>
            <a:pPr lvl="1"/>
            <a:r>
              <a:rPr lang="zh-CN" altLang="en-US" sz="1800" dirty="0"/>
              <a:t>唤醒</a:t>
            </a:r>
            <a:endParaRPr lang="en-US" altLang="zh-CN" sz="1800" dirty="0"/>
          </a:p>
          <a:p>
            <a:pPr lvl="1"/>
            <a:r>
              <a:rPr lang="zh-CN" altLang="en-US" sz="1800" dirty="0"/>
              <a:t>休眠</a:t>
            </a:r>
            <a:endParaRPr lang="en-US" altLang="zh-CN" sz="1800" dirty="0"/>
          </a:p>
          <a:p>
            <a:pPr lvl="1"/>
            <a:r>
              <a:rPr lang="en-US" altLang="zh-CN" sz="1800" dirty="0"/>
              <a:t>…</a:t>
            </a:r>
          </a:p>
          <a:p>
            <a:pPr lvl="1"/>
            <a:endParaRPr lang="en-US" altLang="zh-CN" sz="2000" dirty="0"/>
          </a:p>
          <a:p>
            <a:r>
              <a:rPr lang="en-US" sz="2000" b="1" dirty="0" err="1"/>
              <a:t>输入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lvl="1"/>
            <a:r>
              <a:rPr lang="zh-CN" altLang="en-US" sz="1800" dirty="0"/>
              <a:t>唤醒触发条件、休眠触发条件、</a:t>
            </a:r>
            <a:r>
              <a:rPr lang="zh-CN" altLang="en-US" sz="1800" b="1" dirty="0">
                <a:solidFill>
                  <a:srgbClr val="C00000"/>
                </a:solidFill>
              </a:rPr>
              <a:t>其他输入信号</a:t>
            </a:r>
            <a:r>
              <a:rPr lang="zh-CN" altLang="en-US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（还有哪些输入信号变量待明确）</a:t>
            </a:r>
            <a:endParaRPr lang="en-US" altLang="zh-CN" sz="18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r>
              <a:rPr lang="zh-CN" altLang="en-US" sz="2000" b="1" dirty="0"/>
              <a:t>输出：</a:t>
            </a:r>
            <a:endParaRPr lang="en-US" altLang="zh-CN" sz="2000" b="1" dirty="0"/>
          </a:p>
          <a:p>
            <a:pPr lvl="1"/>
            <a:r>
              <a:rPr lang="en-US" altLang="zh-CN" sz="1800" dirty="0"/>
              <a:t>State</a:t>
            </a:r>
            <a:r>
              <a:rPr lang="zh-CN" altLang="en-US" sz="1800" dirty="0"/>
              <a:t>状态、标识位、</a:t>
            </a:r>
            <a:r>
              <a:rPr lang="zh-CN" altLang="en-US" sz="1800" b="1" dirty="0">
                <a:solidFill>
                  <a:srgbClr val="C00000"/>
                </a:solidFill>
              </a:rPr>
              <a:t>侧信道（信号变化的时间差）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r>
              <a:rPr lang="zh-CN" altLang="en-US" sz="2000" b="1" dirty="0"/>
              <a:t>模糊测试基本思路：</a:t>
            </a:r>
            <a:r>
              <a:rPr lang="zh-CN" altLang="en-US" sz="2000" dirty="0"/>
              <a:t>向</a:t>
            </a:r>
            <a:r>
              <a:rPr lang="en-US" altLang="zh-CN" sz="2000" dirty="0"/>
              <a:t>VCU</a:t>
            </a:r>
            <a:r>
              <a:rPr lang="zh-CN" altLang="en-US" sz="2000" dirty="0"/>
              <a:t>不断加入</a:t>
            </a:r>
            <a:r>
              <a:rPr lang="zh-CN" altLang="en-US" sz="2000" b="1" dirty="0">
                <a:solidFill>
                  <a:srgbClr val="C00000"/>
                </a:solidFill>
              </a:rPr>
              <a:t>输入</a:t>
            </a:r>
            <a:r>
              <a:rPr lang="zh-CN" altLang="en-US" sz="2000" dirty="0"/>
              <a:t>信号，切换</a:t>
            </a:r>
            <a:r>
              <a:rPr lang="en-US" altLang="zh-CN" sz="2000" dirty="0"/>
              <a:t>VCU</a:t>
            </a:r>
            <a:r>
              <a:rPr lang="zh-CN" altLang="en-US" sz="2000" b="1" dirty="0">
                <a:solidFill>
                  <a:srgbClr val="C00000"/>
                </a:solidFill>
              </a:rPr>
              <a:t>功能</a:t>
            </a:r>
            <a:r>
              <a:rPr lang="zh-CN" altLang="en-US" sz="2000" dirty="0"/>
              <a:t>，通过</a:t>
            </a:r>
            <a:r>
              <a:rPr lang="zh-CN" altLang="en-US" sz="2000" b="1" dirty="0">
                <a:solidFill>
                  <a:srgbClr val="C00000"/>
                </a:solidFill>
              </a:rPr>
              <a:t>输出</a:t>
            </a:r>
            <a:r>
              <a:rPr lang="zh-CN" altLang="en-US" sz="2000" dirty="0"/>
              <a:t>信号，识别新的异常状态，引导模糊测试</a:t>
            </a:r>
            <a:r>
              <a:rPr lang="zh-CN" altLang="en-US" sz="2000" b="1" dirty="0">
                <a:solidFill>
                  <a:srgbClr val="C00000"/>
                </a:solidFill>
              </a:rPr>
              <a:t>输入</a:t>
            </a:r>
            <a:r>
              <a:rPr lang="zh-CN" altLang="en-US" sz="2000" dirty="0"/>
              <a:t>信号的选择和生成</a:t>
            </a:r>
            <a:endParaRPr lang="en-US" altLang="zh-CN" sz="2000" dirty="0"/>
          </a:p>
          <a:p>
            <a:r>
              <a:rPr lang="zh-CN" altLang="en-US" sz="2000" b="1" dirty="0"/>
              <a:t>前提条件：</a:t>
            </a:r>
            <a:r>
              <a:rPr lang="zh-CN" altLang="en-US" sz="2000" dirty="0"/>
              <a:t>输入信号的输入，输出信号的采集属于工程落地细节，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需明确是否由北汽提供接口</a:t>
            </a:r>
            <a:endParaRPr lang="en-US" altLang="zh-CN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endParaRPr lang="en-US" altLang="zh-CN" sz="1800" dirty="0"/>
          </a:p>
          <a:p>
            <a:pPr lvl="2"/>
            <a:endParaRPr lang="en-C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7DADA-A610-A174-531C-E4B3B156D4AC}"/>
              </a:ext>
            </a:extLst>
          </p:cNvPr>
          <p:cNvSpPr txBox="1"/>
          <p:nvPr/>
        </p:nvSpPr>
        <p:spPr>
          <a:xfrm>
            <a:off x="5735340" y="865567"/>
            <a:ext cx="5745484" cy="2387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b="1" dirty="0"/>
              <a:t>唤醒触发条件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w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PDCU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唤醒电供电电压大于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持续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ms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以上（硬线唤醒）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w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CAN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总线上有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x400~0x47F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的网络管理报文 （网络唤醒）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w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CP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信号有上升沿有效的边沿唤醒，识别到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以上的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PWM/ADC</a:t>
            </a:r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硬线唤醒）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w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CC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信号有下降沿有效的边沿唤醒，识别到低于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4.4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的下降沿（硬线唤醒）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w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CC2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信号有下降沿有效的边沿唤醒，识别到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UBR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电压的下降沿（硬线唤醒）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w</a:t>
            </a:r>
            <a:r>
              <a:rPr lang="en-US" altLang="zh-CN" sz="1200" baseline="-25000" dirty="0">
                <a:solidFill>
                  <a:srgbClr val="000000"/>
                </a:solidFill>
                <a:effectLst/>
                <a:latin typeface="Helvetica" pitchFamily="2" charset="0"/>
              </a:rPr>
              <a:t>6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口盖有高有效的电平信号，电压大于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持续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硬线唤醒）</a:t>
            </a:r>
            <a:endParaRPr lang="en-US" altLang="zh-CN" sz="12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w</a:t>
            </a:r>
            <a:r>
              <a:rPr lang="en-US" altLang="zh-CN" sz="1200" baseline="-25000" dirty="0">
                <a:solidFill>
                  <a:srgbClr val="000000"/>
                </a:solidFill>
                <a:effectLst/>
                <a:latin typeface="Helvetica" pitchFamily="2" charset="0"/>
              </a:rPr>
              <a:t>7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: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门板有低有效的电平信号，电压小于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持续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ms</a:t>
            </a:r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硬线唤醒）</a:t>
            </a:r>
          </a:p>
          <a:p>
            <a:endParaRPr lang="en-C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2C91F-8916-E610-C084-D10333D6CDB4}"/>
              </a:ext>
            </a:extLst>
          </p:cNvPr>
          <p:cNvSpPr txBox="1"/>
          <p:nvPr/>
        </p:nvSpPr>
        <p:spPr>
          <a:xfrm>
            <a:off x="5735340" y="2938545"/>
            <a:ext cx="5814412" cy="11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b="1" dirty="0"/>
              <a:t>休眠唤醒条件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h</a:t>
            </a:r>
            <a:r>
              <a:rPr lang="en-US" altLang="zh-CN" sz="1200" baseline="-25000" dirty="0">
                <a:solidFill>
                  <a:srgbClr val="000000"/>
                </a:solidFill>
                <a:effectLst/>
                <a:latin typeface="Helvetica" pitchFamily="2" charset="0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: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无功能需求标志位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VCUO_bDIAG_VCUIdle_flg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为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（唤醒源消失后此信号置位）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h</a:t>
            </a:r>
            <a:r>
              <a:rPr lang="en-US" altLang="zh-CN" sz="1200" baseline="-25000" dirty="0">
                <a:solidFill>
                  <a:srgbClr val="000000"/>
                </a:solidFill>
                <a:effectLst/>
                <a:latin typeface="Helvetica" pitchFamily="2" charset="0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Helvetica" pitchFamily="2" charset="0"/>
              </a:rPr>
              <a:t>: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动力防盗允许下电标志位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VCUO_bDIAG_AuthComplete_flg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为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h</a:t>
            </a:r>
            <a:r>
              <a:rPr lang="en-US" sz="1200" baseline="-250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: CAN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总线停止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</a:rPr>
              <a:t>x400-0x47F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Helvetica" pitchFamily="2" charset="0"/>
              </a:rPr>
              <a:t>的网络管理报文发送</a:t>
            </a:r>
          </a:p>
        </p:txBody>
      </p:sp>
    </p:spTree>
    <p:extLst>
      <p:ext uri="{BB962C8B-B14F-4D97-AF65-F5344CB8AC3E}">
        <p14:creationId xmlns:p14="http://schemas.microsoft.com/office/powerpoint/2010/main" val="39839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C454-21F7-75B2-9B61-DDEEDAB7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0" y="84285"/>
            <a:ext cx="10787270" cy="593431"/>
          </a:xfrm>
        </p:spPr>
        <p:txBody>
          <a:bodyPr/>
          <a:lstStyle/>
          <a:p>
            <a:r>
              <a:rPr lang="en-CN" sz="3600" dirty="0"/>
              <a:t>模糊测试技术方案</a:t>
            </a:r>
            <a:r>
              <a:rPr lang="en-US" altLang="zh-CN" sz="3600" dirty="0"/>
              <a:t>-</a:t>
            </a:r>
            <a:r>
              <a:rPr lang="zh-CN" altLang="en-US" sz="3600" dirty="0"/>
              <a:t>问题定义</a:t>
            </a:r>
            <a:endParaRPr lang="en-C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52F6-AA1B-4CC8-6BBA-725B2616D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529" y="1007918"/>
            <a:ext cx="11625469" cy="3564163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/>
              <a:t>输入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lvl="1"/>
            <a:r>
              <a:rPr lang="zh-CN" altLang="en-US" sz="1800" dirty="0"/>
              <a:t>设唤醒触发条件为</a:t>
            </a:r>
            <a:r>
              <a:rPr lang="en-US" altLang="zh-CN" sz="1800" dirty="0"/>
              <a:t>w (w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-w</a:t>
            </a:r>
            <a:r>
              <a:rPr lang="en-US" altLang="zh-CN" sz="1800" baseline="-25000" dirty="0"/>
              <a:t>7</a:t>
            </a:r>
            <a:r>
              <a:rPr lang="en-US" altLang="zh-CN" sz="1800" dirty="0"/>
              <a:t>)</a:t>
            </a:r>
            <a:r>
              <a:rPr lang="zh-CN" altLang="en-US" sz="1800" dirty="0"/>
              <a:t>、休眠触发条件（</a:t>
            </a:r>
            <a:r>
              <a:rPr lang="en-US" altLang="zh-CN" sz="1800" dirty="0"/>
              <a:t>h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-h</a:t>
            </a:r>
            <a:r>
              <a:rPr lang="en-US" altLang="zh-CN" sz="1800" baseline="-25000" dirty="0"/>
              <a:t>3</a:t>
            </a:r>
            <a:r>
              <a:rPr lang="zh-CN" altLang="en-US" sz="1800" dirty="0"/>
              <a:t>）、其他输入信号（</a:t>
            </a:r>
            <a:r>
              <a:rPr lang="en-US" altLang="zh-CN" sz="1800" dirty="0"/>
              <a:t>e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-e</a:t>
            </a:r>
            <a:r>
              <a:rPr lang="en-US" altLang="zh-CN" sz="1800" baseline="-25000" dirty="0"/>
              <a:t>n</a:t>
            </a:r>
            <a:r>
              <a:rPr lang="zh-CN" altLang="en-US" sz="1800" dirty="0"/>
              <a:t>）</a:t>
            </a:r>
            <a:endParaRPr lang="en-US" altLang="zh-CN" sz="1800" dirty="0">
              <a:highlight>
                <a:srgbClr val="FFFF00"/>
              </a:highlight>
            </a:endParaRPr>
          </a:p>
          <a:p>
            <a:r>
              <a:rPr lang="zh-CN" altLang="en-US" sz="2000" b="1" dirty="0"/>
              <a:t>输出：</a:t>
            </a:r>
            <a:endParaRPr lang="en-US" altLang="zh-CN" sz="2000" b="1" dirty="0"/>
          </a:p>
          <a:p>
            <a:pPr lvl="1"/>
            <a:r>
              <a:rPr lang="en-US" altLang="zh-CN" sz="1800" dirty="0"/>
              <a:t>State</a:t>
            </a:r>
            <a:r>
              <a:rPr lang="zh-CN" altLang="en-US" sz="1800" dirty="0"/>
              <a:t>状态（</a:t>
            </a:r>
            <a:r>
              <a:rPr lang="en-US" altLang="zh-CN" sz="1800" dirty="0"/>
              <a:t>s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-s</a:t>
            </a:r>
            <a:r>
              <a:rPr lang="en-US" altLang="zh-CN" sz="1800" baseline="-25000" dirty="0"/>
              <a:t>x</a:t>
            </a:r>
            <a:r>
              <a:rPr lang="zh-CN" altLang="en-US" sz="1800" dirty="0"/>
              <a:t>）、标识位（</a:t>
            </a:r>
            <a:r>
              <a:rPr lang="en-US" altLang="zh-CN" sz="1800" dirty="0"/>
              <a:t>f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-f</a:t>
            </a:r>
            <a:r>
              <a:rPr lang="en-US" altLang="zh-CN" sz="1800" baseline="-25000" dirty="0"/>
              <a:t>n</a:t>
            </a:r>
            <a:r>
              <a:rPr lang="zh-CN" altLang="en-US" sz="1800" dirty="0"/>
              <a:t>）、其他输出信号（</a:t>
            </a:r>
            <a:r>
              <a:rPr lang="en-US" altLang="zh-CN" sz="1800" dirty="0"/>
              <a:t>o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-o</a:t>
            </a:r>
            <a:r>
              <a:rPr lang="en-US" altLang="zh-CN" sz="1800" baseline="-25000" dirty="0"/>
              <a:t>n</a:t>
            </a:r>
            <a:r>
              <a:rPr lang="zh-CN" altLang="en-US" sz="1800" dirty="0"/>
              <a:t>）、</a:t>
            </a:r>
            <a:r>
              <a:rPr lang="zh-CN" altLang="en-US" sz="1800" b="1" dirty="0">
                <a:solidFill>
                  <a:srgbClr val="C00000"/>
                </a:solidFill>
              </a:rPr>
              <a:t>信号变化的时间差（</a:t>
            </a:r>
            <a:r>
              <a:rPr lang="el-GR" altLang="zh-CN" sz="1800" b="1" dirty="0">
                <a:solidFill>
                  <a:srgbClr val="C00000"/>
                </a:solidFill>
              </a:rPr>
              <a:t>Δ</a:t>
            </a:r>
            <a:r>
              <a:rPr lang="en-US" altLang="zh-CN" sz="1800" b="1" dirty="0">
                <a:solidFill>
                  <a:srgbClr val="C00000"/>
                </a:solidFill>
              </a:rPr>
              <a:t>t</a:t>
            </a:r>
            <a:r>
              <a:rPr lang="zh-CN" altLang="en-US" sz="1800" b="1" dirty="0">
                <a:solidFill>
                  <a:srgbClr val="C00000"/>
                </a:solidFill>
              </a:rPr>
              <a:t>）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/>
              <a:t>所有输出</a:t>
            </a:r>
            <a:r>
              <a:rPr lang="zh-CN" altLang="en-US" sz="1800" b="1" dirty="0">
                <a:solidFill>
                  <a:srgbClr val="C00000"/>
                </a:solidFill>
              </a:rPr>
              <a:t>信号的合并</a:t>
            </a:r>
            <a:r>
              <a:rPr lang="zh-CN" altLang="en-US" sz="1800" dirty="0"/>
              <a:t>表示</a:t>
            </a:r>
            <a:r>
              <a:rPr lang="en-US" altLang="zh-CN" sz="1800" dirty="0"/>
              <a:t>VCU</a:t>
            </a:r>
            <a:r>
              <a:rPr lang="zh-CN" altLang="en-US" sz="1800" dirty="0"/>
              <a:t>实际运行的状态</a:t>
            </a:r>
            <a:r>
              <a:rPr lang="en-US" altLang="zh-CN" sz="1800" dirty="0"/>
              <a:t>:</a:t>
            </a:r>
            <a:r>
              <a:rPr lang="zh-CN" altLang="en-US" sz="1800" dirty="0"/>
              <a:t> 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s</a:t>
            </a:r>
            <a:r>
              <a:rPr lang="en-US" altLang="zh-CN" sz="1800" baseline="-25000" dirty="0" err="1"/>
              <a:t>i</a:t>
            </a:r>
            <a:r>
              <a:rPr lang="en-US" altLang="zh-CN" sz="1800" dirty="0"/>
              <a:t>, f</a:t>
            </a:r>
            <a:r>
              <a:rPr lang="en-US" altLang="zh-CN" sz="1800" baseline="-25000" dirty="0"/>
              <a:t>i</a:t>
            </a:r>
            <a:r>
              <a:rPr lang="en-US" altLang="zh-CN" sz="1800" dirty="0"/>
              <a:t>, f</a:t>
            </a:r>
            <a:r>
              <a:rPr lang="en-US" altLang="zh-CN" sz="1800" baseline="-25000" dirty="0"/>
              <a:t>j</a:t>
            </a:r>
            <a:r>
              <a:rPr lang="en-US" altLang="zh-CN" sz="1800" dirty="0"/>
              <a:t>, o</a:t>
            </a:r>
            <a:r>
              <a:rPr lang="en-US" altLang="zh-CN" sz="1800" baseline="-25000" dirty="0"/>
              <a:t>i</a:t>
            </a:r>
            <a:r>
              <a:rPr lang="en-US" altLang="zh-CN" sz="1800" dirty="0"/>
              <a:t>, ..&gt;,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j </a:t>
            </a:r>
            <a:r>
              <a:rPr lang="zh-CN" altLang="en-US" sz="1800" dirty="0"/>
              <a:t>表示</a:t>
            </a:r>
            <a:r>
              <a:rPr lang="zh-CN" altLang="en-US" sz="1800" b="1" dirty="0">
                <a:solidFill>
                  <a:srgbClr val="C00000"/>
                </a:solidFill>
              </a:rPr>
              <a:t>某一个</a:t>
            </a:r>
            <a:r>
              <a:rPr lang="zh-CN" altLang="en-US" sz="1800" dirty="0"/>
              <a:t>状态</a:t>
            </a:r>
            <a:r>
              <a:rPr lang="en-US" altLang="zh-CN" sz="1800" dirty="0"/>
              <a:t>/</a:t>
            </a:r>
            <a:r>
              <a:rPr lang="zh-CN" altLang="en-US" sz="1800" dirty="0"/>
              <a:t>信号</a:t>
            </a:r>
            <a:endParaRPr lang="en-US" altLang="zh-CN" sz="1800" dirty="0"/>
          </a:p>
          <a:p>
            <a:r>
              <a:rPr lang="zh-CN" altLang="en-US" sz="2200" b="1" dirty="0"/>
              <a:t>模糊测试基本框架：</a:t>
            </a:r>
            <a:endParaRPr lang="en-US" altLang="zh-CN" sz="2200" b="1" dirty="0"/>
          </a:p>
          <a:p>
            <a:pPr lvl="1"/>
            <a:r>
              <a:rPr lang="zh-CN" altLang="en-US" sz="1800" dirty="0"/>
              <a:t>给定运行时间的约束（天</a:t>
            </a:r>
            <a:r>
              <a:rPr lang="en-US" altLang="zh-CN" sz="1800" dirty="0"/>
              <a:t>/</a:t>
            </a:r>
            <a:r>
              <a:rPr lang="zh-CN" altLang="en-US" sz="1800" dirty="0"/>
              <a:t>周</a:t>
            </a:r>
            <a:r>
              <a:rPr lang="en-US" altLang="zh-CN" sz="1800" dirty="0"/>
              <a:t>/</a:t>
            </a:r>
            <a:r>
              <a:rPr lang="zh-CN" altLang="en-US" sz="1800" dirty="0"/>
              <a:t>月），约束下可执行的输入</a:t>
            </a:r>
            <a:r>
              <a:rPr lang="zh-CN" altLang="en-CN" sz="1800" dirty="0"/>
              <a:t>轮数</a:t>
            </a:r>
            <a:r>
              <a:rPr lang="zh-CN" altLang="en-US" sz="1800" dirty="0"/>
              <a:t>为</a:t>
            </a:r>
            <a:r>
              <a:rPr lang="en-US" altLang="zh-CN" sz="1800" dirty="0"/>
              <a:t>N</a:t>
            </a:r>
            <a:r>
              <a:rPr lang="zh-CN" altLang="en-US" sz="1800" dirty="0"/>
              <a:t>，每一轮触发条件可选择的空间为</a:t>
            </a:r>
            <a:r>
              <a:rPr lang="en-US" altLang="zh-CN" sz="1800" dirty="0"/>
              <a:t>M</a:t>
            </a:r>
            <a:r>
              <a:rPr lang="zh-CN" altLang="en-US" sz="1800" dirty="0"/>
              <a:t>次</a:t>
            </a:r>
            <a:endParaRPr lang="en-US" altLang="zh-CN" sz="1800" dirty="0"/>
          </a:p>
          <a:p>
            <a:pPr lvl="1"/>
            <a:r>
              <a:rPr lang="zh-CN" altLang="en-US" sz="1800" dirty="0"/>
              <a:t>那么模糊测试输入生成的空间</a:t>
            </a:r>
            <a:r>
              <a:rPr lang="en-US" altLang="zh-CN" sz="1800" dirty="0"/>
              <a:t>(</a:t>
            </a:r>
            <a:r>
              <a:rPr lang="zh-CN" altLang="en-US" sz="1800" dirty="0"/>
              <a:t>例</a:t>
            </a:r>
            <a:r>
              <a:rPr lang="en-US" altLang="zh-CN" sz="1800" dirty="0"/>
              <a:t>)</a:t>
            </a:r>
            <a:r>
              <a:rPr lang="zh-CN" altLang="en-US" sz="1800" dirty="0"/>
              <a:t>为</a:t>
            </a:r>
            <a:r>
              <a:rPr lang="en-US" altLang="zh-CN" sz="1800" dirty="0"/>
              <a:t>: </a:t>
            </a:r>
            <a:r>
              <a:rPr lang="zh-CN" altLang="en-US" sz="1800" dirty="0"/>
              <a:t> </a:t>
            </a:r>
            <a:r>
              <a:rPr lang="en-US" altLang="zh-CN" sz="1800" dirty="0"/>
              <a:t>M*M*M….M</a:t>
            </a:r>
            <a:r>
              <a:rPr lang="zh-CN" altLang="en-US" sz="1800" dirty="0"/>
              <a:t>（乘以</a:t>
            </a:r>
            <a:r>
              <a:rPr lang="en-US" altLang="zh-CN" sz="1800" dirty="0"/>
              <a:t>N</a:t>
            </a:r>
            <a:r>
              <a:rPr lang="zh-CN" altLang="en-US" sz="1800" dirty="0"/>
              <a:t>次）</a:t>
            </a:r>
            <a:r>
              <a:rPr lang="en-US" altLang="zh-CN" sz="1800" dirty="0"/>
              <a:t>=</a:t>
            </a:r>
            <a:r>
              <a:rPr lang="zh-CN" altLang="en-US" sz="1800" dirty="0"/>
              <a:t> </a:t>
            </a:r>
            <a:r>
              <a:rPr lang="en-US" altLang="zh-CN" sz="1800" dirty="0"/>
              <a:t>M</a:t>
            </a:r>
            <a:r>
              <a:rPr lang="en-US" altLang="zh-CN" sz="1800" baseline="30000" dirty="0"/>
              <a:t>N</a:t>
            </a:r>
          </a:p>
          <a:p>
            <a:pPr lvl="2"/>
            <a:endParaRPr lang="en-US" altLang="zh-C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910CC0-BAA0-BEEC-091C-0245C2A18326}"/>
              </a:ext>
            </a:extLst>
          </p:cNvPr>
          <p:cNvCxnSpPr>
            <a:cxnSpLocks/>
          </p:cNvCxnSpPr>
          <p:nvPr/>
        </p:nvCxnSpPr>
        <p:spPr>
          <a:xfrm>
            <a:off x="407504" y="5161455"/>
            <a:ext cx="102770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0F9DFD-0BBB-6861-133A-76460E58253E}"/>
              </a:ext>
            </a:extLst>
          </p:cNvPr>
          <p:cNvSpPr txBox="1"/>
          <p:nvPr/>
        </p:nvSpPr>
        <p:spPr>
          <a:xfrm>
            <a:off x="10701922" y="4865953"/>
            <a:ext cx="877163" cy="422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时间线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B2BD86-7CDD-2A9F-F238-D68125D77307}"/>
              </a:ext>
            </a:extLst>
          </p:cNvPr>
          <p:cNvCxnSpPr/>
          <p:nvPr/>
        </p:nvCxnSpPr>
        <p:spPr>
          <a:xfrm>
            <a:off x="8895522" y="4865953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A07A0F-A78F-B2C9-F0A2-6BCF6374C839}"/>
              </a:ext>
            </a:extLst>
          </p:cNvPr>
          <p:cNvSpPr txBox="1"/>
          <p:nvPr/>
        </p:nvSpPr>
        <p:spPr>
          <a:xfrm>
            <a:off x="8444116" y="5245938"/>
            <a:ext cx="902811" cy="348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截止时间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A4EC3-900E-1783-8BE6-BD633578E8ED}"/>
              </a:ext>
            </a:extLst>
          </p:cNvPr>
          <p:cNvSpPr txBox="1"/>
          <p:nvPr/>
        </p:nvSpPr>
        <p:spPr>
          <a:xfrm>
            <a:off x="439184" y="4821722"/>
            <a:ext cx="346570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</a:t>
            </a:r>
            <a:r>
              <a:rPr lang="en-US" altLang="zh-CN" sz="1200" baseline="-25000" dirty="0"/>
              <a:t>1</a:t>
            </a:r>
            <a:endParaRPr lang="en-CN" sz="12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DC691-7C02-ABC6-C41C-A6303F5A0775}"/>
              </a:ext>
            </a:extLst>
          </p:cNvPr>
          <p:cNvSpPr txBox="1"/>
          <p:nvPr/>
        </p:nvSpPr>
        <p:spPr>
          <a:xfrm>
            <a:off x="1492565" y="4821722"/>
            <a:ext cx="428322" cy="312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</a:t>
            </a:r>
            <a:r>
              <a:rPr lang="en-US" altLang="zh-CN" sz="1200" baseline="-25000" dirty="0"/>
              <a:t>1</a:t>
            </a:r>
            <a:endParaRPr lang="en-CN" sz="12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F879E-6CDD-4CEA-C997-BC36DAAE1459}"/>
              </a:ext>
            </a:extLst>
          </p:cNvPr>
          <p:cNvSpPr txBox="1"/>
          <p:nvPr/>
        </p:nvSpPr>
        <p:spPr>
          <a:xfrm>
            <a:off x="2462813" y="4821722"/>
            <a:ext cx="346570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</a:t>
            </a:r>
            <a:r>
              <a:rPr lang="en-US" altLang="zh-CN" sz="1200" baseline="-25000" dirty="0"/>
              <a:t>2</a:t>
            </a:r>
            <a:endParaRPr lang="en-CN" sz="12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7E62C8-A109-310E-AF13-480EF335CE06}"/>
              </a:ext>
            </a:extLst>
          </p:cNvPr>
          <p:cNvSpPr txBox="1"/>
          <p:nvPr/>
        </p:nvSpPr>
        <p:spPr>
          <a:xfrm>
            <a:off x="3441375" y="4821722"/>
            <a:ext cx="346570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</a:t>
            </a:r>
            <a:r>
              <a:rPr lang="en-US" altLang="zh-CN" sz="1200" baseline="-25000" dirty="0"/>
              <a:t>3</a:t>
            </a:r>
            <a:endParaRPr lang="en-CN" sz="1200" baseline="-250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532F0DE-B2C6-932C-89BD-E5740661E9E5}"/>
              </a:ext>
            </a:extLst>
          </p:cNvPr>
          <p:cNvSpPr txBox="1">
            <a:spLocks/>
          </p:cNvSpPr>
          <p:nvPr/>
        </p:nvSpPr>
        <p:spPr>
          <a:xfrm>
            <a:off x="702365" y="5626108"/>
            <a:ext cx="10787270" cy="375292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85800" lvl="1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lvl="2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lvl="3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lvl="4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lvl="5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lvl="6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lvl="7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lvl="8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r>
              <a:rPr lang="zh-CN" altLang="en-US" sz="2200" b="1" dirty="0"/>
              <a:t>问题： </a:t>
            </a:r>
            <a:r>
              <a:rPr lang="zh-CN" altLang="en-US" sz="1800" dirty="0">
                <a:highlight>
                  <a:srgbClr val="FFFF00"/>
                </a:highlight>
              </a:rPr>
              <a:t>其他输入信号与唤醒休眠条件的时序是否有要求，</a:t>
            </a:r>
            <a:r>
              <a:rPr lang="zh-CN" altLang="en-US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即同步还是异步？</a:t>
            </a:r>
            <a:r>
              <a:rPr lang="zh-CN" altLang="en-US" sz="1800" dirty="0">
                <a:highlight>
                  <a:srgbClr val="FFFF00"/>
                </a:highlight>
              </a:rPr>
              <a:t>（例中为同步）</a:t>
            </a:r>
            <a:endParaRPr lang="en-US" altLang="zh-CN" sz="22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AF34EC-402C-A345-522E-928EEC024D26}"/>
              </a:ext>
            </a:extLst>
          </p:cNvPr>
          <p:cNvSpPr txBox="1"/>
          <p:nvPr/>
        </p:nvSpPr>
        <p:spPr>
          <a:xfrm>
            <a:off x="4278622" y="4821722"/>
            <a:ext cx="346570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</a:t>
            </a:r>
            <a:r>
              <a:rPr lang="en-US" altLang="zh-CN" sz="1200" baseline="-25000" dirty="0"/>
              <a:t>4</a:t>
            </a:r>
            <a:endParaRPr lang="en-CN" sz="1200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3A21FB-3F47-8B66-61AF-52C23945AF2E}"/>
              </a:ext>
            </a:extLst>
          </p:cNvPr>
          <p:cNvSpPr txBox="1"/>
          <p:nvPr/>
        </p:nvSpPr>
        <p:spPr>
          <a:xfrm>
            <a:off x="5519601" y="4639515"/>
            <a:ext cx="343364" cy="423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026DCB-4343-D662-3DDC-042914D16692}"/>
              </a:ext>
            </a:extLst>
          </p:cNvPr>
          <p:cNvCxnSpPr/>
          <p:nvPr/>
        </p:nvCxnSpPr>
        <p:spPr>
          <a:xfrm>
            <a:off x="1534795" y="4796379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C4D5AB-32B7-59EF-FF2F-66AF90BEC568}"/>
              </a:ext>
            </a:extLst>
          </p:cNvPr>
          <p:cNvCxnSpPr/>
          <p:nvPr/>
        </p:nvCxnSpPr>
        <p:spPr>
          <a:xfrm>
            <a:off x="2523014" y="4796379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EC009B-74BE-7781-C1C4-E3B4D4C1D027}"/>
              </a:ext>
            </a:extLst>
          </p:cNvPr>
          <p:cNvCxnSpPr/>
          <p:nvPr/>
        </p:nvCxnSpPr>
        <p:spPr>
          <a:xfrm>
            <a:off x="3461226" y="4796379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4A62CA-5268-BA60-3BF5-847443C1DD8A}"/>
              </a:ext>
            </a:extLst>
          </p:cNvPr>
          <p:cNvCxnSpPr/>
          <p:nvPr/>
        </p:nvCxnSpPr>
        <p:spPr>
          <a:xfrm>
            <a:off x="4325620" y="4796379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53130C-F6AB-6D10-00BE-4C4A7B1C4C77}"/>
              </a:ext>
            </a:extLst>
          </p:cNvPr>
          <p:cNvCxnSpPr/>
          <p:nvPr/>
        </p:nvCxnSpPr>
        <p:spPr>
          <a:xfrm>
            <a:off x="5299552" y="4796379"/>
            <a:ext cx="0" cy="3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6DBA45-2B28-84DB-3F39-5CE374A8C60B}"/>
              </a:ext>
            </a:extLst>
          </p:cNvPr>
          <p:cNvSpPr txBox="1"/>
          <p:nvPr/>
        </p:nvSpPr>
        <p:spPr>
          <a:xfrm>
            <a:off x="695341" y="5214630"/>
            <a:ext cx="538930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第</a:t>
            </a:r>
            <a:r>
              <a:rPr lang="en-US" altLang="zh-CN" sz="1100" dirty="0"/>
              <a:t>1</a:t>
            </a:r>
            <a:r>
              <a:rPr lang="en-CN" sz="1100" dirty="0"/>
              <a:t>轮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BD26F0-667F-67FE-5FA8-A54FD2793B58}"/>
              </a:ext>
            </a:extLst>
          </p:cNvPr>
          <p:cNvSpPr txBox="1"/>
          <p:nvPr/>
        </p:nvSpPr>
        <p:spPr>
          <a:xfrm>
            <a:off x="1644242" y="5214630"/>
            <a:ext cx="538930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第</a:t>
            </a:r>
            <a:r>
              <a:rPr lang="en-US" altLang="zh-CN" sz="1100" dirty="0"/>
              <a:t>2</a:t>
            </a:r>
            <a:r>
              <a:rPr lang="en-CN" sz="1100" dirty="0"/>
              <a:t>轮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A31C9-1D74-B1AC-FBE5-B9FBD149E0AB}"/>
              </a:ext>
            </a:extLst>
          </p:cNvPr>
          <p:cNvSpPr txBox="1"/>
          <p:nvPr/>
        </p:nvSpPr>
        <p:spPr>
          <a:xfrm>
            <a:off x="2690146" y="5214630"/>
            <a:ext cx="538930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第</a:t>
            </a:r>
            <a:r>
              <a:rPr lang="en-US" altLang="zh-CN" sz="1100" dirty="0"/>
              <a:t>3</a:t>
            </a:r>
            <a:r>
              <a:rPr lang="en-CN" sz="1100" dirty="0"/>
              <a:t>轮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0DE052-60DE-3183-2051-0AB647D2F114}"/>
              </a:ext>
            </a:extLst>
          </p:cNvPr>
          <p:cNvSpPr txBox="1"/>
          <p:nvPr/>
        </p:nvSpPr>
        <p:spPr>
          <a:xfrm>
            <a:off x="3609679" y="5214630"/>
            <a:ext cx="538930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第</a:t>
            </a:r>
            <a:r>
              <a:rPr lang="en-US" altLang="zh-CN" sz="1100" dirty="0"/>
              <a:t>4</a:t>
            </a:r>
            <a:r>
              <a:rPr lang="en-CN" sz="1100" dirty="0"/>
              <a:t>轮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DCCEF9-6C2C-E2C8-4FCA-211089C5914E}"/>
              </a:ext>
            </a:extLst>
          </p:cNvPr>
          <p:cNvSpPr txBox="1"/>
          <p:nvPr/>
        </p:nvSpPr>
        <p:spPr>
          <a:xfrm>
            <a:off x="6729984" y="5214630"/>
            <a:ext cx="55816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第N轮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26B72-E422-36D7-7FB2-064A6BDFF015}"/>
              </a:ext>
            </a:extLst>
          </p:cNvPr>
          <p:cNvSpPr txBox="1"/>
          <p:nvPr/>
        </p:nvSpPr>
        <p:spPr>
          <a:xfrm>
            <a:off x="613537" y="4828774"/>
            <a:ext cx="312906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sz="1200" baseline="-25000" dirty="0"/>
              <a:t>3</a:t>
            </a:r>
            <a:endParaRPr lang="en-CN" sz="1200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ED188-CA4B-424C-9B12-52EB28ADEBD3}"/>
              </a:ext>
            </a:extLst>
          </p:cNvPr>
          <p:cNvSpPr txBox="1"/>
          <p:nvPr/>
        </p:nvSpPr>
        <p:spPr>
          <a:xfrm>
            <a:off x="1691853" y="4828774"/>
            <a:ext cx="312906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sz="1200" baseline="-25000" dirty="0"/>
              <a:t>2</a:t>
            </a:r>
            <a:endParaRPr lang="en-CN" sz="1200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1209B9-B3EE-CD8E-0486-826F5D6A5B8B}"/>
              </a:ext>
            </a:extLst>
          </p:cNvPr>
          <p:cNvSpPr txBox="1"/>
          <p:nvPr/>
        </p:nvSpPr>
        <p:spPr>
          <a:xfrm>
            <a:off x="2653790" y="4828774"/>
            <a:ext cx="312906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altLang="zh-CN" sz="1200" baseline="-25000" dirty="0"/>
              <a:t>2</a:t>
            </a:r>
            <a:endParaRPr lang="en-CN" sz="1200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AF3F1-03A6-A832-E1BA-CFF51443668C}"/>
              </a:ext>
            </a:extLst>
          </p:cNvPr>
          <p:cNvSpPr txBox="1"/>
          <p:nvPr/>
        </p:nvSpPr>
        <p:spPr>
          <a:xfrm>
            <a:off x="3615727" y="4828774"/>
            <a:ext cx="312906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altLang="zh-CN" sz="1200" baseline="-25000" dirty="0"/>
              <a:t>3</a:t>
            </a:r>
            <a:endParaRPr lang="en-CN" sz="12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4CFEB8-0816-3F95-221B-CF54D73733D8}"/>
              </a:ext>
            </a:extLst>
          </p:cNvPr>
          <p:cNvSpPr txBox="1"/>
          <p:nvPr/>
        </p:nvSpPr>
        <p:spPr>
          <a:xfrm>
            <a:off x="4452973" y="4828774"/>
            <a:ext cx="312906" cy="312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sz="1200" baseline="-25000" dirty="0"/>
              <a:t>1</a:t>
            </a:r>
            <a:endParaRPr lang="en-CN" sz="1200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39A10D-BD4B-4241-9EB8-CBA194A80FB8}"/>
              </a:ext>
            </a:extLst>
          </p:cNvPr>
          <p:cNvSpPr txBox="1"/>
          <p:nvPr/>
        </p:nvSpPr>
        <p:spPr>
          <a:xfrm>
            <a:off x="230593" y="4462509"/>
            <a:ext cx="723275" cy="348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输入</a:t>
            </a:r>
            <a:r>
              <a:rPr lang="zh-CN" altLang="en-US" sz="1400" dirty="0"/>
              <a:t>：</a:t>
            </a:r>
            <a:endParaRPr lang="en-CN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77B89A-A595-8675-EE2A-4665E7243061}"/>
              </a:ext>
            </a:extLst>
          </p:cNvPr>
          <p:cNvSpPr txBox="1"/>
          <p:nvPr/>
        </p:nvSpPr>
        <p:spPr>
          <a:xfrm>
            <a:off x="799188" y="4831548"/>
            <a:ext cx="1222858" cy="479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1</a:t>
            </a:r>
            <a:r>
              <a:rPr lang="en-US" sz="1200" dirty="0"/>
              <a:t>s</a:t>
            </a:r>
            <a:r>
              <a:rPr lang="en-US" sz="1200" baseline="-25000" dirty="0"/>
              <a:t>3</a:t>
            </a:r>
            <a:r>
              <a:rPr lang="en-US" sz="1200" dirty="0"/>
              <a:t>s</a:t>
            </a:r>
            <a:r>
              <a:rPr lang="en-US" sz="1200" baseline="-25000" dirty="0"/>
              <a:t>2</a:t>
            </a:r>
            <a:endParaRPr lang="en-CN" sz="1200" baseline="-25000" dirty="0"/>
          </a:p>
          <a:p>
            <a:endParaRPr lang="en-CN" sz="1200" baseline="-25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F4C30-172A-684F-7F1A-37D02086D81E}"/>
              </a:ext>
            </a:extLst>
          </p:cNvPr>
          <p:cNvSpPr txBox="1"/>
          <p:nvPr/>
        </p:nvSpPr>
        <p:spPr>
          <a:xfrm>
            <a:off x="1875120" y="4826346"/>
            <a:ext cx="1222858" cy="479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1</a:t>
            </a:r>
            <a:r>
              <a:rPr lang="en-US" sz="1200" dirty="0"/>
              <a:t>s</a:t>
            </a:r>
            <a:r>
              <a:rPr lang="en-US" sz="1200" baseline="-25000" dirty="0"/>
              <a:t>3</a:t>
            </a:r>
            <a:r>
              <a:rPr lang="en-US" sz="1200" dirty="0"/>
              <a:t>s</a:t>
            </a:r>
            <a:r>
              <a:rPr lang="en-US" sz="1200" baseline="-25000" dirty="0"/>
              <a:t>2</a:t>
            </a:r>
            <a:endParaRPr lang="en-CN" sz="1200" baseline="-25000" dirty="0"/>
          </a:p>
          <a:p>
            <a:endParaRPr lang="en-CN" sz="1200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D17B69-1393-9532-4383-CFD621F7FBDF}"/>
              </a:ext>
            </a:extLst>
          </p:cNvPr>
          <p:cNvSpPr txBox="1"/>
          <p:nvPr/>
        </p:nvSpPr>
        <p:spPr>
          <a:xfrm>
            <a:off x="2833925" y="4796988"/>
            <a:ext cx="1222858" cy="479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1</a:t>
            </a:r>
            <a:r>
              <a:rPr lang="en-US" sz="1200" dirty="0"/>
              <a:t>s</a:t>
            </a:r>
            <a:r>
              <a:rPr lang="en-US" sz="1200" baseline="-25000" dirty="0"/>
              <a:t>3</a:t>
            </a:r>
            <a:r>
              <a:rPr lang="en-US" sz="1200" dirty="0"/>
              <a:t>s</a:t>
            </a:r>
            <a:r>
              <a:rPr lang="en-US" sz="1200" baseline="-25000" dirty="0"/>
              <a:t>2</a:t>
            </a:r>
            <a:endParaRPr lang="en-CN" sz="1200" baseline="-25000" dirty="0"/>
          </a:p>
          <a:p>
            <a:endParaRPr lang="en-CN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31140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2034-FD80-ADA0-BD34-2F204FF6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模糊测试方案</a:t>
            </a:r>
            <a:r>
              <a:rPr lang="en-US" altLang="zh-CN" sz="3600" dirty="0"/>
              <a:t>-</a:t>
            </a:r>
            <a:r>
              <a:rPr lang="zh-CN" altLang="en-US" sz="3600" dirty="0"/>
              <a:t>反馈与变异</a:t>
            </a:r>
            <a:endParaRPr lang="en-C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DE09-64F9-2C2A-E756-521B24C29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sz="2400" b="1" dirty="0"/>
              <a:t>基于时间的反馈</a:t>
            </a:r>
            <a:r>
              <a:rPr lang="zh-CN" altLang="en-US" sz="2400" b="1" dirty="0"/>
              <a:t>：</a:t>
            </a:r>
            <a:r>
              <a:rPr lang="zh-CN" altLang="en-US" sz="2400" dirty="0"/>
              <a:t>每一轮会有执行时长，引导模糊测试用例序列生成向执行时常更长的序列生成</a:t>
            </a:r>
            <a:endParaRPr lang="en-US" altLang="zh-CN" sz="2400" dirty="0"/>
          </a:p>
          <a:p>
            <a:pPr lvl="1"/>
            <a:r>
              <a:rPr lang="en-CN" sz="2000" dirty="0"/>
              <a:t>例</a:t>
            </a:r>
            <a:r>
              <a:rPr lang="zh-CN" altLang="en-US" sz="2000" dirty="0"/>
              <a:t>，给定序列：</a:t>
            </a:r>
            <a:r>
              <a:rPr lang="en-US" altLang="zh-CN" sz="2000" dirty="0"/>
              <a:t>&lt;</a:t>
            </a:r>
            <a:r>
              <a:rPr lang="en-US" sz="2000" dirty="0"/>
              <a:t>w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…&gt;, &lt;</a:t>
            </a:r>
            <a:r>
              <a:rPr lang="en-US" sz="2000" dirty="0"/>
              <a:t>w</a:t>
            </a:r>
            <a:r>
              <a:rPr lang="en-US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…&gt;, &lt;</a:t>
            </a:r>
            <a:r>
              <a:rPr lang="en-US" sz="2000" dirty="0"/>
              <a:t>w</a:t>
            </a:r>
            <a:r>
              <a:rPr lang="en-US" sz="2000" baseline="-25000" dirty="0"/>
              <a:t>6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sz="2000" baseline="-25000" dirty="0"/>
              <a:t>7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w</a:t>
            </a:r>
            <a:r>
              <a:rPr lang="en-US" altLang="zh-CN" sz="2000" baseline="-25000" dirty="0"/>
              <a:t>6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…&gt;, …, </a:t>
            </a:r>
            <a:r>
              <a:rPr lang="zh-CN" altLang="en-US" sz="2000" dirty="0"/>
              <a:t>发现第</a:t>
            </a:r>
            <a:r>
              <a:rPr lang="en-US" altLang="zh-CN" sz="2000" dirty="0"/>
              <a:t>3</a:t>
            </a:r>
            <a:r>
              <a:rPr lang="zh-CN" altLang="en-US" sz="2000" dirty="0"/>
              <a:t>个序列，执行时间</a:t>
            </a:r>
            <a:r>
              <a:rPr lang="zh-CN" altLang="en-US" sz="2000" b="1" dirty="0">
                <a:solidFill>
                  <a:srgbClr val="C00000"/>
                </a:solidFill>
              </a:rPr>
              <a:t>异常地</a:t>
            </a:r>
            <a:r>
              <a:rPr lang="zh-CN" altLang="en-US" sz="2000" dirty="0"/>
              <a:t>长，那么在下一轮模糊测试用例生成中，引导模糊测试生成使用第</a:t>
            </a:r>
            <a:r>
              <a:rPr lang="en-US" altLang="zh-CN" sz="2000" dirty="0"/>
              <a:t>3</a:t>
            </a:r>
            <a:r>
              <a:rPr lang="zh-CN" altLang="en-US" sz="2000" dirty="0"/>
              <a:t>个序列中存在的输入信号，如</a:t>
            </a:r>
            <a:r>
              <a:rPr lang="en-US" altLang="zh-CN" sz="2000" dirty="0"/>
              <a:t>w</a:t>
            </a:r>
            <a:r>
              <a:rPr lang="en-US" altLang="zh-CN" sz="2000" baseline="-25000" dirty="0"/>
              <a:t>6</a:t>
            </a:r>
            <a:r>
              <a:rPr lang="en-US" altLang="zh-CN" sz="2000" dirty="0"/>
              <a:t>, w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, e</a:t>
            </a:r>
            <a:r>
              <a:rPr lang="en-US" altLang="zh-CN" sz="2000" baseline="-25000" dirty="0"/>
              <a:t>7</a:t>
            </a:r>
          </a:p>
          <a:p>
            <a:pPr lvl="1"/>
            <a:r>
              <a:rPr lang="zh-CN" altLang="en-US" sz="2000" b="1" dirty="0"/>
              <a:t>潜在原因思考：</a:t>
            </a:r>
            <a:r>
              <a:rPr lang="zh-CN" altLang="en-US" sz="2000" dirty="0"/>
              <a:t>内存泄漏等软件缺陷会导致运行时间长</a:t>
            </a:r>
            <a:endParaRPr lang="en-US" altLang="zh-CN" sz="2000" dirty="0"/>
          </a:p>
          <a:p>
            <a:r>
              <a:rPr lang="zh-CN" altLang="en-US" sz="2400" b="1" dirty="0"/>
              <a:t>基于新状态的反馈：</a:t>
            </a:r>
            <a:r>
              <a:rPr lang="zh-CN" altLang="en-US" sz="2400" dirty="0"/>
              <a:t>根据状态机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s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, f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f</a:t>
            </a:r>
            <a:r>
              <a:rPr lang="en-US" altLang="zh-CN" sz="2400" baseline="-25000" dirty="0"/>
              <a:t>j</a:t>
            </a:r>
            <a:r>
              <a:rPr lang="en-US" altLang="zh-CN" sz="2400" dirty="0"/>
              <a:t>, o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..&gt;, </a:t>
            </a:r>
            <a:r>
              <a:rPr lang="zh-CN" altLang="en-US" sz="2400" dirty="0">
                <a:solidFill>
                  <a:srgbClr val="C00000"/>
                </a:solidFill>
              </a:rPr>
              <a:t>在执行过程中某个序列中发现了新的状态</a:t>
            </a:r>
            <a:r>
              <a:rPr lang="zh-CN" altLang="en-US" sz="2400" dirty="0"/>
              <a:t>，那么在下一轮模糊测试用例生成中，引导模糊测试生成使用该序列中存在的输入信号</a:t>
            </a:r>
            <a:endParaRPr lang="en-US" altLang="zh-CN" sz="2400" dirty="0"/>
          </a:p>
          <a:p>
            <a:pPr lvl="1"/>
            <a:r>
              <a:rPr lang="zh-CN" altLang="en-US" sz="2000" dirty="0"/>
              <a:t>状态更新，程序出现了新的未被测试过的状态</a:t>
            </a:r>
            <a:endParaRPr lang="en-US" altLang="zh-CN" sz="2000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3881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CF0F-EF2F-672A-3D0C-B12DCF13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疑问清单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AFBE-836A-74AE-3661-29C9E4A6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sz="2400" dirty="0"/>
              <a:t>输入信号的输入</a:t>
            </a:r>
            <a:r>
              <a:rPr lang="zh-CN" altLang="en-US" sz="2400" dirty="0"/>
              <a:t>，</a:t>
            </a:r>
            <a:r>
              <a:rPr lang="en-CN" sz="2400" dirty="0"/>
              <a:t>输出信号的检测</a:t>
            </a:r>
            <a:r>
              <a:rPr lang="zh-CN" altLang="en-US" sz="2400" dirty="0"/>
              <a:t>，是否由北汽提供程序接口，实现算法端的自由控制？</a:t>
            </a:r>
            <a:endParaRPr lang="en-US" altLang="zh-CN" sz="2400" dirty="0"/>
          </a:p>
          <a:p>
            <a:r>
              <a:rPr lang="zh-CN" altLang="en-US" sz="2400" dirty="0"/>
              <a:t>输入信号除了</a:t>
            </a:r>
            <a:r>
              <a:rPr lang="en-US" altLang="zh-CN" sz="2400" dirty="0"/>
              <a:t>w1-w7</a:t>
            </a:r>
            <a:r>
              <a:rPr lang="zh-CN" altLang="en-US" sz="2400" dirty="0"/>
              <a:t>以外，</a:t>
            </a:r>
            <a:r>
              <a:rPr lang="en-US" altLang="zh-CN" sz="2400" dirty="0"/>
              <a:t>VCU</a:t>
            </a:r>
            <a:r>
              <a:rPr lang="zh-CN" altLang="en-US" sz="2400" dirty="0"/>
              <a:t>会有其他输入，这些额外的输入信号具体有哪些需要明确？ 这些额外的输入信号与</a:t>
            </a:r>
            <a:r>
              <a:rPr lang="en-US" altLang="zh-CN" sz="2400" dirty="0"/>
              <a:t>w1-w7</a:t>
            </a:r>
            <a:r>
              <a:rPr lang="zh-CN" altLang="en-US" sz="2400" dirty="0"/>
              <a:t>的信号，是同步输入还是异步的关系？ </a:t>
            </a:r>
            <a:endParaRPr lang="en-US" altLang="zh-CN" sz="2400" dirty="0"/>
          </a:p>
          <a:p>
            <a:r>
              <a:rPr lang="zh-CN" altLang="en-US" sz="2400" dirty="0"/>
              <a:t>输入信号组合变异（如</a:t>
            </a:r>
            <a:r>
              <a:rPr lang="en-US" altLang="zh-CN" sz="2400" dirty="0"/>
              <a:t>w1w2w3</a:t>
            </a:r>
            <a:r>
              <a:rPr lang="zh-CN" altLang="en-US" sz="2400" dirty="0"/>
              <a:t>变成</a:t>
            </a:r>
            <a:r>
              <a:rPr lang="en-US" altLang="zh-CN" sz="2400" dirty="0"/>
              <a:t>w3w2w1</a:t>
            </a:r>
            <a:r>
              <a:rPr lang="zh-CN" altLang="en-US" sz="2400" dirty="0"/>
              <a:t>）可以通过软件实现，输入信号本身的变异是否需要考虑？ 比如</a:t>
            </a:r>
            <a:endParaRPr lang="en-US" altLang="zh-CN" sz="2400" dirty="0"/>
          </a:p>
          <a:p>
            <a:pPr lvl="1"/>
            <a:r>
              <a:rPr lang="en-US" altLang="zh-CN" sz="2000" dirty="0"/>
              <a:t>PDCU</a:t>
            </a:r>
            <a:r>
              <a:rPr lang="zh-CN" altLang="en-US" sz="2000" dirty="0"/>
              <a:t>唤醒电供电电压大于</a:t>
            </a:r>
            <a:r>
              <a:rPr lang="en-US" altLang="zh-CN" sz="2000" dirty="0">
                <a:solidFill>
                  <a:srgbClr val="C00000"/>
                </a:solidFill>
              </a:rPr>
              <a:t>9V</a:t>
            </a:r>
            <a:r>
              <a:rPr lang="zh-CN" altLang="en-US" sz="2000" dirty="0"/>
              <a:t>持续</a:t>
            </a:r>
            <a:r>
              <a:rPr lang="en-US" altLang="zh-CN" sz="2000" dirty="0">
                <a:solidFill>
                  <a:srgbClr val="C00000"/>
                </a:solidFill>
              </a:rPr>
              <a:t>10ms</a:t>
            </a:r>
            <a:r>
              <a:rPr lang="zh-CN" altLang="en-US" sz="2000" dirty="0"/>
              <a:t>以上变异为</a:t>
            </a:r>
            <a:r>
              <a:rPr lang="en-US" altLang="zh-CN" sz="2000" dirty="0"/>
              <a:t>PDCU</a:t>
            </a:r>
            <a:r>
              <a:rPr lang="zh-CN" altLang="en-US" sz="2000" dirty="0"/>
              <a:t>唤醒电供电电压大于</a:t>
            </a:r>
            <a:r>
              <a:rPr lang="en-US" altLang="zh-CN" sz="2000" dirty="0">
                <a:solidFill>
                  <a:srgbClr val="C00000"/>
                </a:solidFill>
              </a:rPr>
              <a:t>8V</a:t>
            </a:r>
            <a:r>
              <a:rPr lang="zh-CN" altLang="en-US" sz="2000" dirty="0"/>
              <a:t>持续</a:t>
            </a:r>
            <a:r>
              <a:rPr lang="en-US" altLang="zh-CN" sz="2000" dirty="0">
                <a:solidFill>
                  <a:srgbClr val="C00000"/>
                </a:solidFill>
              </a:rPr>
              <a:t>20ms</a:t>
            </a:r>
            <a:r>
              <a:rPr lang="zh-CN" altLang="en-US" sz="2000" dirty="0"/>
              <a:t>以上</a:t>
            </a:r>
          </a:p>
          <a:p>
            <a:pPr lvl="1"/>
            <a:r>
              <a:rPr lang="en-US" altLang="zh-CN" sz="2000" dirty="0"/>
              <a:t>CAN</a:t>
            </a:r>
            <a:r>
              <a:rPr lang="zh-CN" altLang="en-US" sz="2000" dirty="0"/>
              <a:t>总线上有</a:t>
            </a:r>
            <a:r>
              <a:rPr lang="en-US" altLang="zh-CN" sz="2000" dirty="0">
                <a:solidFill>
                  <a:srgbClr val="C00000"/>
                </a:solidFill>
              </a:rPr>
              <a:t>0x400</a:t>
            </a:r>
            <a:r>
              <a:rPr lang="zh-CN" altLang="en-US" sz="2000" dirty="0"/>
              <a:t>的网络管理报文，变异为</a:t>
            </a:r>
            <a:r>
              <a:rPr lang="en-US" altLang="zh-CN" sz="2000" dirty="0">
                <a:solidFill>
                  <a:srgbClr val="C00000"/>
                </a:solidFill>
              </a:rPr>
              <a:t>0x40F</a:t>
            </a:r>
            <a:r>
              <a:rPr lang="zh-CN" altLang="en-US" sz="2000" dirty="0">
                <a:solidFill>
                  <a:srgbClr val="C00000"/>
                </a:solidFill>
              </a:rPr>
              <a:t>（位反转，但满足网络报文信号范围约束）</a:t>
            </a:r>
          </a:p>
          <a:p>
            <a:pPr lvl="1"/>
            <a:endParaRPr lang="en-US" altLang="zh-CN" sz="2000" dirty="0"/>
          </a:p>
          <a:p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308688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DD43-3D51-97C5-E0D4-7BC91B0A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输入输出清单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FF132-06F3-D09C-13BE-C1E3A31E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918"/>
            <a:ext cx="6260432" cy="5169045"/>
          </a:xfrm>
        </p:spPr>
        <p:txBody>
          <a:bodyPr/>
          <a:lstStyle/>
          <a:p>
            <a:r>
              <a:rPr lang="zh-CN" altLang="en-US" dirty="0"/>
              <a:t>被测模块产品工作流程，接口文档、数据流参数值说明、</a:t>
            </a:r>
            <a:r>
              <a:rPr lang="en-US" altLang="zh-CN" dirty="0"/>
              <a:t>CAN</a:t>
            </a:r>
            <a:r>
              <a:rPr lang="zh-CN" altLang="en-US" dirty="0"/>
              <a:t>协议文档</a:t>
            </a:r>
            <a:endParaRPr lang="en-US" altLang="zh-CN" dirty="0"/>
          </a:p>
          <a:p>
            <a:r>
              <a:rPr lang="zh-CN" altLang="en-US" dirty="0"/>
              <a:t>用例中参数值说明、可用范围，常见错误状态值或报文</a:t>
            </a:r>
            <a:endParaRPr lang="en-US" altLang="zh-CN" dirty="0"/>
          </a:p>
          <a:p>
            <a:r>
              <a:rPr lang="zh-CN" altLang="en-US" dirty="0"/>
              <a:t>模糊测试系统跟自动化测试用例平台以</a:t>
            </a:r>
            <a:r>
              <a:rPr lang="en-US" altLang="zh-CN" dirty="0"/>
              <a:t>HTTP</a:t>
            </a:r>
            <a:r>
              <a:rPr lang="zh-CN" altLang="en-US" dirty="0"/>
              <a:t>接口建立对接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C5BEE-E216-5AE6-AA56-EF8E50D70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612" y="1348518"/>
            <a:ext cx="3954188" cy="448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4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A0A5-FD45-2EFF-E890-0DEE2956E8F0}"/>
              </a:ext>
            </a:extLst>
          </p:cNvPr>
          <p:cNvSpPr txBox="1">
            <a:spLocks/>
          </p:cNvSpPr>
          <p:nvPr/>
        </p:nvSpPr>
        <p:spPr>
          <a:xfrm>
            <a:off x="647700" y="0"/>
            <a:ext cx="10515600" cy="593431"/>
          </a:xfrm>
          <a:prstGeom prst="rect">
            <a:avLst/>
          </a:prstGeom>
        </p:spPr>
        <p:txBody>
          <a:bodyPr/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lang="zh-CN"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kern="0" dirty="0"/>
              <a:t>模糊测试服务对接测试平台工作流程</a:t>
            </a:r>
            <a:endParaRPr lang="en-CN" kern="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89E3C5-4665-D2B5-19FA-FFD7F2488399}"/>
              </a:ext>
            </a:extLst>
          </p:cNvPr>
          <p:cNvSpPr/>
          <p:nvPr/>
        </p:nvSpPr>
        <p:spPr>
          <a:xfrm>
            <a:off x="1743075" y="971550"/>
            <a:ext cx="2162175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模糊测试服务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EEE98-2ED6-A0B3-3B73-AB5F21833683}"/>
              </a:ext>
            </a:extLst>
          </p:cNvPr>
          <p:cNvSpPr/>
          <p:nvPr/>
        </p:nvSpPr>
        <p:spPr>
          <a:xfrm>
            <a:off x="7848600" y="971550"/>
            <a:ext cx="2162175" cy="6096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测试平台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6915DF5-CD96-57B4-F900-DB8AB99CE2BF}"/>
              </a:ext>
            </a:extLst>
          </p:cNvPr>
          <p:cNvCxnSpPr>
            <a:stCxn id="3" idx="2"/>
          </p:cNvCxnSpPr>
          <p:nvPr/>
        </p:nvCxnSpPr>
        <p:spPr>
          <a:xfrm flipH="1">
            <a:off x="2819400" y="1581150"/>
            <a:ext cx="4763" cy="5029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52CFF2-2F4B-ABE5-7F51-CB7829F5E568}"/>
              </a:ext>
            </a:extLst>
          </p:cNvPr>
          <p:cNvCxnSpPr>
            <a:stCxn id="5" idx="2"/>
          </p:cNvCxnSpPr>
          <p:nvPr/>
        </p:nvCxnSpPr>
        <p:spPr>
          <a:xfrm flipH="1">
            <a:off x="8929687" y="1581150"/>
            <a:ext cx="1" cy="5095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465FEC0-169C-42D5-EB11-BF5D25ADB05E}"/>
              </a:ext>
            </a:extLst>
          </p:cNvPr>
          <p:cNvCxnSpPr/>
          <p:nvPr/>
        </p:nvCxnSpPr>
        <p:spPr>
          <a:xfrm flipH="1">
            <a:off x="2819400" y="2124075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89BCA-3E5A-458D-C71F-A5528BC3DD1F}"/>
              </a:ext>
            </a:extLst>
          </p:cNvPr>
          <p:cNvSpPr txBox="1"/>
          <p:nvPr/>
        </p:nvSpPr>
        <p:spPr>
          <a:xfrm>
            <a:off x="4810125" y="1771650"/>
            <a:ext cx="2138360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用例一运行结果</a:t>
            </a:r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99E9088-0F43-85A3-CF75-121819F02D74}"/>
              </a:ext>
            </a:extLst>
          </p:cNvPr>
          <p:cNvCxnSpPr/>
          <p:nvPr/>
        </p:nvCxnSpPr>
        <p:spPr>
          <a:xfrm>
            <a:off x="2809875" y="2828925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9E61C2D-8EEF-113A-A1D8-60AE289E7CB2}"/>
              </a:ext>
            </a:extLst>
          </p:cNvPr>
          <p:cNvSpPr txBox="1"/>
          <p:nvPr/>
        </p:nvSpPr>
        <p:spPr>
          <a:xfrm>
            <a:off x="4800600" y="2440510"/>
            <a:ext cx="1776412" cy="4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变异后新用例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CE5CC17-8BE3-DE2B-9FDF-2E31CF687BF7}"/>
              </a:ext>
            </a:extLst>
          </p:cNvPr>
          <p:cNvCxnSpPr/>
          <p:nvPr/>
        </p:nvCxnSpPr>
        <p:spPr>
          <a:xfrm flipH="1">
            <a:off x="2819400" y="3215230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234499C-4C48-59B5-A8E1-F71220257C76}"/>
              </a:ext>
            </a:extLst>
          </p:cNvPr>
          <p:cNvSpPr txBox="1"/>
          <p:nvPr/>
        </p:nvSpPr>
        <p:spPr>
          <a:xfrm>
            <a:off x="4810124" y="2862805"/>
            <a:ext cx="2138361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变异用例运行结果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DE5081-CD89-05C3-8960-80C29A67AB40}"/>
              </a:ext>
            </a:extLst>
          </p:cNvPr>
          <p:cNvCxnSpPr/>
          <p:nvPr/>
        </p:nvCxnSpPr>
        <p:spPr>
          <a:xfrm>
            <a:off x="2819400" y="4018780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95ED126-BF05-5C90-1D76-FA8922617172}"/>
              </a:ext>
            </a:extLst>
          </p:cNvPr>
          <p:cNvSpPr txBox="1"/>
          <p:nvPr/>
        </p:nvSpPr>
        <p:spPr>
          <a:xfrm>
            <a:off x="4333875" y="3631835"/>
            <a:ext cx="3424237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变异后新用例</a:t>
            </a:r>
            <a:r>
              <a:rPr lang="en-US" altLang="zh-CN" dirty="0"/>
              <a:t>3/</a:t>
            </a:r>
            <a:r>
              <a:rPr lang="zh-CN" altLang="en-US" dirty="0"/>
              <a:t>新状态</a:t>
            </a:r>
            <a:r>
              <a:rPr lang="en-US" altLang="zh-CN" dirty="0"/>
              <a:t>/</a:t>
            </a:r>
            <a:r>
              <a:rPr lang="zh-CN" altLang="en-US" dirty="0"/>
              <a:t>疑似</a:t>
            </a:r>
            <a:r>
              <a:rPr lang="en-US" altLang="zh-CN" dirty="0"/>
              <a:t>Bug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D603E1-4CD8-83F4-34B3-BF875CDC4452}"/>
              </a:ext>
            </a:extLst>
          </p:cNvPr>
          <p:cNvSpPr txBox="1"/>
          <p:nvPr/>
        </p:nvSpPr>
        <p:spPr>
          <a:xfrm>
            <a:off x="5114926" y="4617259"/>
            <a:ext cx="2152649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。。。。。。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C22B71D-489A-7D94-4F1B-D83225D2735D}"/>
              </a:ext>
            </a:extLst>
          </p:cNvPr>
          <p:cNvCxnSpPr/>
          <p:nvPr/>
        </p:nvCxnSpPr>
        <p:spPr>
          <a:xfrm flipH="1">
            <a:off x="2819400" y="4419057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F01C313-1885-3B6D-3F85-FADABF05DA5E}"/>
              </a:ext>
            </a:extLst>
          </p:cNvPr>
          <p:cNvSpPr txBox="1"/>
          <p:nvPr/>
        </p:nvSpPr>
        <p:spPr>
          <a:xfrm>
            <a:off x="4810124" y="4066632"/>
            <a:ext cx="2138361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变异用例运行结果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776C1A8-D424-3079-49A6-76815202246E}"/>
              </a:ext>
            </a:extLst>
          </p:cNvPr>
          <p:cNvCxnSpPr/>
          <p:nvPr/>
        </p:nvCxnSpPr>
        <p:spPr>
          <a:xfrm flipH="1">
            <a:off x="2805110" y="5654286"/>
            <a:ext cx="6110287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E03F234-767B-79C9-623A-DDC94CEAC28F}"/>
              </a:ext>
            </a:extLst>
          </p:cNvPr>
          <p:cNvSpPr txBox="1"/>
          <p:nvPr/>
        </p:nvSpPr>
        <p:spPr>
          <a:xfrm>
            <a:off x="4795835" y="5301861"/>
            <a:ext cx="2138360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用例二运行结果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61D40CC-ACF6-E493-754E-6A1D31653071}"/>
              </a:ext>
            </a:extLst>
          </p:cNvPr>
          <p:cNvSpPr txBox="1"/>
          <p:nvPr/>
        </p:nvSpPr>
        <p:spPr>
          <a:xfrm>
            <a:off x="5019675" y="5899184"/>
            <a:ext cx="2152649" cy="42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。。。。。。</a:t>
            </a:r>
          </a:p>
        </p:txBody>
      </p:sp>
    </p:spTree>
    <p:extLst>
      <p:ext uri="{BB962C8B-B14F-4D97-AF65-F5344CB8AC3E}">
        <p14:creationId xmlns:p14="http://schemas.microsoft.com/office/powerpoint/2010/main" val="311448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675AE92-F789-36A3-F4D8-42A6A3786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6" r="35000"/>
          <a:stretch/>
        </p:blipFill>
        <p:spPr>
          <a:xfrm>
            <a:off x="332510" y="955701"/>
            <a:ext cx="3058390" cy="5479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C1641C-8E09-7DEC-46B3-D9E80E3E2B5B}"/>
              </a:ext>
            </a:extLst>
          </p:cNvPr>
          <p:cNvSpPr txBox="1"/>
          <p:nvPr/>
        </p:nvSpPr>
        <p:spPr>
          <a:xfrm>
            <a:off x="3214687" y="783388"/>
            <a:ext cx="4638676" cy="6314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“caseID”:1001,</a:t>
            </a:r>
          </a:p>
          <a:p>
            <a:r>
              <a:rPr lang="en-US" altLang="zh-CN" sz="1200" dirty="0"/>
              <a:t>“stepTotal”:7,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 err="1"/>
              <a:t>mutateID</a:t>
            </a:r>
            <a:r>
              <a:rPr lang="zh-CN" altLang="en-US" sz="1200" dirty="0"/>
              <a:t>”</a:t>
            </a:r>
            <a:r>
              <a:rPr lang="en-US" altLang="zh-CN" sz="1200" dirty="0"/>
              <a:t>:0,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time</a:t>
            </a:r>
            <a:r>
              <a:rPr lang="zh-CN" altLang="en-US" sz="1200" dirty="0"/>
              <a:t>”：</a:t>
            </a:r>
            <a:r>
              <a:rPr lang="en-US" altLang="zh-CN" sz="1200" dirty="0"/>
              <a:t>123,</a:t>
            </a:r>
          </a:p>
          <a:p>
            <a:r>
              <a:rPr lang="en-US" altLang="zh-CN" sz="1200" dirty="0"/>
              <a:t>“</a:t>
            </a:r>
            <a:r>
              <a:rPr lang="en-US" altLang="zh-CN" sz="1200" dirty="0" err="1"/>
              <a:t>stepInfoList</a:t>
            </a:r>
            <a:r>
              <a:rPr lang="en-US" altLang="zh-CN" sz="1200" dirty="0"/>
              <a:t>”:[</a:t>
            </a:r>
          </a:p>
          <a:p>
            <a:r>
              <a:rPr lang="en-US" altLang="zh-CN" sz="1200" dirty="0"/>
              <a:t>{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input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“钥匙开关”</a:t>
            </a:r>
            <a:r>
              <a:rPr lang="en-US" altLang="zh-CN" sz="1200" dirty="0"/>
              <a:t>}]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judge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“防盗认证”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“制动信号未有效”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“请踩制动启动信号”</a:t>
            </a:r>
            <a:r>
              <a:rPr lang="en-US" altLang="zh-CN" sz="1200" dirty="0"/>
              <a:t>}],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expect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30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</a:t>
            </a:r>
            <a:r>
              <a:rPr lang="en-US" altLang="zh-CN" sz="1200" dirty="0"/>
              <a:t>State</a:t>
            </a:r>
            <a:r>
              <a:rPr lang="zh-CN" altLang="en-US" sz="1200" dirty="0"/>
              <a:t>状态”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       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“整车模式”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“动力防盗允许</a:t>
            </a:r>
            <a:r>
              <a:rPr lang="en-US" altLang="zh-CN" sz="1200" dirty="0"/>
              <a:t>ready</a:t>
            </a:r>
            <a:r>
              <a:rPr lang="zh-CN" altLang="en-US" sz="1200" dirty="0"/>
              <a:t>标志位”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</a:t>
            </a:r>
            <a:r>
              <a:rPr lang="en-US" altLang="zh-CN" sz="1200" dirty="0"/>
              <a:t>READY</a:t>
            </a:r>
            <a:r>
              <a:rPr lang="zh-CN" altLang="en-US" sz="1200" dirty="0"/>
              <a:t>”灯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1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“策略档位”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“请踩刹车启动”</a:t>
            </a:r>
            <a:r>
              <a:rPr lang="en-US" altLang="zh-CN" sz="1200" dirty="0"/>
              <a:t>}],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fact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30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</a:t>
            </a:r>
            <a:r>
              <a:rPr lang="en-US" altLang="zh-CN" sz="1200" dirty="0"/>
              <a:t>State</a:t>
            </a:r>
            <a:r>
              <a:rPr lang="zh-CN" altLang="en-US" sz="1200" dirty="0"/>
              <a:t>状态”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       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“整车模式”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“动力防盗允许</a:t>
            </a:r>
            <a:r>
              <a:rPr lang="en-US" altLang="zh-CN" sz="1200" dirty="0"/>
              <a:t>ready</a:t>
            </a:r>
            <a:r>
              <a:rPr lang="zh-CN" altLang="en-US" sz="1200" dirty="0"/>
              <a:t>标志位”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</a:t>
            </a:r>
            <a:r>
              <a:rPr lang="en-US" altLang="zh-CN" sz="1200" dirty="0"/>
              <a:t>READY</a:t>
            </a:r>
            <a:r>
              <a:rPr lang="zh-CN" altLang="en-US" sz="1200" dirty="0"/>
              <a:t>”灯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1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“策略档位”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“请踩刹车启动”</a:t>
            </a:r>
            <a:r>
              <a:rPr lang="en-US" altLang="zh-CN" sz="1200" dirty="0"/>
              <a:t>}]</a:t>
            </a:r>
          </a:p>
          <a:p>
            <a:r>
              <a:rPr lang="en-US" altLang="zh-CN" sz="1200" dirty="0"/>
              <a:t>},……………….</a:t>
            </a:r>
          </a:p>
          <a:p>
            <a:r>
              <a:rPr lang="en-US" altLang="zh-CN" sz="1200" dirty="0"/>
              <a:t>]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75133D6-1E89-3031-AFD4-6073157FC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398956"/>
              </p:ext>
            </p:extLst>
          </p:nvPr>
        </p:nvGraphicFramePr>
        <p:xfrm>
          <a:off x="8391525" y="783388"/>
          <a:ext cx="3581762" cy="569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538">
                  <a:extLst>
                    <a:ext uri="{9D8B030D-6E8A-4147-A177-3AD203B41FA5}">
                      <a16:colId xmlns:a16="http://schemas.microsoft.com/office/drawing/2014/main" val="644328418"/>
                    </a:ext>
                  </a:extLst>
                </a:gridCol>
                <a:gridCol w="1804224">
                  <a:extLst>
                    <a:ext uri="{9D8B030D-6E8A-4147-A177-3AD203B41FA5}">
                      <a16:colId xmlns:a16="http://schemas.microsoft.com/office/drawing/2014/main" val="3542999590"/>
                    </a:ext>
                  </a:extLst>
                </a:gridCol>
              </a:tblGrid>
              <a:tr h="45421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11560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caseID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72659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stepTotal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用例总步骤数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4730"/>
                  </a:ext>
                </a:extLst>
              </a:tr>
              <a:tr h="660909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mutateID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accent3"/>
                          </a:solidFill>
                        </a:rPr>
                        <a:t>变异体</a:t>
                      </a:r>
                      <a:r>
                        <a:rPr lang="en-US" altLang="zh-CN" sz="1600" b="1" dirty="0">
                          <a:solidFill>
                            <a:schemeClr val="accent3"/>
                          </a:solidFill>
                        </a:rPr>
                        <a:t>ID</a:t>
                      </a:r>
                      <a:r>
                        <a:rPr lang="zh-CN" altLang="en-US" sz="1600" b="1" dirty="0">
                          <a:solidFill>
                            <a:schemeClr val="accent3"/>
                          </a:solidFill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r>
                        <a:rPr lang="zh-CN" altLang="en-US" sz="1600" b="1" dirty="0">
                          <a:solidFill>
                            <a:schemeClr val="accent3"/>
                          </a:solidFill>
                        </a:rPr>
                        <a:t>表示非变异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84707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time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用例运行时间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649096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stepInfoList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步骤详细信息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93100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11656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judge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判断条件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693601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expect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预期结果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0200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fact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724328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47692"/>
                  </a:ext>
                </a:extLst>
              </a:tr>
              <a:tr h="454215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9073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9EE7289C-0F23-089D-D86C-C3209C7769AE}"/>
              </a:ext>
            </a:extLst>
          </p:cNvPr>
          <p:cNvSpPr txBox="1">
            <a:spLocks/>
          </p:cNvSpPr>
          <p:nvPr/>
        </p:nvSpPr>
        <p:spPr>
          <a:xfrm>
            <a:off x="647700" y="0"/>
            <a:ext cx="10515600" cy="593431"/>
          </a:xfrm>
          <a:prstGeom prst="rect">
            <a:avLst/>
          </a:prstGeom>
        </p:spPr>
        <p:txBody>
          <a:bodyPr/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lang="zh-CN"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kern="0" dirty="0"/>
              <a:t>接口平台</a:t>
            </a:r>
            <a:r>
              <a:rPr lang="en-US" altLang="zh-CN" kern="0" dirty="0"/>
              <a:t>--</a:t>
            </a:r>
            <a:r>
              <a:rPr lang="zh-CN" altLang="en-US" kern="0" dirty="0"/>
              <a:t>（输入）用例运行详细信息</a:t>
            </a:r>
            <a:endParaRPr lang="en-CN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E7E1CF-345A-F392-0DCC-483CAAB6B678}"/>
              </a:ext>
            </a:extLst>
          </p:cNvPr>
          <p:cNvSpPr txBox="1"/>
          <p:nvPr/>
        </p:nvSpPr>
        <p:spPr>
          <a:xfrm>
            <a:off x="4340587" y="894774"/>
            <a:ext cx="3835400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模糊测试服务接收用例运行结果</a:t>
            </a:r>
          </a:p>
        </p:txBody>
      </p:sp>
    </p:spTree>
    <p:extLst>
      <p:ext uri="{BB962C8B-B14F-4D97-AF65-F5344CB8AC3E}">
        <p14:creationId xmlns:p14="http://schemas.microsoft.com/office/powerpoint/2010/main" val="54433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B608-9671-A014-7303-7AA30C09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5D495B-6AAD-4D32-CBD3-3B008DDDD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6" r="35000"/>
          <a:stretch/>
        </p:blipFill>
        <p:spPr>
          <a:xfrm>
            <a:off x="332510" y="955701"/>
            <a:ext cx="3058390" cy="5479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08A39F5-D62F-A253-FD7C-887D77C6A35B}"/>
              </a:ext>
            </a:extLst>
          </p:cNvPr>
          <p:cNvSpPr txBox="1"/>
          <p:nvPr/>
        </p:nvSpPr>
        <p:spPr>
          <a:xfrm>
            <a:off x="3195637" y="1268082"/>
            <a:ext cx="4638676" cy="547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“caseID”:1001,</a:t>
            </a:r>
          </a:p>
          <a:p>
            <a:r>
              <a:rPr lang="en-US" altLang="zh-CN" sz="1200" dirty="0"/>
              <a:t>“stepTotal”:7,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 err="1"/>
              <a:t>mutateID</a:t>
            </a:r>
            <a:r>
              <a:rPr lang="zh-CN" altLang="en-US" sz="1200" dirty="0"/>
              <a:t>”</a:t>
            </a:r>
            <a:r>
              <a:rPr lang="en-US" altLang="zh-CN" sz="1200" dirty="0"/>
              <a:t>:1,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end</a:t>
            </a:r>
            <a:r>
              <a:rPr lang="zh-CN" altLang="en-US" sz="1200" dirty="0"/>
              <a:t>”：</a:t>
            </a:r>
            <a:r>
              <a:rPr lang="en-US" altLang="zh-CN" sz="1200" dirty="0"/>
              <a:t>0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“type”:”</a:t>
            </a:r>
            <a:r>
              <a:rPr lang="en-US" altLang="zh-CN" sz="1200" b="1" u="sng" dirty="0" err="1">
                <a:solidFill>
                  <a:schemeClr val="accent6"/>
                </a:solidFill>
              </a:rPr>
              <a:t>newCase</a:t>
            </a:r>
            <a:r>
              <a:rPr lang="en-US" altLang="zh-CN" sz="1200" dirty="0"/>
              <a:t>”,</a:t>
            </a:r>
          </a:p>
          <a:p>
            <a:r>
              <a:rPr lang="en-US" altLang="zh-CN" sz="1200" dirty="0"/>
              <a:t>“</a:t>
            </a:r>
            <a:r>
              <a:rPr lang="en-US" altLang="zh-CN" sz="1200" dirty="0" err="1"/>
              <a:t>stepInfoList</a:t>
            </a:r>
            <a:r>
              <a:rPr lang="en-US" altLang="zh-CN" sz="1200" dirty="0"/>
              <a:t>”:[</a:t>
            </a:r>
          </a:p>
          <a:p>
            <a:r>
              <a:rPr lang="en-US" altLang="zh-CN" sz="1200" dirty="0"/>
              <a:t>{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input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b="1" i="1" u="sng" dirty="0">
                <a:solidFill>
                  <a:srgbClr val="132D79"/>
                </a:solidFill>
              </a:rPr>
              <a:t>8</a:t>
            </a:r>
            <a:r>
              <a:rPr lang="zh-CN" altLang="en-US" sz="1200" dirty="0"/>
              <a:t>”</a:t>
            </a:r>
            <a:r>
              <a:rPr lang="en-US" altLang="zh-CN" sz="1200" dirty="0"/>
              <a:t>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“钥匙开关”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</a:t>
            </a:r>
            <a:r>
              <a:rPr lang="en-US" altLang="zh-CN" b="1" i="1" u="sng" dirty="0">
                <a:solidFill>
                  <a:srgbClr val="132D79"/>
                </a:solidFill>
              </a:rPr>
              <a:t>1</a:t>
            </a:r>
            <a:r>
              <a:rPr lang="en-US" altLang="zh-CN" sz="1200" dirty="0"/>
              <a:t>}]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judge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“防盗认证”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“制动信号未有效”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“请踩制动启动信号”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expect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30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</a:t>
            </a:r>
            <a:r>
              <a:rPr lang="en-US" altLang="zh-CN" sz="1200" dirty="0"/>
              <a:t>State</a:t>
            </a:r>
            <a:r>
              <a:rPr lang="zh-CN" altLang="en-US" sz="1200" dirty="0"/>
              <a:t>状态”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“整车模式”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“动力防盗允许</a:t>
            </a:r>
            <a:r>
              <a:rPr lang="en-US" altLang="zh-CN" sz="1200" dirty="0"/>
              <a:t>ready</a:t>
            </a:r>
            <a:r>
              <a:rPr lang="zh-CN" altLang="en-US" sz="1200" dirty="0"/>
              <a:t>标志位”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r>
              <a:rPr lang="en-US" altLang="zh-CN" sz="1200" dirty="0"/>
              <a:t>       	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</a:t>
            </a:r>
            <a:r>
              <a:rPr lang="en-US" altLang="zh-CN" sz="1200" dirty="0"/>
              <a:t>READY</a:t>
            </a:r>
            <a:r>
              <a:rPr lang="zh-CN" altLang="en-US" sz="1200" dirty="0"/>
              <a:t>灯”，“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1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“策略档位”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“请踩刹车启动”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</a:t>
            </a:r>
          </a:p>
          <a:p>
            <a:r>
              <a:rPr lang="en-US" altLang="zh-CN" sz="1200" dirty="0"/>
              <a:t>},……………….</a:t>
            </a:r>
          </a:p>
          <a:p>
            <a:r>
              <a:rPr lang="en-US" altLang="zh-CN" sz="1200" dirty="0"/>
              <a:t>]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C4F6AC-9144-BF05-BB08-51EB7E04B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148482"/>
              </p:ext>
            </p:extLst>
          </p:nvPr>
        </p:nvGraphicFramePr>
        <p:xfrm>
          <a:off x="8429625" y="894774"/>
          <a:ext cx="3457575" cy="5127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746">
                  <a:extLst>
                    <a:ext uri="{9D8B030D-6E8A-4147-A177-3AD203B41FA5}">
                      <a16:colId xmlns:a16="http://schemas.microsoft.com/office/drawing/2014/main" val="644328418"/>
                    </a:ext>
                  </a:extLst>
                </a:gridCol>
                <a:gridCol w="2139829">
                  <a:extLst>
                    <a:ext uri="{9D8B030D-6E8A-4147-A177-3AD203B41FA5}">
                      <a16:colId xmlns:a16="http://schemas.microsoft.com/office/drawing/2014/main" val="3542999590"/>
                    </a:ext>
                  </a:extLst>
                </a:gridCol>
              </a:tblGrid>
              <a:tr h="3591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11560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caseID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用例</a:t>
                      </a: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72659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stepTotal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用例总步骤数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4730"/>
                  </a:ext>
                </a:extLst>
              </a:tr>
              <a:tr h="554206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mutateID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变异体</a:t>
                      </a:r>
                      <a:r>
                        <a:rPr lang="en-US" altLang="zh-CN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表示非变异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176806"/>
                  </a:ext>
                </a:extLst>
              </a:tr>
              <a:tr h="554206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当前用例是否结束变异，</a:t>
                      </a:r>
                      <a:endParaRPr lang="en-US" altLang="zh-CN" sz="14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0-</a:t>
                      </a: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否，</a:t>
                      </a:r>
                      <a:r>
                        <a:rPr lang="en-US" altLang="zh-CN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1-</a:t>
                      </a:r>
                      <a:r>
                        <a:rPr lang="zh-CN" altLang="en-US" sz="14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550126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消息类型（新用例）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207720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stepInfoList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步骤详细信息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93100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输入参数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11656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judge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判断条件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693601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expect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预期结果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0200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参数值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47692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3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参数名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90734"/>
                  </a:ext>
                </a:extLst>
              </a:tr>
              <a:tr h="359137">
                <a:tc>
                  <a:txBody>
                    <a:bodyPr/>
                    <a:lstStyle/>
                    <a:p>
                      <a:r>
                        <a:rPr lang="en-US" altLang="zh-CN" sz="1400" b="0" dirty="0"/>
                        <a:t>notice</a:t>
                      </a:r>
                      <a:endParaRPr lang="zh-CN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accent3"/>
                          </a:solidFill>
                        </a:rPr>
                        <a:t>变更位，</a:t>
                      </a:r>
                      <a:r>
                        <a:rPr lang="en-US" altLang="zh-CN" sz="1400" b="1" dirty="0">
                          <a:solidFill>
                            <a:schemeClr val="accent3"/>
                          </a:solidFill>
                        </a:rPr>
                        <a:t>1-</a:t>
                      </a:r>
                      <a:r>
                        <a:rPr lang="zh-CN" altLang="en-US" sz="1400" b="1" dirty="0">
                          <a:solidFill>
                            <a:schemeClr val="accent3"/>
                          </a:solidFill>
                        </a:rPr>
                        <a:t>变更</a:t>
                      </a:r>
                      <a:r>
                        <a:rPr lang="en-US" altLang="zh-CN" sz="1400" b="1" dirty="0">
                          <a:solidFill>
                            <a:schemeClr val="accent3"/>
                          </a:solidFill>
                        </a:rPr>
                        <a:t>0-</a:t>
                      </a:r>
                      <a:r>
                        <a:rPr lang="zh-CN" altLang="en-US" sz="1400" b="1" dirty="0">
                          <a:solidFill>
                            <a:schemeClr val="accent3"/>
                          </a:solidFill>
                        </a:rPr>
                        <a:t>未变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5932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DE749A2-0FE4-A200-622F-5EFDB7CC0397}"/>
              </a:ext>
            </a:extLst>
          </p:cNvPr>
          <p:cNvSpPr txBox="1">
            <a:spLocks/>
          </p:cNvSpPr>
          <p:nvPr/>
        </p:nvSpPr>
        <p:spPr>
          <a:xfrm>
            <a:off x="647700" y="0"/>
            <a:ext cx="10515600" cy="593431"/>
          </a:xfrm>
          <a:prstGeom prst="rect">
            <a:avLst/>
          </a:prstGeom>
        </p:spPr>
        <p:txBody>
          <a:bodyPr/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lang="zh-CN"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kern="0" dirty="0"/>
              <a:t>模糊测试服务</a:t>
            </a:r>
            <a:r>
              <a:rPr lang="en-US" altLang="zh-CN" kern="0" dirty="0"/>
              <a:t>--</a:t>
            </a:r>
            <a:r>
              <a:rPr lang="zh-CN" altLang="en-US" kern="0" dirty="0"/>
              <a:t>（输出）变异后新用例</a:t>
            </a:r>
            <a:endParaRPr lang="en-CN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A5784E-9120-F6F8-E71D-E8C494FE8572}"/>
              </a:ext>
            </a:extLst>
          </p:cNvPr>
          <p:cNvSpPr txBox="1"/>
          <p:nvPr/>
        </p:nvSpPr>
        <p:spPr>
          <a:xfrm>
            <a:off x="4340587" y="894774"/>
            <a:ext cx="2631713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变异后的新输入数据</a:t>
            </a:r>
          </a:p>
        </p:txBody>
      </p:sp>
    </p:spTree>
    <p:extLst>
      <p:ext uri="{BB962C8B-B14F-4D97-AF65-F5344CB8AC3E}">
        <p14:creationId xmlns:p14="http://schemas.microsoft.com/office/powerpoint/2010/main" val="3595046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4D02-EC3F-1BF8-0C9B-729028C0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305897B-598E-DB6F-F204-85850362C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6" r="35000"/>
          <a:stretch/>
        </p:blipFill>
        <p:spPr>
          <a:xfrm>
            <a:off x="332510" y="955701"/>
            <a:ext cx="3058390" cy="5479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8359F07-23FB-742B-60A8-4D989BE1F689}"/>
              </a:ext>
            </a:extLst>
          </p:cNvPr>
          <p:cNvSpPr txBox="1"/>
          <p:nvPr/>
        </p:nvSpPr>
        <p:spPr>
          <a:xfrm>
            <a:off x="3195637" y="1268082"/>
            <a:ext cx="4638676" cy="479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“caseID”:1001,</a:t>
            </a:r>
          </a:p>
          <a:p>
            <a:r>
              <a:rPr lang="en-US" altLang="zh-CN" sz="1200" dirty="0"/>
              <a:t>“stepTotal”:7,</a:t>
            </a:r>
          </a:p>
          <a:p>
            <a:r>
              <a:rPr lang="en-US" altLang="zh-CN" sz="1200" dirty="0"/>
              <a:t>“type”:”</a:t>
            </a:r>
            <a:r>
              <a:rPr lang="en-US" altLang="zh-CN" sz="1200" b="1" dirty="0" err="1">
                <a:solidFill>
                  <a:schemeClr val="accent6"/>
                </a:solidFill>
              </a:rPr>
              <a:t>newState</a:t>
            </a:r>
            <a:r>
              <a:rPr lang="en-US" altLang="zh-CN" sz="1200" dirty="0"/>
              <a:t>”,</a:t>
            </a:r>
          </a:p>
          <a:p>
            <a:r>
              <a:rPr lang="en-US" altLang="zh-CN" sz="1200" dirty="0"/>
              <a:t>“</a:t>
            </a:r>
            <a:r>
              <a:rPr lang="en-US" altLang="zh-CN" sz="1200" dirty="0" err="1"/>
              <a:t>stepInfoList</a:t>
            </a:r>
            <a:r>
              <a:rPr lang="en-US" altLang="zh-CN" sz="1200" dirty="0"/>
              <a:t>”:[</a:t>
            </a:r>
          </a:p>
          <a:p>
            <a:r>
              <a:rPr lang="en-US" altLang="zh-CN" sz="1200" dirty="0"/>
              <a:t>{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input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“钥匙开关”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judge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“防盗认证”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“制动信号未有效”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“请踩制动启动信号”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expect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30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</a:t>
            </a:r>
            <a:r>
              <a:rPr lang="en-US" altLang="zh-CN" sz="1200" dirty="0"/>
              <a:t>State</a:t>
            </a:r>
            <a:r>
              <a:rPr lang="zh-CN" altLang="en-US" sz="1200" dirty="0"/>
              <a:t>状态”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 </a:t>
            </a:r>
            <a:r>
              <a:rPr lang="zh-CN" altLang="en-US" sz="1200" dirty="0"/>
              <a:t>“</a:t>
            </a:r>
            <a:r>
              <a:rPr lang="en-US" altLang="zh-CN" sz="1600" b="1" i="1" u="sng" dirty="0">
                <a:solidFill>
                  <a:schemeClr val="bg2"/>
                </a:solidFill>
              </a:rPr>
              <a:t>6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“整车模式”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</a:t>
            </a:r>
            <a:r>
              <a:rPr lang="en-US" altLang="zh-CN" sz="1600" b="1" i="1" u="sng" dirty="0">
                <a:solidFill>
                  <a:schemeClr val="bg2"/>
                </a:solidFill>
              </a:rPr>
              <a:t>1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“动力防盗允许</a:t>
            </a:r>
            <a:r>
              <a:rPr lang="en-US" altLang="zh-CN" sz="1200" dirty="0"/>
              <a:t>ready</a:t>
            </a:r>
            <a:r>
              <a:rPr lang="zh-CN" altLang="en-US" sz="1200" dirty="0"/>
              <a:t>标志位”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 </a:t>
            </a:r>
            <a:r>
              <a:rPr lang="zh-CN" altLang="en-US" sz="1200" dirty="0"/>
              <a:t>“</a:t>
            </a:r>
            <a:r>
              <a:rPr lang="en-US" altLang="zh-CN" sz="1600" b="1" i="1" u="sng" dirty="0">
                <a:solidFill>
                  <a:schemeClr val="bg2"/>
                </a:solidFill>
              </a:rPr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</a:t>
            </a:r>
            <a:r>
              <a:rPr lang="en-US" altLang="zh-CN" sz="1200" dirty="0"/>
              <a:t>READY</a:t>
            </a:r>
            <a:r>
              <a:rPr lang="zh-CN" altLang="en-US" sz="1200" dirty="0"/>
              <a:t>”灯，“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</a:t>
            </a:r>
            <a:r>
              <a:rPr lang="en-US" altLang="zh-CN" sz="1600" b="1" i="1" u="sng" dirty="0">
                <a:solidFill>
                  <a:schemeClr val="bg2"/>
                </a:solidFill>
              </a:rPr>
              <a:t>1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1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“策略档位”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“请踩刹车启动”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</a:t>
            </a:r>
          </a:p>
          <a:p>
            <a:r>
              <a:rPr lang="en-US" altLang="zh-CN" sz="1200" dirty="0"/>
              <a:t>},……………….</a:t>
            </a:r>
          </a:p>
          <a:p>
            <a:r>
              <a:rPr lang="en-US" altLang="zh-CN" sz="1200" dirty="0"/>
              <a:t>]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5F20A0F-6E8F-9C61-8DF4-00748FD34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183701"/>
              </p:ext>
            </p:extLst>
          </p:nvPr>
        </p:nvGraphicFramePr>
        <p:xfrm>
          <a:off x="7947890" y="1028315"/>
          <a:ext cx="4101235" cy="5281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12">
                  <a:extLst>
                    <a:ext uri="{9D8B030D-6E8A-4147-A177-3AD203B41FA5}">
                      <a16:colId xmlns:a16="http://schemas.microsoft.com/office/drawing/2014/main" val="644328418"/>
                    </a:ext>
                  </a:extLst>
                </a:gridCol>
                <a:gridCol w="2197823">
                  <a:extLst>
                    <a:ext uri="{9D8B030D-6E8A-4147-A177-3AD203B41FA5}">
                      <a16:colId xmlns:a16="http://schemas.microsoft.com/office/drawing/2014/main" val="3542999590"/>
                    </a:ext>
                  </a:extLst>
                </a:gridCol>
              </a:tblGrid>
              <a:tr h="4801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1156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caseID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72659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stepTotal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用例总步骤数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473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消息类型（新状态）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20772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stepInfoList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步骤详细信息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9310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11656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judge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判断条件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693601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expect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预期结果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020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47692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90734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notice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参数是否需检查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5212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CE3EEAE-0465-C0BC-B935-5ED267982031}"/>
              </a:ext>
            </a:extLst>
          </p:cNvPr>
          <p:cNvSpPr txBox="1">
            <a:spLocks/>
          </p:cNvSpPr>
          <p:nvPr/>
        </p:nvSpPr>
        <p:spPr>
          <a:xfrm>
            <a:off x="647700" y="0"/>
            <a:ext cx="10515600" cy="593431"/>
          </a:xfrm>
          <a:prstGeom prst="rect">
            <a:avLst/>
          </a:prstGeom>
        </p:spPr>
        <p:txBody>
          <a:bodyPr/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lang="zh-CN"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kern="0" dirty="0"/>
              <a:t>模糊测试服务</a:t>
            </a:r>
            <a:r>
              <a:rPr lang="en-US" altLang="zh-CN" kern="0" dirty="0"/>
              <a:t>--</a:t>
            </a:r>
            <a:r>
              <a:rPr lang="zh-CN" altLang="en-US" kern="0" dirty="0"/>
              <a:t>（输出）新状态</a:t>
            </a:r>
            <a:endParaRPr lang="en-CN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D1CE3D-CAA4-2109-30E6-3B17310AD270}"/>
              </a:ext>
            </a:extLst>
          </p:cNvPr>
          <p:cNvSpPr txBox="1"/>
          <p:nvPr/>
        </p:nvSpPr>
        <p:spPr>
          <a:xfrm>
            <a:off x="4340587" y="894774"/>
            <a:ext cx="2631713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发现新的响应组合后</a:t>
            </a:r>
          </a:p>
        </p:txBody>
      </p:sp>
    </p:spTree>
    <p:extLst>
      <p:ext uri="{BB962C8B-B14F-4D97-AF65-F5344CB8AC3E}">
        <p14:creationId xmlns:p14="http://schemas.microsoft.com/office/powerpoint/2010/main" val="305889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1C5F-FBAB-C746-2B16-1C266DAA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6EBB16A-C0F3-8E3E-15F7-09D2FADB4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6" r="35000"/>
          <a:stretch/>
        </p:blipFill>
        <p:spPr>
          <a:xfrm>
            <a:off x="142875" y="925237"/>
            <a:ext cx="3058390" cy="5479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DA14973-B29D-3770-62FF-8945B2F882D4}"/>
              </a:ext>
            </a:extLst>
          </p:cNvPr>
          <p:cNvSpPr txBox="1"/>
          <p:nvPr/>
        </p:nvSpPr>
        <p:spPr>
          <a:xfrm>
            <a:off x="2913927" y="1268081"/>
            <a:ext cx="5033963" cy="479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“caseID”:1001,</a:t>
            </a:r>
          </a:p>
          <a:p>
            <a:r>
              <a:rPr lang="en-US" altLang="zh-CN" sz="1200" dirty="0"/>
              <a:t>“stepTotal”:7,</a:t>
            </a:r>
          </a:p>
          <a:p>
            <a:r>
              <a:rPr lang="en-US" altLang="zh-CN" sz="1200" dirty="0"/>
              <a:t>“type”:”</a:t>
            </a:r>
            <a:r>
              <a:rPr lang="en-US" altLang="zh-CN" sz="1200" b="1" dirty="0" err="1">
                <a:solidFill>
                  <a:schemeClr val="accent6"/>
                </a:solidFill>
              </a:rPr>
              <a:t>newBug</a:t>
            </a:r>
            <a:r>
              <a:rPr lang="en-US" altLang="zh-CN" sz="1200" dirty="0"/>
              <a:t>”,</a:t>
            </a:r>
          </a:p>
          <a:p>
            <a:r>
              <a:rPr lang="en-US" altLang="zh-CN" sz="1200" dirty="0"/>
              <a:t>“</a:t>
            </a:r>
            <a:r>
              <a:rPr lang="en-US" altLang="zh-CN" sz="1200" dirty="0" err="1"/>
              <a:t>stepInfoList</a:t>
            </a:r>
            <a:r>
              <a:rPr lang="en-US" altLang="zh-CN" sz="1200" dirty="0"/>
              <a:t>”:[</a:t>
            </a:r>
          </a:p>
          <a:p>
            <a:r>
              <a:rPr lang="en-US" altLang="zh-CN" sz="1200" dirty="0"/>
              <a:t>{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input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“钥匙开关”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judge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“防盗认证”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“制动信号未有效”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“请踩制动启动信号”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:0}],</a:t>
            </a:r>
          </a:p>
          <a:p>
            <a:r>
              <a:rPr lang="zh-CN" altLang="en-US" sz="1200" dirty="0"/>
              <a:t>“</a:t>
            </a:r>
            <a:r>
              <a:rPr lang="en-US" altLang="zh-CN" sz="1200" dirty="0"/>
              <a:t>fact</a:t>
            </a:r>
            <a:r>
              <a:rPr lang="zh-CN" altLang="en-US" sz="1200" dirty="0"/>
              <a:t>”：</a:t>
            </a:r>
            <a:r>
              <a:rPr lang="en-US" altLang="zh-CN" sz="1200" dirty="0"/>
              <a:t>[{“value”: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30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</a:t>
            </a:r>
            <a:r>
              <a:rPr lang="en-US" altLang="zh-CN" sz="1200" dirty="0"/>
              <a:t>State</a:t>
            </a:r>
            <a:r>
              <a:rPr lang="zh-CN" altLang="en-US" sz="1200" dirty="0"/>
              <a:t>状态”，“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                          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2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“整车模式”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“动力防盗允许</a:t>
            </a:r>
            <a:r>
              <a:rPr lang="en-US" altLang="zh-CN" sz="1200" dirty="0"/>
              <a:t>ready</a:t>
            </a:r>
            <a:r>
              <a:rPr lang="zh-CN" altLang="en-US" sz="1200" dirty="0"/>
              <a:t>标志位”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 </a:t>
            </a:r>
            <a:r>
              <a:rPr lang="zh-CN" altLang="en-US" sz="1200" dirty="0"/>
              <a:t>“</a:t>
            </a:r>
            <a:r>
              <a:rPr lang="en-US" altLang="zh-CN" sz="1200" dirty="0"/>
              <a:t>0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</a:t>
            </a:r>
            <a:r>
              <a:rPr lang="en-US" altLang="zh-CN" sz="1200" dirty="0"/>
              <a:t>READY</a:t>
            </a:r>
            <a:r>
              <a:rPr lang="zh-CN" altLang="en-US" sz="1200" dirty="0"/>
              <a:t>灯”，“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 </a:t>
            </a:r>
            <a:r>
              <a:rPr lang="en-US" altLang="zh-CN" sz="1200" dirty="0"/>
              <a:t>:0}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600" b="1" i="1" u="sng" dirty="0">
                <a:solidFill>
                  <a:srgbClr val="FF0000"/>
                </a:solidFill>
              </a:rPr>
              <a:t>3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“策略档位”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</a:t>
            </a:r>
            <a:r>
              <a:rPr lang="en-US" altLang="zh-CN" sz="1600" b="1" i="1" u="sng" dirty="0">
                <a:solidFill>
                  <a:srgbClr val="FF0000"/>
                </a:solidFill>
              </a:rPr>
              <a:t>1</a:t>
            </a:r>
            <a:r>
              <a:rPr lang="en-US" altLang="zh-CN" sz="1200" dirty="0"/>
              <a:t>}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en-US" altLang="zh-CN" sz="1200" dirty="0"/>
              <a:t>	 {“value”:</a:t>
            </a:r>
            <a:r>
              <a:rPr lang="zh-CN" altLang="en-US" sz="1200" dirty="0"/>
              <a:t>“</a:t>
            </a:r>
            <a:r>
              <a:rPr lang="en-US" altLang="zh-CN" sz="1600" b="1" i="1" u="sng" dirty="0">
                <a:solidFill>
                  <a:srgbClr val="FF0000"/>
                </a:solidFill>
              </a:rPr>
              <a:t>1</a:t>
            </a:r>
            <a:r>
              <a:rPr lang="zh-CN" altLang="en-US" sz="1200" dirty="0"/>
              <a:t>”</a:t>
            </a:r>
            <a:r>
              <a:rPr lang="en-US" altLang="zh-CN" sz="1200" dirty="0"/>
              <a:t> ,</a:t>
            </a:r>
            <a:r>
              <a:rPr lang="zh-CN" altLang="en-US" sz="1200" dirty="0"/>
              <a:t>  “</a:t>
            </a:r>
            <a:r>
              <a:rPr lang="en-US" altLang="zh-CN" sz="1200" dirty="0"/>
              <a:t>name”:</a:t>
            </a:r>
            <a:r>
              <a:rPr lang="zh-CN" altLang="en-US" sz="1200" dirty="0"/>
              <a:t>“请踩刹车启动” ，“</a:t>
            </a:r>
            <a:r>
              <a:rPr lang="en-US" altLang="zh-CN" sz="1200" dirty="0"/>
              <a:t>notice</a:t>
            </a:r>
            <a:r>
              <a:rPr lang="zh-CN" altLang="en-US" sz="1200" dirty="0"/>
              <a:t>”</a:t>
            </a:r>
            <a:r>
              <a:rPr lang="en-US" altLang="zh-CN" sz="1200" dirty="0"/>
              <a:t>:</a:t>
            </a:r>
            <a:r>
              <a:rPr lang="en-US" altLang="zh-CN" sz="1600" b="1" i="1" u="sng" dirty="0">
                <a:solidFill>
                  <a:srgbClr val="FF0000"/>
                </a:solidFill>
              </a:rPr>
              <a:t>1</a:t>
            </a:r>
            <a:r>
              <a:rPr lang="en-US" altLang="zh-CN" sz="1200" dirty="0"/>
              <a:t>}]</a:t>
            </a:r>
          </a:p>
          <a:p>
            <a:r>
              <a:rPr lang="en-US" altLang="zh-CN" sz="1200" dirty="0"/>
              <a:t>},……………….</a:t>
            </a:r>
          </a:p>
          <a:p>
            <a:r>
              <a:rPr lang="en-US" altLang="zh-CN" sz="1200" dirty="0"/>
              <a:t>]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8D3FD6-4657-B0B0-7769-B00ED48E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430722"/>
              </p:ext>
            </p:extLst>
          </p:nvPr>
        </p:nvGraphicFramePr>
        <p:xfrm>
          <a:off x="7947890" y="1028315"/>
          <a:ext cx="4101235" cy="5281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12">
                  <a:extLst>
                    <a:ext uri="{9D8B030D-6E8A-4147-A177-3AD203B41FA5}">
                      <a16:colId xmlns:a16="http://schemas.microsoft.com/office/drawing/2014/main" val="644328418"/>
                    </a:ext>
                  </a:extLst>
                </a:gridCol>
                <a:gridCol w="2197823">
                  <a:extLst>
                    <a:ext uri="{9D8B030D-6E8A-4147-A177-3AD203B41FA5}">
                      <a16:colId xmlns:a16="http://schemas.microsoft.com/office/drawing/2014/main" val="3542999590"/>
                    </a:ext>
                  </a:extLst>
                </a:gridCol>
              </a:tblGrid>
              <a:tr h="4801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1156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caseID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72659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stepTotal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用例总步骤数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473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消息类型（新</a:t>
                      </a:r>
                      <a:r>
                        <a:rPr lang="en-US" altLang="zh-CN" b="1" dirty="0">
                          <a:solidFill>
                            <a:schemeClr val="accent3"/>
                          </a:solidFill>
                        </a:rPr>
                        <a:t>Bug</a:t>
                      </a:r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20772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stepInfoList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步骤详细信息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93100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11656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judge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判断条件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693601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fact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724328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47692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90734"/>
                  </a:ext>
                </a:extLst>
              </a:tr>
              <a:tr h="480137">
                <a:tc>
                  <a:txBody>
                    <a:bodyPr/>
                    <a:lstStyle/>
                    <a:p>
                      <a:r>
                        <a:rPr lang="en-US" altLang="zh-CN" dirty="0"/>
                        <a:t>notice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accent3"/>
                          </a:solidFill>
                        </a:rPr>
                        <a:t>参数是否需检查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4970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A109D58-5B71-FE0C-503F-DA233DD212DF}"/>
              </a:ext>
            </a:extLst>
          </p:cNvPr>
          <p:cNvSpPr txBox="1">
            <a:spLocks/>
          </p:cNvSpPr>
          <p:nvPr/>
        </p:nvSpPr>
        <p:spPr>
          <a:xfrm>
            <a:off x="647700" y="0"/>
            <a:ext cx="10515600" cy="593431"/>
          </a:xfrm>
          <a:prstGeom prst="rect">
            <a:avLst/>
          </a:prstGeom>
        </p:spPr>
        <p:txBody>
          <a:bodyPr/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lang="zh-CN"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kern="0" dirty="0"/>
              <a:t>模糊测试服务</a:t>
            </a:r>
            <a:r>
              <a:rPr lang="en-US" altLang="zh-CN" kern="0" dirty="0"/>
              <a:t>--</a:t>
            </a:r>
            <a:r>
              <a:rPr lang="zh-CN" altLang="en-US" kern="0" dirty="0"/>
              <a:t>（输出）疑似</a:t>
            </a:r>
            <a:r>
              <a:rPr lang="en-US" altLang="zh-CN" kern="0" dirty="0"/>
              <a:t>Bug</a:t>
            </a:r>
            <a:endParaRPr lang="en-CN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B5488F-BBFC-863B-58E5-9D7CA88C65A5}"/>
              </a:ext>
            </a:extLst>
          </p:cNvPr>
          <p:cNvSpPr txBox="1"/>
          <p:nvPr/>
        </p:nvSpPr>
        <p:spPr>
          <a:xfrm>
            <a:off x="4340587" y="894774"/>
            <a:ext cx="2631713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发现疑似的</a:t>
            </a:r>
            <a:r>
              <a:rPr lang="en-US" altLang="zh-CN" sz="2000" b="1" dirty="0"/>
              <a:t>Bug</a:t>
            </a:r>
            <a:r>
              <a:rPr lang="zh-CN" altLang="en-US" sz="2000" b="1" dirty="0"/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70531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234A-F45A-1C41-4E5D-C73E4F61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交付物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8FF17-8805-3632-257A-F2B0AAF21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模糊测试软件系统</a:t>
            </a:r>
          </a:p>
          <a:p>
            <a:r>
              <a:rPr lang="en-CN" dirty="0"/>
              <a:t>测试用例</a:t>
            </a:r>
            <a:r>
              <a:rPr lang="en-US" altLang="zh-CN" dirty="0"/>
              <a:t>-</a:t>
            </a:r>
            <a:r>
              <a:rPr lang="zh-CN" altLang="en-US" dirty="0"/>
              <a:t>新状态、</a:t>
            </a:r>
            <a:r>
              <a:rPr lang="en-CN" dirty="0"/>
              <a:t>测试用例</a:t>
            </a:r>
            <a:r>
              <a:rPr lang="en-US" altLang="zh-CN" dirty="0"/>
              <a:t>-</a:t>
            </a:r>
            <a:r>
              <a:rPr lang="zh-CN" altLang="en-US" dirty="0"/>
              <a:t>错误映射、测试用例</a:t>
            </a:r>
            <a:r>
              <a:rPr lang="en-US" altLang="zh-CN" dirty="0"/>
              <a:t>-</a:t>
            </a:r>
            <a:r>
              <a:rPr lang="zh-CN" altLang="en-US" dirty="0"/>
              <a:t>变异后新用例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290175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0N2ZkN2Y4YjRiYzFiMjM5YTA4MjYwMDU2YWU0ODUifQ=="/>
</p:tagLst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默认字体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2291</Words>
  <Application>Microsoft Office PowerPoint</Application>
  <PresentationFormat>宽屏</PresentationFormat>
  <Paragraphs>283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默认字体</vt:lpstr>
      <vt:lpstr>微软雅黑</vt:lpstr>
      <vt:lpstr>Arial</vt:lpstr>
      <vt:lpstr>Arial Narrow</vt:lpstr>
      <vt:lpstr>Calibri</vt:lpstr>
      <vt:lpstr>Helvetica</vt:lpstr>
      <vt:lpstr>腾讯文档 默认主题</vt:lpstr>
      <vt:lpstr>同济-北汽研究合作交流</vt:lpstr>
      <vt:lpstr>模糊测试技术方案-以VCU为例</vt:lpstr>
      <vt:lpstr>模糊测试技术方案-问题定义</vt:lpstr>
      <vt:lpstr>模糊测试方案-反馈与变异</vt:lpstr>
      <vt:lpstr>疑问清单</vt:lpstr>
      <vt:lpstr>输入输出清单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交付物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区块链监管技术研究</dc:title>
  <dc:creator/>
  <cp:lastModifiedBy>濛 沈</cp:lastModifiedBy>
  <cp:revision>107</cp:revision>
  <dcterms:created xsi:type="dcterms:W3CDTF">2024-09-24T10:58:00Z</dcterms:created>
  <dcterms:modified xsi:type="dcterms:W3CDTF">2025-04-01T00:10:44Z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D64DBF6AFC47414CA652CF313E888DE5_12</vt:lpwstr>
  </property>
  <property fmtid="{D5CDD505-2E9C-101B-9397-08002B2CF9AE}" pid="3" name="KSOProductBuildVer">
    <vt:lpwstr>2052-12.1.0.17857</vt:lpwstr>
  </property>
</Properties>
</file>